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569" r:id="rId3"/>
    <p:sldId id="485" r:id="rId4"/>
    <p:sldId id="260" r:id="rId5"/>
    <p:sldId id="570" r:id="rId6"/>
    <p:sldId id="572" r:id="rId7"/>
    <p:sldId id="578" r:id="rId8"/>
    <p:sldId id="586" r:id="rId9"/>
    <p:sldId id="584" r:id="rId10"/>
    <p:sldId id="575" r:id="rId11"/>
    <p:sldId id="580" r:id="rId12"/>
    <p:sldId id="582" r:id="rId13"/>
    <p:sldId id="579" r:id="rId14"/>
    <p:sldId id="581" r:id="rId15"/>
    <p:sldId id="583" r:id="rId16"/>
    <p:sldId id="511" r:id="rId17"/>
    <p:sldId id="523" r:id="rId18"/>
    <p:sldId id="527" r:id="rId19"/>
    <p:sldId id="530" r:id="rId20"/>
    <p:sldId id="520" r:id="rId21"/>
    <p:sldId id="587" r:id="rId22"/>
    <p:sldId id="533" r:id="rId23"/>
    <p:sldId id="588" r:id="rId24"/>
    <p:sldId id="531" r:id="rId25"/>
    <p:sldId id="590" r:id="rId2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9F9"/>
    <a:srgbClr val="F9F8FE"/>
    <a:srgbClr val="FFB800"/>
    <a:srgbClr val="5D4CC9"/>
    <a:srgbClr val="1D814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5194" autoAdjust="0"/>
  </p:normalViewPr>
  <p:slideViewPr>
    <p:cSldViewPr snapToGrid="0">
      <p:cViewPr varScale="1">
        <p:scale>
          <a:sx n="102" d="100"/>
          <a:sy n="102"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2F084-C2DE-444A-AF5B-4C4DC53D3183}" type="datetimeFigureOut">
              <a:rPr lang="fr-FR" smtClean="0"/>
              <a:t>06/11/2024</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DC7CEA-49C1-40D0-8CBB-EC9C1C432F92}" type="slidenum">
              <a:rPr lang="fr-FR" smtClean="0"/>
              <a:t>‹#›</a:t>
            </a:fld>
            <a:endParaRPr lang="fr-FR"/>
          </a:p>
        </p:txBody>
      </p:sp>
    </p:spTree>
    <p:extLst>
      <p:ext uri="{BB962C8B-B14F-4D97-AF65-F5344CB8AC3E}">
        <p14:creationId xmlns:p14="http://schemas.microsoft.com/office/powerpoint/2010/main" val="74638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For the next 20 minutes, I present you our research work in my thesis, which name “Decision-action decoupling: mechanisms and neural basis”</a:t>
            </a:r>
          </a:p>
        </p:txBody>
      </p:sp>
      <p:sp>
        <p:nvSpPr>
          <p:cNvPr id="4" name="Slide Number Placeholder 3"/>
          <p:cNvSpPr>
            <a:spLocks noGrp="1"/>
          </p:cNvSpPr>
          <p:nvPr>
            <p:ph type="sldNum" sz="quarter" idx="5"/>
          </p:nvPr>
        </p:nvSpPr>
        <p:spPr/>
        <p:txBody>
          <a:bodyPr/>
          <a:lstStyle/>
          <a:p>
            <a:fld id="{58DC7CEA-49C1-40D0-8CBB-EC9C1C432F92}" type="slidenum">
              <a:rPr lang="fr-FR" smtClean="0"/>
              <a:t>1</a:t>
            </a:fld>
            <a:endParaRPr lang="fr-FR"/>
          </a:p>
        </p:txBody>
      </p:sp>
    </p:spTree>
    <p:extLst>
      <p:ext uri="{BB962C8B-B14F-4D97-AF65-F5344CB8AC3E}">
        <p14:creationId xmlns:p14="http://schemas.microsoft.com/office/powerpoint/2010/main" val="3088283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2AE961FF-E6E2-4FBD-AFF9-78FC7880A679}" type="slidenum">
              <a:rPr lang="en-US" smtClean="0"/>
              <a:t>3</a:t>
            </a:fld>
            <a:endParaRPr lang="en-US"/>
          </a:p>
        </p:txBody>
      </p:sp>
    </p:spTree>
    <p:extLst>
      <p:ext uri="{BB962C8B-B14F-4D97-AF65-F5344CB8AC3E}">
        <p14:creationId xmlns:p14="http://schemas.microsoft.com/office/powerpoint/2010/main" val="4235916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Calibri" panose="020F0502020204030204" pitchFamily="34" charset="0"/>
              </a:rPr>
              <a:t>Importantly, ramping effector-selective motor preparation signals appear to plateau during the delay period before the RS </a:t>
            </a:r>
            <a:r>
              <a:rPr lang="fr-FR" sz="1800" dirty="0">
                <a:effectLst/>
                <a:latin typeface="Times New Roman" panose="02020603050405020304" pitchFamily="18" charset="0"/>
                <a:ea typeface="Calibri" panose="020F0502020204030204" pitchFamily="34" charset="0"/>
              </a:rPr>
              <a:t>(de </a:t>
            </a:r>
            <a:r>
              <a:rPr lang="fr-FR" sz="1800" dirty="0" err="1">
                <a:effectLst/>
                <a:latin typeface="Times New Roman" panose="02020603050405020304" pitchFamily="18" charset="0"/>
                <a:ea typeface="Calibri" panose="020F0502020204030204" pitchFamily="34" charset="0"/>
              </a:rPr>
              <a:t>Lafuente</a:t>
            </a:r>
            <a:r>
              <a:rPr lang="fr-FR" sz="1800" dirty="0">
                <a:effectLst/>
                <a:latin typeface="Times New Roman" panose="02020603050405020304" pitchFamily="18" charset="0"/>
                <a:ea typeface="Calibri" panose="020F0502020204030204" pitchFamily="34" charset="0"/>
              </a:rPr>
              <a:t> et al., 2015; de Lange et al., 2013; Donner et al., 2009; </a:t>
            </a:r>
            <a:r>
              <a:rPr lang="fr-FR" sz="1800" dirty="0" err="1">
                <a:effectLst/>
                <a:latin typeface="Times New Roman" panose="02020603050405020304" pitchFamily="18" charset="0"/>
                <a:ea typeface="Calibri" panose="020F0502020204030204" pitchFamily="34" charset="0"/>
              </a:rPr>
              <a:t>Horwitz</a:t>
            </a:r>
            <a:r>
              <a:rPr lang="fr-FR" sz="1800" dirty="0">
                <a:effectLst/>
                <a:latin typeface="Times New Roman" panose="02020603050405020304" pitchFamily="18" charset="0"/>
                <a:ea typeface="Calibri" panose="020F0502020204030204" pitchFamily="34" charset="0"/>
              </a:rPr>
              <a:t> &amp; </a:t>
            </a:r>
            <a:r>
              <a:rPr lang="fr-FR" sz="1800" dirty="0" err="1">
                <a:effectLst/>
                <a:latin typeface="Times New Roman" panose="02020603050405020304" pitchFamily="18" charset="0"/>
                <a:ea typeface="Calibri" panose="020F0502020204030204" pitchFamily="34" charset="0"/>
              </a:rPr>
              <a:t>Newsome</a:t>
            </a:r>
            <a:r>
              <a:rPr lang="fr-FR" sz="1800" dirty="0">
                <a:effectLst/>
                <a:latin typeface="Times New Roman" panose="02020603050405020304" pitchFamily="18" charset="0"/>
                <a:ea typeface="Calibri" panose="020F0502020204030204" pitchFamily="34" charset="0"/>
              </a:rPr>
              <a:t>, 1999; </a:t>
            </a:r>
            <a:r>
              <a:rPr lang="fr-FR" sz="1800" dirty="0" err="1">
                <a:effectLst/>
                <a:latin typeface="Times New Roman" panose="02020603050405020304" pitchFamily="18" charset="0"/>
                <a:ea typeface="Calibri" panose="020F0502020204030204" pitchFamily="34" charset="0"/>
              </a:rPr>
              <a:t>Kiani</a:t>
            </a:r>
            <a:r>
              <a:rPr lang="fr-FR" sz="1800" dirty="0">
                <a:effectLst/>
                <a:latin typeface="Times New Roman" panose="02020603050405020304" pitchFamily="18" charset="0"/>
                <a:ea typeface="Calibri" panose="020F0502020204030204" pitchFamily="34" charset="0"/>
              </a:rPr>
              <a:t> et al., 2008; Rao et al., 2012; Rogge et al., 2022; Roitman &amp; Shadlen, 2002; Shadlen &amp; </a:t>
            </a:r>
            <a:r>
              <a:rPr lang="fr-FR" sz="1800" dirty="0" err="1">
                <a:effectLst/>
                <a:latin typeface="Times New Roman" panose="02020603050405020304" pitchFamily="18" charset="0"/>
                <a:ea typeface="Calibri" panose="020F0502020204030204" pitchFamily="34" charset="0"/>
              </a:rPr>
              <a:t>Newsome</a:t>
            </a:r>
            <a:r>
              <a:rPr lang="fr-FR" sz="1800" dirty="0">
                <a:effectLst/>
                <a:latin typeface="Times New Roman" panose="02020603050405020304" pitchFamily="18" charset="0"/>
                <a:ea typeface="Calibri" panose="020F0502020204030204" pitchFamily="34" charset="0"/>
              </a:rPr>
              <a:t>, 2001; </a:t>
            </a:r>
            <a:r>
              <a:rPr lang="fr-FR" sz="1800" dirty="0" err="1">
                <a:effectLst/>
                <a:latin typeface="Times New Roman" panose="02020603050405020304" pitchFamily="18" charset="0"/>
                <a:ea typeface="Calibri" panose="020F0502020204030204" pitchFamily="34" charset="0"/>
              </a:rPr>
              <a:t>Twomey</a:t>
            </a:r>
            <a:r>
              <a:rPr lang="fr-FR" sz="1800" dirty="0">
                <a:effectLst/>
                <a:latin typeface="Times New Roman" panose="02020603050405020304" pitchFamily="18" charset="0"/>
                <a:ea typeface="Calibri" panose="020F0502020204030204" pitchFamily="34" charset="0"/>
              </a:rPr>
              <a:t> et al., 2016).</a:t>
            </a:r>
            <a:endParaRPr lang="fr-FR" dirty="0"/>
          </a:p>
        </p:txBody>
      </p:sp>
      <p:sp>
        <p:nvSpPr>
          <p:cNvPr id="4" name="Slide Number Placeholder 3"/>
          <p:cNvSpPr>
            <a:spLocks noGrp="1"/>
          </p:cNvSpPr>
          <p:nvPr>
            <p:ph type="sldNum" sz="quarter" idx="5"/>
          </p:nvPr>
        </p:nvSpPr>
        <p:spPr/>
        <p:txBody>
          <a:bodyPr/>
          <a:lstStyle/>
          <a:p>
            <a:fld id="{58DC7CEA-49C1-40D0-8CBB-EC9C1C432F92}" type="slidenum">
              <a:rPr lang="fr-FR" smtClean="0"/>
              <a:t>4</a:t>
            </a:fld>
            <a:endParaRPr lang="fr-FR"/>
          </a:p>
        </p:txBody>
      </p:sp>
    </p:spTree>
    <p:extLst>
      <p:ext uri="{BB962C8B-B14F-4D97-AF65-F5344CB8AC3E}">
        <p14:creationId xmlns:p14="http://schemas.microsoft.com/office/powerpoint/2010/main" val="1849770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BF455-1CF2-BB1B-BABF-C14BE46E5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C2204-DB1F-CAD9-0EF4-F7AC584C2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3DFA8-7F4E-8839-B303-E96796968BE7}"/>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C9581A3E-F30F-651B-9ADA-3D6632FBCFF9}"/>
              </a:ext>
            </a:extLst>
          </p:cNvPr>
          <p:cNvSpPr>
            <a:spLocks noGrp="1"/>
          </p:cNvSpPr>
          <p:nvPr>
            <p:ph type="sldNum" sz="quarter" idx="5"/>
          </p:nvPr>
        </p:nvSpPr>
        <p:spPr/>
        <p:txBody>
          <a:bodyPr/>
          <a:lstStyle/>
          <a:p>
            <a:fld id="{58DC7CEA-49C1-40D0-8CBB-EC9C1C432F92}" type="slidenum">
              <a:rPr lang="fr-FR" smtClean="0"/>
              <a:t>5</a:t>
            </a:fld>
            <a:endParaRPr lang="fr-FR"/>
          </a:p>
        </p:txBody>
      </p:sp>
    </p:spTree>
    <p:extLst>
      <p:ext uri="{BB962C8B-B14F-4D97-AF65-F5344CB8AC3E}">
        <p14:creationId xmlns:p14="http://schemas.microsoft.com/office/powerpoint/2010/main" val="3228492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A189F-9D23-CCB5-0C37-A896B6862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409BD9-34E3-0A36-426D-226B0B5BE6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17A3E-B319-FC09-E8E0-D7389AEE0FED}"/>
              </a:ext>
            </a:extLst>
          </p:cNvPr>
          <p:cNvSpPr>
            <a:spLocks noGrp="1"/>
          </p:cNvSpPr>
          <p:nvPr>
            <p:ph type="body" idx="1"/>
          </p:nvPr>
        </p:nvSpPr>
        <p:spPr/>
        <p:txBody>
          <a:bodyPr/>
          <a:lstStyle/>
          <a:p>
            <a:r>
              <a:rPr lang="fr-FR" dirty="0" err="1"/>
              <a:t>Thresshol</a:t>
            </a:r>
            <a:r>
              <a:rPr lang="fr-FR" dirty="0"/>
              <a:t> </a:t>
            </a:r>
            <a:r>
              <a:rPr lang="fr-FR" dirty="0" err="1"/>
              <a:t>plateu</a:t>
            </a:r>
            <a:endParaRPr lang="fr-FR" dirty="0"/>
          </a:p>
          <a:p>
            <a:r>
              <a:rPr lang="fr-FR" dirty="0"/>
              <a:t>Mixture termine no </a:t>
            </a:r>
            <a:r>
              <a:rPr lang="fr-FR" dirty="0" err="1"/>
              <a:t>termidet</a:t>
            </a:r>
            <a:endParaRPr lang="fr-FR" dirty="0"/>
          </a:p>
          <a:p>
            <a:endParaRPr lang="fr-FR" dirty="0"/>
          </a:p>
        </p:txBody>
      </p:sp>
      <p:sp>
        <p:nvSpPr>
          <p:cNvPr id="4" name="Slide Number Placeholder 3">
            <a:extLst>
              <a:ext uri="{FF2B5EF4-FFF2-40B4-BE49-F238E27FC236}">
                <a16:creationId xmlns:a16="http://schemas.microsoft.com/office/drawing/2014/main" id="{15AD1507-C4AF-83B1-8453-A4D46A24504F}"/>
              </a:ext>
            </a:extLst>
          </p:cNvPr>
          <p:cNvSpPr>
            <a:spLocks noGrp="1"/>
          </p:cNvSpPr>
          <p:nvPr>
            <p:ph type="sldNum" sz="quarter" idx="5"/>
          </p:nvPr>
        </p:nvSpPr>
        <p:spPr/>
        <p:txBody>
          <a:bodyPr/>
          <a:lstStyle/>
          <a:p>
            <a:fld id="{58DC7CEA-49C1-40D0-8CBB-EC9C1C432F92}" type="slidenum">
              <a:rPr lang="fr-FR" smtClean="0"/>
              <a:t>6</a:t>
            </a:fld>
            <a:endParaRPr lang="fr-FR"/>
          </a:p>
        </p:txBody>
      </p:sp>
    </p:spTree>
    <p:extLst>
      <p:ext uri="{BB962C8B-B14F-4D97-AF65-F5344CB8AC3E}">
        <p14:creationId xmlns:p14="http://schemas.microsoft.com/office/powerpoint/2010/main" val="597898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rPr>
              <a:t>. The rate of partial muscle activation in the EMG channel associated with the response clearly increased over the three periods. This phenomenon is fully consistent with GCD</a:t>
            </a:r>
            <a:r>
              <a:rPr lang="en-US" sz="1800" baseline="-25000" dirty="0">
                <a:effectLst/>
                <a:latin typeface="Times New Roman" panose="02020603050405020304" pitchFamily="18" charset="0"/>
                <a:ea typeface="Calibri" panose="020F0502020204030204" pitchFamily="34" charset="0"/>
              </a:rPr>
              <a:t>RS</a:t>
            </a:r>
            <a:r>
              <a:rPr lang="en-US" sz="1800" dirty="0">
                <a:effectLst/>
                <a:latin typeface="Times New Roman" panose="02020603050405020304" pitchFamily="18" charset="0"/>
                <a:ea typeface="Calibri" panose="020F0502020204030204" pitchFamily="34" charset="0"/>
              </a:rPr>
              <a:t>: gating inhibition is assumed to be at a similar level during stimulus presentation and the delay, but the motor preparation variable is at a lower level on average during stimulus presentation. After the RS, the motor preparation variable increases again (and gating inhibition possibly decreases). Thus, the probability of the motor preparation variable to overcome gating inhibition due to noise at the single-trial level increases over the three periods, consistent with observed data. </a:t>
            </a:r>
            <a:endParaRPr lang="fr-FR" sz="1800" dirty="0">
              <a:effectLst/>
              <a:latin typeface="Times New Roman" panose="02020603050405020304" pitchFamily="18" charset="0"/>
              <a:ea typeface="Calibri" panose="020F0502020204030204" pitchFamily="34" charset="0"/>
            </a:endParaRPr>
          </a:p>
          <a:p>
            <a:endParaRPr lang="fr-FR" dirty="0"/>
          </a:p>
        </p:txBody>
      </p:sp>
      <p:sp>
        <p:nvSpPr>
          <p:cNvPr id="4" name="Slide Number Placeholder 3"/>
          <p:cNvSpPr>
            <a:spLocks noGrp="1"/>
          </p:cNvSpPr>
          <p:nvPr>
            <p:ph type="sldNum" sz="quarter" idx="5"/>
          </p:nvPr>
        </p:nvSpPr>
        <p:spPr/>
        <p:txBody>
          <a:bodyPr/>
          <a:lstStyle/>
          <a:p>
            <a:fld id="{58DC7CEA-49C1-40D0-8CBB-EC9C1C432F92}" type="slidenum">
              <a:rPr lang="fr-FR" smtClean="0"/>
              <a:t>10</a:t>
            </a:fld>
            <a:endParaRPr lang="fr-FR"/>
          </a:p>
        </p:txBody>
      </p:sp>
    </p:spTree>
    <p:extLst>
      <p:ext uri="{BB962C8B-B14F-4D97-AF65-F5344CB8AC3E}">
        <p14:creationId xmlns:p14="http://schemas.microsoft.com/office/powerpoint/2010/main" val="3615547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Solid </a:t>
            </a:r>
            <a:r>
              <a:rPr lang="fr-FR" dirty="0" err="1"/>
              <a:t>lines</a:t>
            </a:r>
            <a:endParaRPr lang="fr-FR" dirty="0"/>
          </a:p>
          <a:p>
            <a:r>
              <a:rPr lang="fr-FR" dirty="0" err="1"/>
              <a:t>Dotted</a:t>
            </a:r>
            <a:r>
              <a:rPr lang="fr-FR" dirty="0"/>
              <a:t> </a:t>
            </a:r>
            <a:r>
              <a:rPr lang="fr-FR" dirty="0" err="1"/>
              <a:t>lines</a:t>
            </a:r>
            <a:endParaRPr lang="fr-FR" dirty="0"/>
          </a:p>
        </p:txBody>
      </p:sp>
      <p:sp>
        <p:nvSpPr>
          <p:cNvPr id="4" name="Slide Number Placeholder 3"/>
          <p:cNvSpPr>
            <a:spLocks noGrp="1"/>
          </p:cNvSpPr>
          <p:nvPr>
            <p:ph type="sldNum" sz="quarter" idx="5"/>
          </p:nvPr>
        </p:nvSpPr>
        <p:spPr/>
        <p:txBody>
          <a:bodyPr/>
          <a:lstStyle/>
          <a:p>
            <a:fld id="{58DC7CEA-49C1-40D0-8CBB-EC9C1C432F92}" type="slidenum">
              <a:rPr lang="fr-FR" smtClean="0"/>
              <a:t>14</a:t>
            </a:fld>
            <a:endParaRPr lang="fr-FR"/>
          </a:p>
        </p:txBody>
      </p:sp>
    </p:spTree>
    <p:extLst>
      <p:ext uri="{BB962C8B-B14F-4D97-AF65-F5344CB8AC3E}">
        <p14:creationId xmlns:p14="http://schemas.microsoft.com/office/powerpoint/2010/main" val="2751544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MNE </a:t>
            </a:r>
            <a:r>
              <a:rPr lang="fr-FR" dirty="0" err="1"/>
              <a:t>pytg</a:t>
            </a:r>
            <a:endParaRPr lang="fr-FR" dirty="0"/>
          </a:p>
        </p:txBody>
      </p:sp>
      <p:sp>
        <p:nvSpPr>
          <p:cNvPr id="4" name="Slide Number Placeholder 3"/>
          <p:cNvSpPr>
            <a:spLocks noGrp="1"/>
          </p:cNvSpPr>
          <p:nvPr>
            <p:ph type="sldNum" sz="quarter" idx="5"/>
          </p:nvPr>
        </p:nvSpPr>
        <p:spPr/>
        <p:txBody>
          <a:bodyPr/>
          <a:lstStyle/>
          <a:p>
            <a:fld id="{58DC7CEA-49C1-40D0-8CBB-EC9C1C432F92}" type="slidenum">
              <a:rPr lang="fr-FR" smtClean="0"/>
              <a:t>18</a:t>
            </a:fld>
            <a:endParaRPr lang="fr-FR"/>
          </a:p>
        </p:txBody>
      </p:sp>
    </p:spTree>
    <p:extLst>
      <p:ext uri="{BB962C8B-B14F-4D97-AF65-F5344CB8AC3E}">
        <p14:creationId xmlns:p14="http://schemas.microsoft.com/office/powerpoint/2010/main" val="4037447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BFE5D-F2D1-C045-F6AF-44BFAE2744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C7BAF442-87DC-DD7C-D4A8-FBAFB20BD3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D30A79B1-1F47-8AE9-12DC-BD587C8FCEE8}"/>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5" name="Footer Placeholder 4">
            <a:extLst>
              <a:ext uri="{FF2B5EF4-FFF2-40B4-BE49-F238E27FC236}">
                <a16:creationId xmlns:a16="http://schemas.microsoft.com/office/drawing/2014/main" id="{9725589B-FBCA-EDD8-93EE-34A4931EF23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1A027812-0F61-AFE7-F4F9-7C4A1237AD49}"/>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1608717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CF067-D966-28E8-6D9F-6E89CFC88DD6}"/>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E49A51D7-C1BB-17B6-20B2-83C45CBB27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C516D300-A346-1A14-BEC5-961AD14C9045}"/>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5" name="Footer Placeholder 4">
            <a:extLst>
              <a:ext uri="{FF2B5EF4-FFF2-40B4-BE49-F238E27FC236}">
                <a16:creationId xmlns:a16="http://schemas.microsoft.com/office/drawing/2014/main" id="{CA2301DC-036C-9032-AC19-E7B839FBAE2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C82F92D-9A0D-4223-2546-8FE97129A973}"/>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2900385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10F48-425E-C9A5-9B2D-DE89AE000E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A82DC50A-DCAB-0278-385D-BD84141049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E9E3CF-E47A-130A-7E97-DAA99753A1E6}"/>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5" name="Footer Placeholder 4">
            <a:extLst>
              <a:ext uri="{FF2B5EF4-FFF2-40B4-BE49-F238E27FC236}">
                <a16:creationId xmlns:a16="http://schemas.microsoft.com/office/drawing/2014/main" id="{9E020DD2-5378-59DD-8C3C-E5A53D50643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B06C032-F465-0784-2EF1-2BCDAE4618F3}"/>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637484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B1636-2BB3-094C-C759-1B2D8D486555}"/>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DFF228A5-C832-0184-9C82-5DCF2F60BD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1E798412-FEB4-6F10-9835-CEAB155767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B4E9C116-84AB-3E22-7CE6-D03A1DC25DF4}"/>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6" name="Footer Placeholder 5">
            <a:extLst>
              <a:ext uri="{FF2B5EF4-FFF2-40B4-BE49-F238E27FC236}">
                <a16:creationId xmlns:a16="http://schemas.microsoft.com/office/drawing/2014/main" id="{439FD3F9-DA1D-133E-2FBF-33C6C5011A38}"/>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07DFC338-8C60-A20D-117B-144035DC6A66}"/>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2448799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2A86-D571-1092-7B69-75C1194C1843}"/>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5AEE50AD-097E-E80C-7E51-343CEB505F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82C5D3-1167-C341-3554-FF04334526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CEF64FEE-6084-58BF-3F3F-63A1822816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91AA93-3CA0-0753-C77A-942C2DA385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E2E6A9E9-03B0-FD39-6C52-210B695909F2}"/>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8" name="Footer Placeholder 7">
            <a:extLst>
              <a:ext uri="{FF2B5EF4-FFF2-40B4-BE49-F238E27FC236}">
                <a16:creationId xmlns:a16="http://schemas.microsoft.com/office/drawing/2014/main" id="{123F9608-5B2E-55D8-3139-A29F9BBEFD3B}"/>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FFFED062-3A16-D49C-2FF2-9D861C32CAA8}"/>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4046482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99C06-FB3C-C59B-ECBC-F546EFD3FD6A}"/>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3FFF7EC6-84BE-DC27-B167-6BCC837E1025}"/>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4" name="Footer Placeholder 3">
            <a:extLst>
              <a:ext uri="{FF2B5EF4-FFF2-40B4-BE49-F238E27FC236}">
                <a16:creationId xmlns:a16="http://schemas.microsoft.com/office/drawing/2014/main" id="{8784A64D-CAAE-0898-4F3F-D522BB4AA7B7}"/>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B3C76D24-CAE4-5DF1-68F4-A2CB21AD3F0B}"/>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1488811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AA7C35-6014-3018-4A1F-07109D26779F}"/>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3" name="Footer Placeholder 2">
            <a:extLst>
              <a:ext uri="{FF2B5EF4-FFF2-40B4-BE49-F238E27FC236}">
                <a16:creationId xmlns:a16="http://schemas.microsoft.com/office/drawing/2014/main" id="{2981C244-8794-4FDC-3C3D-819762B8E8C2}"/>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304A3F20-BD40-1413-9439-77BBBE072363}"/>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507074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B2A25-777F-5ACC-31EA-91F381D3D0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E593B930-9F68-C42C-2967-E53D0A7A76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0184843D-7239-AD58-9DA6-5B39B2A52A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4539B6-FC45-8175-4A3C-B3CFEB1D9DF1}"/>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6" name="Footer Placeholder 5">
            <a:extLst>
              <a:ext uri="{FF2B5EF4-FFF2-40B4-BE49-F238E27FC236}">
                <a16:creationId xmlns:a16="http://schemas.microsoft.com/office/drawing/2014/main" id="{F0E93B6E-317C-C134-A53D-2CC3708535FD}"/>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8ADF62F4-9082-5D94-849A-C601E04CBB8C}"/>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3470498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3CA5A-D52C-9F17-7488-972FA7CABA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5D81FDCC-92D7-4463-3C89-30A4779FD0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054C91CE-82A8-747E-2713-FF25E1580B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85A4FF-BDD9-05BA-EC9F-3E28DDD390AC}"/>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6" name="Footer Placeholder 5">
            <a:extLst>
              <a:ext uri="{FF2B5EF4-FFF2-40B4-BE49-F238E27FC236}">
                <a16:creationId xmlns:a16="http://schemas.microsoft.com/office/drawing/2014/main" id="{0902A9B0-52A6-8BCA-2FA3-29CDA3A7F840}"/>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D8AC63F5-BBA6-487C-6DCD-F57250045020}"/>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3582442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21831-9AF7-6E1F-77D1-C6700F90E4A0}"/>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0F58FB6B-90A6-27ED-841E-8BA5D306E3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52867BE3-666E-8261-FE31-B31CC6BD1D36}"/>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5" name="Footer Placeholder 4">
            <a:extLst>
              <a:ext uri="{FF2B5EF4-FFF2-40B4-BE49-F238E27FC236}">
                <a16:creationId xmlns:a16="http://schemas.microsoft.com/office/drawing/2014/main" id="{0F7C6AF6-092F-27FA-FF6D-AF9F860CE414}"/>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BBCF9CE-7A71-015C-89FD-16772D609F3E}"/>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80763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245D69-84EC-D556-23EA-65BE626907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3E8CE970-D2D9-8A2C-1AA8-2BB4F7D30D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2656F6DF-9C9F-F5F6-C455-6FF0BDB3174A}"/>
              </a:ext>
            </a:extLst>
          </p:cNvPr>
          <p:cNvSpPr>
            <a:spLocks noGrp="1"/>
          </p:cNvSpPr>
          <p:nvPr>
            <p:ph type="dt" sz="half" idx="10"/>
          </p:nvPr>
        </p:nvSpPr>
        <p:spPr/>
        <p:txBody>
          <a:bodyPr/>
          <a:lstStyle/>
          <a:p>
            <a:fld id="{035E227C-1A37-4583-AA98-3CA42CE518CB}" type="datetimeFigureOut">
              <a:rPr lang="fr-FR" smtClean="0"/>
              <a:t>06/11/2024</a:t>
            </a:fld>
            <a:endParaRPr lang="fr-FR"/>
          </a:p>
        </p:txBody>
      </p:sp>
      <p:sp>
        <p:nvSpPr>
          <p:cNvPr id="5" name="Footer Placeholder 4">
            <a:extLst>
              <a:ext uri="{FF2B5EF4-FFF2-40B4-BE49-F238E27FC236}">
                <a16:creationId xmlns:a16="http://schemas.microsoft.com/office/drawing/2014/main" id="{4707189E-CCDA-BB11-2CFB-564748AE1482}"/>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5439C7E3-6298-4905-199F-2F27AE168131}"/>
              </a:ext>
            </a:extLst>
          </p:cNvPr>
          <p:cNvSpPr>
            <a:spLocks noGrp="1"/>
          </p:cNvSpPr>
          <p:nvPr>
            <p:ph type="sldNum" sz="quarter" idx="12"/>
          </p:nvPr>
        </p:nvSpPr>
        <p:spPr/>
        <p:txBody>
          <a:bodyPr/>
          <a:lstStyle/>
          <a:p>
            <a:fld id="{96E99C16-AA6B-4D94-A8B7-D087ED4B89DD}" type="slidenum">
              <a:rPr lang="fr-FR" smtClean="0"/>
              <a:t>‹#›</a:t>
            </a:fld>
            <a:endParaRPr lang="fr-FR"/>
          </a:p>
        </p:txBody>
      </p:sp>
    </p:spTree>
    <p:extLst>
      <p:ext uri="{BB962C8B-B14F-4D97-AF65-F5344CB8AC3E}">
        <p14:creationId xmlns:p14="http://schemas.microsoft.com/office/powerpoint/2010/main" val="249258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2101A3-CD11-29CC-F821-53977DF64D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64732BBF-59B9-96EF-5AA1-A8B7037DF6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5A309ACB-48F7-9EC3-0DC6-93B634C25A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5E227C-1A37-4583-AA98-3CA42CE518CB}" type="datetimeFigureOut">
              <a:rPr lang="fr-FR" smtClean="0"/>
              <a:t>06/11/2024</a:t>
            </a:fld>
            <a:endParaRPr lang="fr-FR"/>
          </a:p>
        </p:txBody>
      </p:sp>
      <p:sp>
        <p:nvSpPr>
          <p:cNvPr id="5" name="Footer Placeholder 4">
            <a:extLst>
              <a:ext uri="{FF2B5EF4-FFF2-40B4-BE49-F238E27FC236}">
                <a16:creationId xmlns:a16="http://schemas.microsoft.com/office/drawing/2014/main" id="{4895C3EE-58C8-300F-84BA-B2C84C4E43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01A6A4C4-6B78-DA9B-6E8B-6A662B32BE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E99C16-AA6B-4D94-A8B7-D087ED4B89DD}" type="slidenum">
              <a:rPr lang="fr-FR" smtClean="0"/>
              <a:t>‹#›</a:t>
            </a:fld>
            <a:endParaRPr lang="fr-FR"/>
          </a:p>
        </p:txBody>
      </p:sp>
    </p:spTree>
    <p:extLst>
      <p:ext uri="{BB962C8B-B14F-4D97-AF65-F5344CB8AC3E}">
        <p14:creationId xmlns:p14="http://schemas.microsoft.com/office/powerpoint/2010/main" val="3035090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tiff"/><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tiff"/><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3.tiff"/></Relationships>
</file>

<file path=ppt/slides/_rels/slide15.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tiff"/><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CFE53-D4EB-5861-82D1-4C88F7EBC5E5}"/>
              </a:ext>
            </a:extLst>
          </p:cNvPr>
          <p:cNvSpPr>
            <a:spLocks noGrp="1"/>
          </p:cNvSpPr>
          <p:nvPr>
            <p:ph type="ctrTitle"/>
          </p:nvPr>
        </p:nvSpPr>
        <p:spPr>
          <a:xfrm>
            <a:off x="1569396" y="1541356"/>
            <a:ext cx="9144000" cy="2387600"/>
          </a:xfrm>
        </p:spPr>
        <p:txBody>
          <a:bodyPr>
            <a:normAutofit fontScale="90000"/>
          </a:bodyPr>
          <a:lstStyle/>
          <a:p>
            <a:r>
              <a:rPr lang="en-US" b="1" dirty="0"/>
              <a:t>Decision-Action Decoupling: Mechanisms and Neural Bases</a:t>
            </a:r>
            <a:endParaRPr lang="fr-FR" b="1" dirty="0"/>
          </a:p>
        </p:txBody>
      </p:sp>
      <p:sp>
        <p:nvSpPr>
          <p:cNvPr id="3" name="Subtitle 2">
            <a:extLst>
              <a:ext uri="{FF2B5EF4-FFF2-40B4-BE49-F238E27FC236}">
                <a16:creationId xmlns:a16="http://schemas.microsoft.com/office/drawing/2014/main" id="{29667ED8-1E91-7AF2-2657-13FA7D7ABE90}"/>
              </a:ext>
            </a:extLst>
          </p:cNvPr>
          <p:cNvSpPr>
            <a:spLocks noGrp="1"/>
          </p:cNvSpPr>
          <p:nvPr>
            <p:ph type="subTitle" idx="1"/>
          </p:nvPr>
        </p:nvSpPr>
        <p:spPr>
          <a:xfrm>
            <a:off x="1569396" y="4691536"/>
            <a:ext cx="9144000" cy="1655762"/>
          </a:xfrm>
        </p:spPr>
        <p:txBody>
          <a:bodyPr>
            <a:normAutofit/>
          </a:bodyPr>
          <a:lstStyle/>
          <a:p>
            <a:r>
              <a:rPr lang="fr-FR" sz="2000" dirty="0"/>
              <a:t>Johan Achard</a:t>
            </a:r>
          </a:p>
          <a:p>
            <a:endParaRPr lang="fr-FR" sz="2000" dirty="0"/>
          </a:p>
          <a:p>
            <a:r>
              <a:rPr lang="fr-FR" sz="2000" dirty="0" err="1"/>
              <a:t>Supervised</a:t>
            </a:r>
            <a:r>
              <a:rPr lang="fr-FR" sz="2000" dirty="0"/>
              <a:t> by Mathieu Servant and Thibault Gajdos</a:t>
            </a:r>
          </a:p>
        </p:txBody>
      </p:sp>
      <p:pic>
        <p:nvPicPr>
          <p:cNvPr id="4" name="Picture 3" descr="A red lips in a black background&#10;&#10;Description automatically generated">
            <a:extLst>
              <a:ext uri="{FF2B5EF4-FFF2-40B4-BE49-F238E27FC236}">
                <a16:creationId xmlns:a16="http://schemas.microsoft.com/office/drawing/2014/main" id="{18262A79-4384-E7EC-7E84-FBE0F651F3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865" y="184509"/>
            <a:ext cx="2652916" cy="729552"/>
          </a:xfrm>
          <a:prstGeom prst="rect">
            <a:avLst/>
          </a:prstGeom>
        </p:spPr>
      </p:pic>
      <p:pic>
        <p:nvPicPr>
          <p:cNvPr id="5" name="Picture 4" descr="A logo with orange dots&#10;&#10;Description automatically generated">
            <a:extLst>
              <a:ext uri="{FF2B5EF4-FFF2-40B4-BE49-F238E27FC236}">
                <a16:creationId xmlns:a16="http://schemas.microsoft.com/office/drawing/2014/main" id="{CEB70901-0790-3DDF-7F97-49784F3B05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67179" y="40934"/>
            <a:ext cx="1097963" cy="1016702"/>
          </a:xfrm>
          <a:prstGeom prst="rect">
            <a:avLst/>
          </a:prstGeom>
        </p:spPr>
      </p:pic>
      <p:sp>
        <p:nvSpPr>
          <p:cNvPr id="8" name="TextBox 7">
            <a:extLst>
              <a:ext uri="{FF2B5EF4-FFF2-40B4-BE49-F238E27FC236}">
                <a16:creationId xmlns:a16="http://schemas.microsoft.com/office/drawing/2014/main" id="{BBC06FB5-591D-2D43-57B9-8935D4045CA5}"/>
              </a:ext>
            </a:extLst>
          </p:cNvPr>
          <p:cNvSpPr txBox="1"/>
          <p:nvPr/>
        </p:nvSpPr>
        <p:spPr>
          <a:xfrm>
            <a:off x="9085633" y="141370"/>
            <a:ext cx="3015575" cy="646331"/>
          </a:xfrm>
          <a:prstGeom prst="rect">
            <a:avLst/>
          </a:prstGeom>
          <a:noFill/>
        </p:spPr>
        <p:txBody>
          <a:bodyPr wrap="square">
            <a:spAutoFit/>
          </a:bodyPr>
          <a:lstStyle/>
          <a:p>
            <a:pPr algn="r"/>
            <a:r>
              <a:rPr lang="en-US" dirty="0"/>
              <a:t>Thesis committee Monitoring 2024</a:t>
            </a:r>
            <a:endParaRPr lang="fr-FR" dirty="0"/>
          </a:p>
        </p:txBody>
      </p:sp>
    </p:spTree>
    <p:extLst>
      <p:ext uri="{BB962C8B-B14F-4D97-AF65-F5344CB8AC3E}">
        <p14:creationId xmlns:p14="http://schemas.microsoft.com/office/powerpoint/2010/main" val="286792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C37B70-95FE-772C-67C5-D5269B38046C}"/>
              </a:ext>
            </a:extLst>
          </p:cNvPr>
          <p:cNvSpPr txBox="1"/>
          <p:nvPr/>
        </p:nvSpPr>
        <p:spPr>
          <a:xfrm>
            <a:off x="1245337" y="1312667"/>
            <a:ext cx="10121002" cy="2862322"/>
          </a:xfrm>
          <a:prstGeom prst="rect">
            <a:avLst/>
          </a:prstGeom>
          <a:noFill/>
        </p:spPr>
        <p:txBody>
          <a:bodyPr wrap="square" rtlCol="0">
            <a:spAutoFit/>
          </a:bodyPr>
          <a:lstStyle/>
          <a:p>
            <a:pPr marL="285750" indent="-285750">
              <a:buFont typeface="Arial" panose="020B0604020202020204" pitchFamily="34" charset="0"/>
              <a:buChar char="•"/>
            </a:pPr>
            <a:r>
              <a:rPr lang="en-US" dirty="0"/>
              <a:t>Manuscript </a:t>
            </a:r>
            <a:r>
              <a:rPr lang="en-US" i="1" dirty="0"/>
              <a:t>in revision in</a:t>
            </a:r>
            <a:r>
              <a:rPr lang="en-US" dirty="0"/>
              <a:t> JEP: General  (Extending continuous flow models of immediate decision reports to delayed decision reports, work presented last year)</a:t>
            </a:r>
            <a:endParaRPr lang="fr-FR" dirty="0"/>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err="1"/>
              <a:t>Presentation</a:t>
            </a:r>
            <a:r>
              <a:rPr lang="fr-FR" dirty="0"/>
              <a:t> of </a:t>
            </a:r>
            <a:r>
              <a:rPr lang="fr-FR" dirty="0" err="1"/>
              <a:t>this</a:t>
            </a:r>
            <a:r>
              <a:rPr lang="fr-FR" dirty="0"/>
              <a:t> </a:t>
            </a:r>
            <a:r>
              <a:rPr lang="fr-FR" dirty="0" err="1"/>
              <a:t>work</a:t>
            </a:r>
            <a:r>
              <a:rPr lang="fr-FR" dirty="0"/>
              <a:t> (poster) at the </a:t>
            </a:r>
            <a:r>
              <a:rPr lang="fr-FR" dirty="0" err="1"/>
              <a:t>Psychonomics</a:t>
            </a:r>
            <a:r>
              <a:rPr lang="fr-FR" dirty="0"/>
              <a:t> Society </a:t>
            </a:r>
            <a:r>
              <a:rPr lang="fr-FR" dirty="0" err="1"/>
              <a:t>Conference</a:t>
            </a:r>
            <a:r>
              <a:rPr lang="fr-FR" dirty="0"/>
              <a:t> 2023 (San Francisco)</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en-US" dirty="0"/>
              <a:t>Model-Based Neuroscience and Cognition Summer School</a:t>
            </a:r>
            <a:r>
              <a:rPr lang="fr-FR" dirty="0"/>
              <a:t>, 2024, Amsterdam</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en-US" dirty="0"/>
              <a:t>112 hours of teaching (Statistics and experimental methods 72h, Cognitive processes 24h, Student professionalization 16h)</a:t>
            </a:r>
          </a:p>
          <a:p>
            <a:pPr marL="285750" indent="-28575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7E985377-0745-9DE2-9046-294B42397B91}"/>
              </a:ext>
            </a:extLst>
          </p:cNvPr>
          <p:cNvSpPr txBox="1"/>
          <p:nvPr/>
        </p:nvSpPr>
        <p:spPr>
          <a:xfrm>
            <a:off x="929052" y="579956"/>
            <a:ext cx="6094926" cy="369332"/>
          </a:xfrm>
          <a:prstGeom prst="rect">
            <a:avLst/>
          </a:prstGeom>
          <a:noFill/>
        </p:spPr>
        <p:txBody>
          <a:bodyPr wrap="square">
            <a:spAutoFit/>
          </a:bodyPr>
          <a:lstStyle/>
          <a:p>
            <a:r>
              <a:rPr lang="fr-FR" b="1" dirty="0"/>
              <a:t>Highlights</a:t>
            </a:r>
          </a:p>
        </p:txBody>
      </p:sp>
    </p:spTree>
    <p:extLst>
      <p:ext uri="{BB962C8B-B14F-4D97-AF65-F5344CB8AC3E}">
        <p14:creationId xmlns:p14="http://schemas.microsoft.com/office/powerpoint/2010/main" val="2104381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ZoneTexte 12">
            <a:extLst>
              <a:ext uri="{FF2B5EF4-FFF2-40B4-BE49-F238E27FC236}">
                <a16:creationId xmlns:a16="http://schemas.microsoft.com/office/drawing/2014/main" id="{DC63FD2E-58FE-2571-1190-8B3297378B85}"/>
              </a:ext>
            </a:extLst>
          </p:cNvPr>
          <p:cNvSpPr txBox="1"/>
          <p:nvPr/>
        </p:nvSpPr>
        <p:spPr>
          <a:xfrm>
            <a:off x="720812" y="2112397"/>
            <a:ext cx="2827645" cy="369332"/>
          </a:xfrm>
          <a:prstGeom prst="rect">
            <a:avLst/>
          </a:prstGeom>
          <a:noFill/>
        </p:spPr>
        <p:txBody>
          <a:bodyPr wrap="square" rtlCol="0">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Stimulus</a:t>
            </a:r>
            <a:r>
              <a:rPr lang="en-US" sz="1600" b="1" dirty="0">
                <a:latin typeface="Calibri" panose="020F0502020204030204" pitchFamily="34" charset="0"/>
                <a:ea typeface="Calibri" panose="020F0502020204030204" pitchFamily="34" charset="0"/>
                <a:cs typeface="Calibri" panose="020F0502020204030204" pitchFamily="34" charset="0"/>
              </a:rPr>
              <a:t> </a:t>
            </a:r>
          </a:p>
        </p:txBody>
      </p:sp>
      <p:sp>
        <p:nvSpPr>
          <p:cNvPr id="21" name="ZoneTexte 15">
            <a:extLst>
              <a:ext uri="{FF2B5EF4-FFF2-40B4-BE49-F238E27FC236}">
                <a16:creationId xmlns:a16="http://schemas.microsoft.com/office/drawing/2014/main" id="{803AD2F4-F334-33AD-ECB5-0AC033BB83FA}"/>
              </a:ext>
            </a:extLst>
          </p:cNvPr>
          <p:cNvSpPr txBox="1"/>
          <p:nvPr/>
        </p:nvSpPr>
        <p:spPr>
          <a:xfrm>
            <a:off x="9028897" y="2133710"/>
            <a:ext cx="1943520" cy="369332"/>
          </a:xfrm>
          <a:prstGeom prst="rect">
            <a:avLst/>
          </a:prstGeom>
          <a:noFill/>
        </p:spPr>
        <p:txBody>
          <a:bodyPr wrap="square" rtlCol="0">
            <a:spAutoFit/>
          </a:bodyPr>
          <a:lstStyle/>
          <a:p>
            <a:pPr algn="ctr"/>
            <a:r>
              <a:rPr lang="fr-FR" b="1" dirty="0">
                <a:latin typeface="Calibri" panose="020F0502020204030204" pitchFamily="34" charset="0"/>
                <a:ea typeface="Calibri" panose="020F0502020204030204" pitchFamily="34" charset="0"/>
                <a:cs typeface="Calibri" panose="020F0502020204030204" pitchFamily="34" charset="0"/>
              </a:rPr>
              <a:t>Response Signal</a:t>
            </a:r>
            <a:endParaRPr lang="fr-FR" sz="1600" dirty="0">
              <a:latin typeface="Calibri" panose="020F0502020204030204" pitchFamily="34" charset="0"/>
              <a:ea typeface="Calibri" panose="020F0502020204030204" pitchFamily="34" charset="0"/>
              <a:cs typeface="Calibri" panose="020F0502020204030204" pitchFamily="34" charset="0"/>
            </a:endParaRPr>
          </a:p>
        </p:txBody>
      </p:sp>
      <p:grpSp>
        <p:nvGrpSpPr>
          <p:cNvPr id="22" name="Groupe 155">
            <a:extLst>
              <a:ext uri="{FF2B5EF4-FFF2-40B4-BE49-F238E27FC236}">
                <a16:creationId xmlns:a16="http://schemas.microsoft.com/office/drawing/2014/main" id="{161CDB0C-C5FD-41BD-2D3F-155CE5F11EF5}"/>
              </a:ext>
            </a:extLst>
          </p:cNvPr>
          <p:cNvGrpSpPr>
            <a:grpSpLocks noChangeAspect="1"/>
          </p:cNvGrpSpPr>
          <p:nvPr/>
        </p:nvGrpSpPr>
        <p:grpSpPr>
          <a:xfrm>
            <a:off x="723560" y="2705328"/>
            <a:ext cx="2827644" cy="1779891"/>
            <a:chOff x="-3439589" y="-1123924"/>
            <a:chExt cx="3450834" cy="2274984"/>
          </a:xfrm>
        </p:grpSpPr>
        <p:sp>
          <p:nvSpPr>
            <p:cNvPr id="23" name="Rectangle 22">
              <a:extLst>
                <a:ext uri="{FF2B5EF4-FFF2-40B4-BE49-F238E27FC236}">
                  <a16:creationId xmlns:a16="http://schemas.microsoft.com/office/drawing/2014/main" id="{0EBC3292-3AEC-010D-B29D-3BC8C33026BF}"/>
                </a:ext>
              </a:extLst>
            </p:cNvPr>
            <p:cNvSpPr>
              <a:spLocks noChangeAspect="1"/>
            </p:cNvSpPr>
            <p:nvPr/>
          </p:nvSpPr>
          <p:spPr>
            <a:xfrm>
              <a:off x="-3439589" y="-1123924"/>
              <a:ext cx="3450834" cy="2274984"/>
            </a:xfrm>
            <a:prstGeom prst="rect">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i="1" dirty="0"/>
            </a:p>
          </p:txBody>
        </p:sp>
        <p:pic>
          <p:nvPicPr>
            <p:cNvPr id="24" name="Image 134">
              <a:extLst>
                <a:ext uri="{FF2B5EF4-FFF2-40B4-BE49-F238E27FC236}">
                  <a16:creationId xmlns:a16="http://schemas.microsoft.com/office/drawing/2014/main" id="{CCC5D6B6-B535-62B3-7604-2458FABE19DC}"/>
                </a:ext>
              </a:extLst>
            </p:cNvPr>
            <p:cNvPicPr>
              <a:picLocks noChangeAspect="1"/>
            </p:cNvPicPr>
            <p:nvPr/>
          </p:nvPicPr>
          <p:blipFill rotWithShape="1">
            <a:blip r:embed="rId3">
              <a:grayscl/>
            </a:blip>
            <a:srcRect l="10334" t="21469" r="61004" b="23466"/>
            <a:stretch/>
          </p:blipFill>
          <p:spPr>
            <a:xfrm>
              <a:off x="-2692319" y="-945276"/>
              <a:ext cx="1937271" cy="1827697"/>
            </a:xfrm>
            <a:prstGeom prst="rect">
              <a:avLst/>
            </a:prstGeom>
          </p:spPr>
        </p:pic>
        <p:pic>
          <p:nvPicPr>
            <p:cNvPr id="25" name="Image 135">
              <a:extLst>
                <a:ext uri="{FF2B5EF4-FFF2-40B4-BE49-F238E27FC236}">
                  <a16:creationId xmlns:a16="http://schemas.microsoft.com/office/drawing/2014/main" id="{A28F7AD4-FFF0-025F-B6FF-12E118E250BC}"/>
                </a:ext>
              </a:extLst>
            </p:cNvPr>
            <p:cNvPicPr>
              <a:picLocks noChangeAspect="1"/>
            </p:cNvPicPr>
            <p:nvPr/>
          </p:nvPicPr>
          <p:blipFill rotWithShape="1">
            <a:blip r:embed="rId3"/>
            <a:srcRect l="20571" t="59341" r="73595" b="33388"/>
            <a:stretch/>
          </p:blipFill>
          <p:spPr>
            <a:xfrm>
              <a:off x="-2005297" y="370521"/>
              <a:ext cx="426720" cy="261180"/>
            </a:xfrm>
            <a:prstGeom prst="rect">
              <a:avLst/>
            </a:prstGeom>
          </p:spPr>
        </p:pic>
        <p:pic>
          <p:nvPicPr>
            <p:cNvPr id="26" name="Image 136">
              <a:extLst>
                <a:ext uri="{FF2B5EF4-FFF2-40B4-BE49-F238E27FC236}">
                  <a16:creationId xmlns:a16="http://schemas.microsoft.com/office/drawing/2014/main" id="{1AF208C2-A4D6-739E-FA03-78DA9EF203A6}"/>
                </a:ext>
              </a:extLst>
            </p:cNvPr>
            <p:cNvPicPr>
              <a:picLocks noChangeAspect="1"/>
            </p:cNvPicPr>
            <p:nvPr/>
          </p:nvPicPr>
          <p:blipFill rotWithShape="1">
            <a:blip r:embed="rId3"/>
            <a:srcRect l="20571" t="59341" r="73595" b="33388"/>
            <a:stretch/>
          </p:blipFill>
          <p:spPr>
            <a:xfrm>
              <a:off x="-1703928" y="581417"/>
              <a:ext cx="426720" cy="261180"/>
            </a:xfrm>
            <a:prstGeom prst="rect">
              <a:avLst/>
            </a:prstGeom>
          </p:spPr>
        </p:pic>
        <p:pic>
          <p:nvPicPr>
            <p:cNvPr id="27" name="Image 137">
              <a:extLst>
                <a:ext uri="{FF2B5EF4-FFF2-40B4-BE49-F238E27FC236}">
                  <a16:creationId xmlns:a16="http://schemas.microsoft.com/office/drawing/2014/main" id="{AB45FB86-A065-7C47-B2B6-4047532989F2}"/>
                </a:ext>
              </a:extLst>
            </p:cNvPr>
            <p:cNvPicPr>
              <a:picLocks noChangeAspect="1"/>
            </p:cNvPicPr>
            <p:nvPr/>
          </p:nvPicPr>
          <p:blipFill rotWithShape="1">
            <a:blip r:embed="rId3"/>
            <a:srcRect l="20571" t="59341" r="73595" b="33388"/>
            <a:stretch/>
          </p:blipFill>
          <p:spPr>
            <a:xfrm>
              <a:off x="-2324505" y="-41916"/>
              <a:ext cx="426720" cy="261180"/>
            </a:xfrm>
            <a:prstGeom prst="rect">
              <a:avLst/>
            </a:prstGeom>
          </p:spPr>
        </p:pic>
        <p:pic>
          <p:nvPicPr>
            <p:cNvPr id="28" name="Image 138">
              <a:extLst>
                <a:ext uri="{FF2B5EF4-FFF2-40B4-BE49-F238E27FC236}">
                  <a16:creationId xmlns:a16="http://schemas.microsoft.com/office/drawing/2014/main" id="{D89617E6-E6E1-C11D-69E9-8E66644AC346}"/>
                </a:ext>
              </a:extLst>
            </p:cNvPr>
            <p:cNvPicPr>
              <a:picLocks noChangeAspect="1"/>
            </p:cNvPicPr>
            <p:nvPr/>
          </p:nvPicPr>
          <p:blipFill rotWithShape="1">
            <a:blip r:embed="rId3"/>
            <a:srcRect l="20571" t="59341" r="73595" b="33388"/>
            <a:stretch/>
          </p:blipFill>
          <p:spPr>
            <a:xfrm>
              <a:off x="-2365926" y="-680441"/>
              <a:ext cx="426720" cy="261180"/>
            </a:xfrm>
            <a:prstGeom prst="rect">
              <a:avLst/>
            </a:prstGeom>
          </p:spPr>
        </p:pic>
        <p:pic>
          <p:nvPicPr>
            <p:cNvPr id="29" name="Image 139">
              <a:extLst>
                <a:ext uri="{FF2B5EF4-FFF2-40B4-BE49-F238E27FC236}">
                  <a16:creationId xmlns:a16="http://schemas.microsoft.com/office/drawing/2014/main" id="{B9DE59B0-96FB-DF41-C04C-FEB5B6C7555D}"/>
                </a:ext>
              </a:extLst>
            </p:cNvPr>
            <p:cNvPicPr>
              <a:picLocks noChangeAspect="1"/>
            </p:cNvPicPr>
            <p:nvPr/>
          </p:nvPicPr>
          <p:blipFill rotWithShape="1">
            <a:blip r:embed="rId3"/>
            <a:srcRect l="20571" t="61738" r="74425" b="35151"/>
            <a:stretch/>
          </p:blipFill>
          <p:spPr>
            <a:xfrm>
              <a:off x="-1745423" y="-467938"/>
              <a:ext cx="365985" cy="111761"/>
            </a:xfrm>
            <a:prstGeom prst="rect">
              <a:avLst/>
            </a:prstGeom>
          </p:spPr>
        </p:pic>
      </p:grpSp>
      <p:sp>
        <p:nvSpPr>
          <p:cNvPr id="30" name="Rectangle 29">
            <a:extLst>
              <a:ext uri="{FF2B5EF4-FFF2-40B4-BE49-F238E27FC236}">
                <a16:creationId xmlns:a16="http://schemas.microsoft.com/office/drawing/2014/main" id="{4367C282-6BF4-C369-CD09-0C0001462258}"/>
              </a:ext>
            </a:extLst>
          </p:cNvPr>
          <p:cNvSpPr/>
          <p:nvPr/>
        </p:nvSpPr>
        <p:spPr>
          <a:xfrm>
            <a:off x="8647515" y="2705327"/>
            <a:ext cx="2706285" cy="1779891"/>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2400" dirty="0"/>
              <a:t>RS</a:t>
            </a:r>
          </a:p>
        </p:txBody>
      </p:sp>
      <p:sp>
        <p:nvSpPr>
          <p:cNvPr id="31" name="ZoneTexte 13">
            <a:extLst>
              <a:ext uri="{FF2B5EF4-FFF2-40B4-BE49-F238E27FC236}">
                <a16:creationId xmlns:a16="http://schemas.microsoft.com/office/drawing/2014/main" id="{6DB6350B-E24F-F708-1199-B1F5E654317D}"/>
              </a:ext>
            </a:extLst>
          </p:cNvPr>
          <p:cNvSpPr txBox="1"/>
          <p:nvPr/>
        </p:nvSpPr>
        <p:spPr>
          <a:xfrm>
            <a:off x="5040537" y="2092523"/>
            <a:ext cx="1851345" cy="369332"/>
          </a:xfrm>
          <a:prstGeom prst="rect">
            <a:avLst/>
          </a:prstGeom>
          <a:noFill/>
        </p:spPr>
        <p:txBody>
          <a:bodyPr wrap="square" rtlCol="0">
            <a:spAutoFit/>
          </a:bodyPr>
          <a:lstStyle/>
          <a:p>
            <a:pPr algn="ctr"/>
            <a:r>
              <a:rPr lang="fr-FR" b="1" dirty="0">
                <a:latin typeface="Calibri" panose="020F0502020204030204" pitchFamily="34" charset="0"/>
                <a:ea typeface="Calibri" panose="020F0502020204030204" pitchFamily="34" charset="0"/>
                <a:cs typeface="Calibri" panose="020F0502020204030204" pitchFamily="34" charset="0"/>
              </a:rPr>
              <a:t>Delay</a:t>
            </a:r>
            <a:endParaRPr lang="fr-FR" sz="1600" dirty="0">
              <a:latin typeface="Calibri" panose="020F0502020204030204" pitchFamily="34" charset="0"/>
              <a:ea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E6DBA8E3-1A8D-5AE3-105F-C23F2E3285B8}"/>
              </a:ext>
            </a:extLst>
          </p:cNvPr>
          <p:cNvSpPr/>
          <p:nvPr/>
        </p:nvSpPr>
        <p:spPr>
          <a:xfrm>
            <a:off x="4626113" y="2675852"/>
            <a:ext cx="2823338" cy="181509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i="1" dirty="0"/>
          </a:p>
        </p:txBody>
      </p:sp>
      <p:sp>
        <p:nvSpPr>
          <p:cNvPr id="4" name="TextBox 15">
            <a:extLst>
              <a:ext uri="{FF2B5EF4-FFF2-40B4-BE49-F238E27FC236}">
                <a16:creationId xmlns:a16="http://schemas.microsoft.com/office/drawing/2014/main" id="{91E6E971-B00C-47C1-450F-2A1FC8F05716}"/>
              </a:ext>
            </a:extLst>
          </p:cNvPr>
          <p:cNvSpPr txBox="1"/>
          <p:nvPr/>
        </p:nvSpPr>
        <p:spPr>
          <a:xfrm>
            <a:off x="720812" y="532967"/>
            <a:ext cx="10632988" cy="1015663"/>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We want separate the choice from the corresponding action. </a:t>
            </a:r>
          </a:p>
          <a:p>
            <a:pPr marL="285750" indent="-285750">
              <a:buFont typeface="Arial" panose="020B0604020202020204" pitchFamily="34" charset="0"/>
              <a:buChar char="•"/>
            </a:pPr>
            <a:endParaRPr lang="en-US" sz="600" dirty="0">
              <a:latin typeface="+mj-lt"/>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To this end, we have used a response signal variant of the random dot motion task, in which we added a delay (3 to 7s) between the presentation of stimulus and the response signal.</a:t>
            </a:r>
            <a:endParaRPr lang="fr-FR" dirty="0">
              <a:latin typeface="+mj-lt"/>
              <a:ea typeface="Calibri" panose="020F0502020204030204" pitchFamily="34" charset="0"/>
              <a:cs typeface="Calibri" panose="020F0502020204030204" pitchFamily="34" charset="0"/>
            </a:endParaRPr>
          </a:p>
        </p:txBody>
      </p:sp>
      <p:cxnSp>
        <p:nvCxnSpPr>
          <p:cNvPr id="6" name="Straight Arrow Connector 36">
            <a:extLst>
              <a:ext uri="{FF2B5EF4-FFF2-40B4-BE49-F238E27FC236}">
                <a16:creationId xmlns:a16="http://schemas.microsoft.com/office/drawing/2014/main" id="{B233A04D-32A6-A513-F210-BBAD9FE5016E}"/>
              </a:ext>
            </a:extLst>
          </p:cNvPr>
          <p:cNvCxnSpPr>
            <a:cxnSpLocks/>
          </p:cNvCxnSpPr>
          <p:nvPr/>
        </p:nvCxnSpPr>
        <p:spPr>
          <a:xfrm>
            <a:off x="3870960" y="3598838"/>
            <a:ext cx="495300"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38">
            <a:extLst>
              <a:ext uri="{FF2B5EF4-FFF2-40B4-BE49-F238E27FC236}">
                <a16:creationId xmlns:a16="http://schemas.microsoft.com/office/drawing/2014/main" id="{956E9B01-0114-07D7-1566-340529A37370}"/>
              </a:ext>
            </a:extLst>
          </p:cNvPr>
          <p:cNvCxnSpPr>
            <a:cxnSpLocks/>
          </p:cNvCxnSpPr>
          <p:nvPr/>
        </p:nvCxnSpPr>
        <p:spPr>
          <a:xfrm>
            <a:off x="7830212" y="3591961"/>
            <a:ext cx="495300"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1504851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220B2BC0-4FAD-9625-9FD6-0F8F790770E0}"/>
              </a:ext>
            </a:extLst>
          </p:cNvPr>
          <p:cNvSpPr txBox="1">
            <a:spLocks/>
          </p:cNvSpPr>
          <p:nvPr/>
        </p:nvSpPr>
        <p:spPr>
          <a:xfrm>
            <a:off x="226951" y="238816"/>
            <a:ext cx="4116449" cy="52853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sz="1800" dirty="0">
                <a:latin typeface="Times New Roman" panose="02020603050405020304" pitchFamily="18" charset="0"/>
                <a:ea typeface="Calibri" panose="020F0502020204030204" pitchFamily="34" charset="0"/>
              </a:rPr>
              <a:t>Past research</a:t>
            </a:r>
          </a:p>
        </p:txBody>
      </p:sp>
      <p:sp>
        <p:nvSpPr>
          <p:cNvPr id="11" name="TextBox 10">
            <a:extLst>
              <a:ext uri="{FF2B5EF4-FFF2-40B4-BE49-F238E27FC236}">
                <a16:creationId xmlns:a16="http://schemas.microsoft.com/office/drawing/2014/main" id="{2AB1AD96-3D02-671F-3599-55A63877CD16}"/>
              </a:ext>
            </a:extLst>
          </p:cNvPr>
          <p:cNvSpPr txBox="1"/>
          <p:nvPr/>
        </p:nvSpPr>
        <p:spPr>
          <a:xfrm>
            <a:off x="588839" y="1281186"/>
            <a:ext cx="6829391" cy="4247317"/>
          </a:xfrm>
          <a:prstGeom prst="rect">
            <a:avLst/>
          </a:prstGeom>
          <a:noFill/>
        </p:spPr>
        <p:txBody>
          <a:bodyPr wrap="square">
            <a:spAutoFit/>
          </a:bodyPr>
          <a:lstStyle/>
          <a:p>
            <a:pPr marL="285750" indent="-285750">
              <a:buFont typeface="Arial" panose="020B0604020202020204" pitchFamily="34" charset="0"/>
              <a:buChar char="•"/>
            </a:pPr>
            <a:endParaRPr lang="en-US" dirty="0">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r>
              <a:rPr lang="en-US" dirty="0">
                <a:latin typeface="Times New Roman" panose="02020603050405020304" pitchFamily="18" charset="0"/>
                <a:ea typeface="Calibri" panose="020F0502020204030204" pitchFamily="34" charset="0"/>
              </a:rPr>
              <a:t>We proposed an extension of the Gated Cascade Diffusion Model (GCDM, Dendauw et al., 2024, </a:t>
            </a:r>
            <a:r>
              <a:rPr lang="en-US" dirty="0" err="1">
                <a:latin typeface="Times New Roman" panose="02020603050405020304" pitchFamily="18" charset="0"/>
                <a:ea typeface="Calibri" panose="020F0502020204030204" pitchFamily="34" charset="0"/>
              </a:rPr>
              <a:t>Psy</a:t>
            </a:r>
            <a:r>
              <a:rPr lang="en-US" dirty="0">
                <a:latin typeface="Times New Roman" panose="02020603050405020304" pitchFamily="18" charset="0"/>
                <a:ea typeface="Calibri" panose="020F0502020204030204" pitchFamily="34" charset="0"/>
              </a:rPr>
              <a:t> Rev) for response signal tasks based on behavioral and neurophysiological findings in both monkeys and humans.</a:t>
            </a:r>
          </a:p>
          <a:p>
            <a:pPr marL="285750" indent="-285750">
              <a:buFont typeface="Arial" panose="020B0604020202020204" pitchFamily="34" charset="0"/>
              <a:buChar char="•"/>
            </a:pPr>
            <a:endParaRPr lang="en-US" dirty="0">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r>
              <a:rPr lang="en-US" dirty="0">
                <a:latin typeface="Times New Roman" panose="02020603050405020304" pitchFamily="18" charset="0"/>
                <a:ea typeface="Calibri" panose="020F0502020204030204" pitchFamily="34" charset="0"/>
              </a:rPr>
              <a:t>We tested general predictions from the model using behavioral and EMG data in three response signal experiments, in which we manipulated various variables (stimulus presentation duration, delay duration, and foreknowledge of stimulus-response mapping).</a:t>
            </a:r>
          </a:p>
          <a:p>
            <a:pPr marL="285750" indent="-285750">
              <a:buFont typeface="Arial" panose="020B0604020202020204" pitchFamily="34" charset="0"/>
              <a:buChar char="•"/>
            </a:pPr>
            <a:endParaRPr lang="en-US" dirty="0">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r>
              <a:rPr lang="en-US" dirty="0">
                <a:latin typeface="Times New Roman" panose="02020603050405020304" pitchFamily="18" charset="0"/>
                <a:ea typeface="Calibri" panose="020F0502020204030204" pitchFamily="34" charset="0"/>
              </a:rPr>
              <a:t>The data are generally consistent with model predictions. </a:t>
            </a:r>
          </a:p>
          <a:p>
            <a:endParaRPr lang="en-US" dirty="0">
              <a:latin typeface="Times New Roman" panose="02020603050405020304" pitchFamily="18" charset="0"/>
              <a:ea typeface="Calibri" panose="020F0502020204030204" pitchFamily="34" charset="0"/>
            </a:endParaRPr>
          </a:p>
          <a:p>
            <a:endParaRPr lang="en-US" dirty="0">
              <a:latin typeface="Times New Roman" panose="02020603050405020304" pitchFamily="18" charset="0"/>
              <a:ea typeface="Calibri" panose="020F0502020204030204" pitchFamily="34" charset="0"/>
            </a:endParaRPr>
          </a:p>
          <a:p>
            <a:endParaRPr lang="fr-FR" dirty="0"/>
          </a:p>
        </p:txBody>
      </p:sp>
      <p:pic>
        <p:nvPicPr>
          <p:cNvPr id="24" name="Picture 23">
            <a:extLst>
              <a:ext uri="{FF2B5EF4-FFF2-40B4-BE49-F238E27FC236}">
                <a16:creationId xmlns:a16="http://schemas.microsoft.com/office/drawing/2014/main" id="{19DB4370-D8EC-C1B5-E8CA-4B01C25DA379}"/>
              </a:ext>
            </a:extLst>
          </p:cNvPr>
          <p:cNvPicPr>
            <a:picLocks noChangeAspect="1"/>
          </p:cNvPicPr>
          <p:nvPr/>
        </p:nvPicPr>
        <p:blipFill>
          <a:blip r:embed="rId3"/>
          <a:stretch>
            <a:fillRect/>
          </a:stretch>
        </p:blipFill>
        <p:spPr>
          <a:xfrm>
            <a:off x="7677208" y="289422"/>
            <a:ext cx="4008999" cy="6279155"/>
          </a:xfrm>
          <a:prstGeom prst="rect">
            <a:avLst/>
          </a:prstGeom>
          <a:ln>
            <a:solidFill>
              <a:schemeClr val="tx1">
                <a:lumMod val="50000"/>
                <a:lumOff val="50000"/>
              </a:schemeClr>
            </a:solidFill>
          </a:ln>
        </p:spPr>
      </p:pic>
    </p:spTree>
    <p:extLst>
      <p:ext uri="{BB962C8B-B14F-4D97-AF65-F5344CB8AC3E}">
        <p14:creationId xmlns:p14="http://schemas.microsoft.com/office/powerpoint/2010/main" val="683710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F53FD-E4D7-AC9D-4221-780B89F6B265}"/>
            </a:ext>
          </a:extLst>
        </p:cNvPr>
        <p:cNvGrpSpPr/>
        <p:nvPr/>
      </p:nvGrpSpPr>
      <p:grpSpPr>
        <a:xfrm>
          <a:off x="0" y="0"/>
          <a:ext cx="0" cy="0"/>
          <a:chOff x="0" y="0"/>
          <a:chExt cx="0" cy="0"/>
        </a:xfrm>
      </p:grpSpPr>
      <p:pic>
        <p:nvPicPr>
          <p:cNvPr id="1025" name="Image 3">
            <a:extLst>
              <a:ext uri="{FF2B5EF4-FFF2-40B4-BE49-F238E27FC236}">
                <a16:creationId xmlns:a16="http://schemas.microsoft.com/office/drawing/2014/main" id="{E8D7D508-6964-7CC5-4AA2-80DA62AC75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457" r="71474"/>
          <a:stretch/>
        </p:blipFill>
        <p:spPr bwMode="auto">
          <a:xfrm>
            <a:off x="8321265" y="1211653"/>
            <a:ext cx="3335653" cy="476350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57D5C740-5938-B966-FAD3-5696C106BC11}"/>
              </a:ext>
            </a:extLst>
          </p:cNvPr>
          <p:cNvSpPr>
            <a:spLocks noChangeArrowheads="1"/>
          </p:cNvSpPr>
          <p:nvPr/>
        </p:nvSpPr>
        <p:spPr bwMode="auto">
          <a:xfrm>
            <a:off x="0" y="30289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4" name="Rectangle 2">
            <a:extLst>
              <a:ext uri="{FF2B5EF4-FFF2-40B4-BE49-F238E27FC236}">
                <a16:creationId xmlns:a16="http://schemas.microsoft.com/office/drawing/2014/main" id="{3F507A7D-4213-4837-889B-0734A9193FE9}"/>
              </a:ext>
            </a:extLst>
          </p:cNvPr>
          <p:cNvSpPr>
            <a:spLocks noChangeArrowheads="1"/>
          </p:cNvSpPr>
          <p:nvPr/>
        </p:nvSpPr>
        <p:spPr bwMode="auto">
          <a:xfrm>
            <a:off x="9046953" y="6120035"/>
            <a:ext cx="20998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Dendauw et al., 2024, </a:t>
            </a:r>
            <a:r>
              <a:rPr kumimoji="0" lang="en-US" altLang="fr-FR" sz="12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Psy</a:t>
            </a:r>
            <a:r>
              <a:rPr kumimoji="0" lang="en-US" altLang="fr-FR"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Rev</a:t>
            </a:r>
            <a:endParaRPr kumimoji="0" lang="fr-FR" altLang="fr-FR" sz="600" b="0" i="0" u="none" strike="noStrike" cap="none" normalizeH="0" baseline="0" dirty="0">
              <a:ln>
                <a:noFill/>
              </a:ln>
              <a:solidFill>
                <a:schemeClr val="tx1"/>
              </a:solidFill>
              <a:effectLst/>
            </a:endParaRPr>
          </a:p>
        </p:txBody>
      </p:sp>
      <p:sp>
        <p:nvSpPr>
          <p:cNvPr id="7" name="TextBox 6">
            <a:extLst>
              <a:ext uri="{FF2B5EF4-FFF2-40B4-BE49-F238E27FC236}">
                <a16:creationId xmlns:a16="http://schemas.microsoft.com/office/drawing/2014/main" id="{DCB23F83-3D13-E9DB-5F78-2445A3D72047}"/>
              </a:ext>
            </a:extLst>
          </p:cNvPr>
          <p:cNvSpPr txBox="1"/>
          <p:nvPr/>
        </p:nvSpPr>
        <p:spPr>
          <a:xfrm>
            <a:off x="670311" y="412235"/>
            <a:ext cx="10736579" cy="369332"/>
          </a:xfrm>
          <a:prstGeom prst="rect">
            <a:avLst/>
          </a:prstGeom>
          <a:noFill/>
        </p:spPr>
        <p:txBody>
          <a:bodyPr wrap="square">
            <a:spAutoFit/>
          </a:bodyPr>
          <a:lstStyle/>
          <a:p>
            <a:r>
              <a:rPr lang="en-US" b="1" dirty="0"/>
              <a:t>Reminder: architecture of the Gated Cascade Diffusion Model (GCDM) for immediate decision reports</a:t>
            </a:r>
          </a:p>
        </p:txBody>
      </p:sp>
      <p:sp>
        <p:nvSpPr>
          <p:cNvPr id="16" name="TextBox 15">
            <a:extLst>
              <a:ext uri="{FF2B5EF4-FFF2-40B4-BE49-F238E27FC236}">
                <a16:creationId xmlns:a16="http://schemas.microsoft.com/office/drawing/2014/main" id="{627EB525-2FF5-27F5-0960-45DB3F5DE673}"/>
              </a:ext>
            </a:extLst>
          </p:cNvPr>
          <p:cNvSpPr txBox="1"/>
          <p:nvPr/>
        </p:nvSpPr>
        <p:spPr>
          <a:xfrm>
            <a:off x="670311" y="1211653"/>
            <a:ext cx="7287587" cy="4962897"/>
          </a:xfrm>
          <a:prstGeom prst="rect">
            <a:avLst/>
          </a:prstGeom>
          <a:noFill/>
        </p:spPr>
        <p:txBody>
          <a:bodyPr wrap="square">
            <a:spAutoFit/>
          </a:bodyPr>
          <a:lstStyle/>
          <a:p>
            <a:pPr marL="285750" indent="-285750">
              <a:buFont typeface="Arial" panose="020B0604020202020204" pitchFamily="34" charset="0"/>
              <a:buChar char="•"/>
            </a:pPr>
            <a:r>
              <a:rPr lang="en-US" dirty="0"/>
              <a:t>Continuous transmission of the decision variable to the motor structures that prepare the response.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decision variable is corrupted by </a:t>
            </a:r>
            <a:r>
              <a:rPr lang="en-US" sz="1800" b="1" dirty="0"/>
              <a:t>biological noise </a:t>
            </a:r>
            <a:r>
              <a:rPr lang="en-US" sz="1800" dirty="0"/>
              <a:t>during the transmission process.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sz="1800" dirty="0"/>
              <a:t>The motor preparation system attempts to deduce the decision state using an approximate Kalman-Bucy filter.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resulting motor preparation variable is subjected to gating inhibition before reaching muscle fibers.</a:t>
            </a:r>
            <a:endParaRPr lang="en-US" sz="1800" dirty="0"/>
          </a:p>
          <a:p>
            <a:pPr marL="285750" indent="-285750">
              <a:buFont typeface="Arial" panose="020B0604020202020204" pitchFamily="34" charset="0"/>
              <a:buChar char="•"/>
            </a:pPr>
            <a:endParaRPr lang="en-US" sz="105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dirty="0"/>
              <a:t>The neural drive to muscle fibers thus reflects the motor preparation variable when it exceeds gating inhibition.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response (button press) is issued </a:t>
            </a:r>
            <a:r>
              <a:rPr lang="en-US" dirty="0"/>
              <a:t>when the neural drive reaches a criterion level of activation (response threshold).</a:t>
            </a:r>
            <a:endParaRPr lang="en-US" sz="1800" dirty="0"/>
          </a:p>
        </p:txBody>
      </p:sp>
    </p:spTree>
    <p:extLst>
      <p:ext uri="{BB962C8B-B14F-4D97-AF65-F5344CB8AC3E}">
        <p14:creationId xmlns:p14="http://schemas.microsoft.com/office/powerpoint/2010/main" val="3119981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3242E-393B-588C-A623-76AD9C388389}"/>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44F72149-3416-09E9-6A38-B607C750414B}"/>
              </a:ext>
            </a:extLst>
          </p:cNvPr>
          <p:cNvSpPr>
            <a:spLocks noChangeArrowheads="1"/>
          </p:cNvSpPr>
          <p:nvPr/>
        </p:nvSpPr>
        <p:spPr bwMode="auto">
          <a:xfrm>
            <a:off x="0" y="30289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1" name="TextBox 20">
            <a:extLst>
              <a:ext uri="{FF2B5EF4-FFF2-40B4-BE49-F238E27FC236}">
                <a16:creationId xmlns:a16="http://schemas.microsoft.com/office/drawing/2014/main" id="{7A927E5E-8006-FA48-6B65-C3CAF51C0C73}"/>
              </a:ext>
            </a:extLst>
          </p:cNvPr>
          <p:cNvSpPr txBox="1"/>
          <p:nvPr/>
        </p:nvSpPr>
        <p:spPr>
          <a:xfrm>
            <a:off x="727710" y="402659"/>
            <a:ext cx="10736579" cy="369332"/>
          </a:xfrm>
          <a:prstGeom prst="rect">
            <a:avLst/>
          </a:prstGeom>
          <a:noFill/>
        </p:spPr>
        <p:txBody>
          <a:bodyPr wrap="square">
            <a:spAutoFit/>
          </a:bodyPr>
          <a:lstStyle/>
          <a:p>
            <a:r>
              <a:rPr lang="en-US" b="1" dirty="0"/>
              <a:t>Extension of GCDM to delayed decision reports (response signal tasks)</a:t>
            </a:r>
            <a:endParaRPr lang="en-US" sz="1800" b="1" dirty="0"/>
          </a:p>
        </p:txBody>
      </p:sp>
      <p:sp>
        <p:nvSpPr>
          <p:cNvPr id="23" name="TextBox 22">
            <a:extLst>
              <a:ext uri="{FF2B5EF4-FFF2-40B4-BE49-F238E27FC236}">
                <a16:creationId xmlns:a16="http://schemas.microsoft.com/office/drawing/2014/main" id="{44D29B27-0F5C-9CFB-531F-6E8C25C95D70}"/>
              </a:ext>
            </a:extLst>
          </p:cNvPr>
          <p:cNvSpPr txBox="1"/>
          <p:nvPr/>
        </p:nvSpPr>
        <p:spPr>
          <a:xfrm>
            <a:off x="727709" y="820028"/>
            <a:ext cx="10736579" cy="1200329"/>
          </a:xfrm>
          <a:prstGeom prst="rect">
            <a:avLst/>
          </a:prstGeom>
          <a:noFill/>
        </p:spPr>
        <p:txBody>
          <a:bodyPr wrap="square">
            <a:spAutoFit/>
          </a:bodyPr>
          <a:lstStyle/>
          <a:p>
            <a:r>
              <a:rPr lang="en-US" dirty="0"/>
              <a:t>Due to time constrains, I will focus on a response signal task in which (1) participants know the S-R mapping during stimulus presentation, (2) the delay is fixed to 3s, and (3) motion coherence (2, 11, 40 corresponding to low, medium and high difficulty levels) and stimulus duration (0.3, 1, 2s) are manipulated and randomized within blocks of trials.</a:t>
            </a:r>
            <a:endParaRPr lang="fr-FR" dirty="0"/>
          </a:p>
        </p:txBody>
      </p:sp>
      <p:pic>
        <p:nvPicPr>
          <p:cNvPr id="6" name="Image 7">
            <a:extLst>
              <a:ext uri="{FF2B5EF4-FFF2-40B4-BE49-F238E27FC236}">
                <a16:creationId xmlns:a16="http://schemas.microsoft.com/office/drawing/2014/main" id="{A219C57E-6131-65E8-2CAF-34B93FCC5F00}"/>
              </a:ext>
            </a:extLst>
          </p:cNvPr>
          <p:cNvPicPr>
            <a:picLocks noChangeAspect="1"/>
          </p:cNvPicPr>
          <p:nvPr/>
        </p:nvPicPr>
        <p:blipFill>
          <a:blip r:embed="rId3" cstate="print">
            <a:extLst>
              <a:ext uri="{28A0092B-C50C-407E-A947-70E740481C1C}">
                <a14:useLocalDpi xmlns:a14="http://schemas.microsoft.com/office/drawing/2010/main" val="0"/>
              </a:ext>
            </a:extLst>
          </a:blip>
          <a:srcRect l="1" t="435" r="157" b="66459"/>
          <a:stretch/>
        </p:blipFill>
        <p:spPr>
          <a:xfrm>
            <a:off x="779795" y="2274165"/>
            <a:ext cx="10551943" cy="3494495"/>
          </a:xfrm>
          <a:prstGeom prst="rect">
            <a:avLst/>
          </a:prstGeom>
        </p:spPr>
      </p:pic>
      <p:sp>
        <p:nvSpPr>
          <p:cNvPr id="7" name="Rectangle 6">
            <a:extLst>
              <a:ext uri="{FF2B5EF4-FFF2-40B4-BE49-F238E27FC236}">
                <a16:creationId xmlns:a16="http://schemas.microsoft.com/office/drawing/2014/main" id="{C9B0E563-E59F-6091-0412-DA01DA42E38C}"/>
              </a:ext>
            </a:extLst>
          </p:cNvPr>
          <p:cNvSpPr/>
          <p:nvPr/>
        </p:nvSpPr>
        <p:spPr>
          <a:xfrm>
            <a:off x="638396" y="4411502"/>
            <a:ext cx="2766350" cy="17321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AC3DF1B1-8EDD-6DB1-6816-19266F72BBE4}"/>
              </a:ext>
            </a:extLst>
          </p:cNvPr>
          <p:cNvSpPr/>
          <p:nvPr/>
        </p:nvSpPr>
        <p:spPr>
          <a:xfrm>
            <a:off x="860262" y="2229590"/>
            <a:ext cx="544010" cy="4966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99634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91908-5E2C-3995-2D94-7F2B481E213F}"/>
            </a:ext>
          </a:extLst>
        </p:cNvPr>
        <p:cNvGrpSpPr/>
        <p:nvPr/>
      </p:nvGrpSpPr>
      <p:grpSpPr>
        <a:xfrm>
          <a:off x="0" y="0"/>
          <a:ext cx="0" cy="0"/>
          <a:chOff x="0" y="0"/>
          <a:chExt cx="0" cy="0"/>
        </a:xfrm>
      </p:grpSpPr>
      <p:grpSp>
        <p:nvGrpSpPr>
          <p:cNvPr id="296" name="Group 295">
            <a:extLst>
              <a:ext uri="{FF2B5EF4-FFF2-40B4-BE49-F238E27FC236}">
                <a16:creationId xmlns:a16="http://schemas.microsoft.com/office/drawing/2014/main" id="{AD731C6C-A87F-9E65-2BDC-337B84F2C0C7}"/>
              </a:ext>
            </a:extLst>
          </p:cNvPr>
          <p:cNvGrpSpPr/>
          <p:nvPr/>
        </p:nvGrpSpPr>
        <p:grpSpPr>
          <a:xfrm>
            <a:off x="7589722" y="1594848"/>
            <a:ext cx="4377928" cy="4914584"/>
            <a:chOff x="7647932" y="1594848"/>
            <a:chExt cx="4377928" cy="4914584"/>
          </a:xfrm>
        </p:grpSpPr>
        <p:sp>
          <p:nvSpPr>
            <p:cNvPr id="297" name="Rectangle 296">
              <a:extLst>
                <a:ext uri="{FF2B5EF4-FFF2-40B4-BE49-F238E27FC236}">
                  <a16:creationId xmlns:a16="http://schemas.microsoft.com/office/drawing/2014/main" id="{D32E4F0D-DD05-DA52-158D-8CEB36293495}"/>
                </a:ext>
              </a:extLst>
            </p:cNvPr>
            <p:cNvSpPr/>
            <p:nvPr/>
          </p:nvSpPr>
          <p:spPr>
            <a:xfrm>
              <a:off x="8075931" y="4832084"/>
              <a:ext cx="3604339" cy="1139214"/>
            </a:xfrm>
            <a:prstGeom prst="rect">
              <a:avLst/>
            </a:prstGeom>
            <a:solidFill>
              <a:srgbClr val="F9F9F9"/>
            </a:solidFill>
            <a:ln>
              <a:solidFill>
                <a:srgbClr val="F9F9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8" name="Rectangle 297">
              <a:extLst>
                <a:ext uri="{FF2B5EF4-FFF2-40B4-BE49-F238E27FC236}">
                  <a16:creationId xmlns:a16="http://schemas.microsoft.com/office/drawing/2014/main" id="{378E387A-B24F-7107-5A94-8F22C5E61C4A}"/>
                </a:ext>
              </a:extLst>
            </p:cNvPr>
            <p:cNvSpPr/>
            <p:nvPr/>
          </p:nvSpPr>
          <p:spPr>
            <a:xfrm>
              <a:off x="8040457" y="2176141"/>
              <a:ext cx="3651130" cy="2365439"/>
            </a:xfrm>
            <a:prstGeom prst="rect">
              <a:avLst/>
            </a:prstGeom>
            <a:solidFill>
              <a:srgbClr val="F9F9F9"/>
            </a:solidFill>
            <a:ln>
              <a:solidFill>
                <a:srgbClr val="F9F9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99" name="Connecteur droit avec flèche 20">
              <a:extLst>
                <a:ext uri="{FF2B5EF4-FFF2-40B4-BE49-F238E27FC236}">
                  <a16:creationId xmlns:a16="http://schemas.microsoft.com/office/drawing/2014/main" id="{58021B81-BB78-8427-BADC-2098FD43456D}"/>
                </a:ext>
              </a:extLst>
            </p:cNvPr>
            <p:cNvCxnSpPr>
              <a:cxnSpLocks/>
            </p:cNvCxnSpPr>
            <p:nvPr/>
          </p:nvCxnSpPr>
          <p:spPr>
            <a:xfrm>
              <a:off x="8747206" y="3326429"/>
              <a:ext cx="2105853" cy="0"/>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Connecteur droit avec flèche 20">
              <a:extLst>
                <a:ext uri="{FF2B5EF4-FFF2-40B4-BE49-F238E27FC236}">
                  <a16:creationId xmlns:a16="http://schemas.microsoft.com/office/drawing/2014/main" id="{FDE29D06-0ECD-F1DF-284C-214E91A00BCB}"/>
                </a:ext>
              </a:extLst>
            </p:cNvPr>
            <p:cNvCxnSpPr>
              <a:cxnSpLocks/>
            </p:cNvCxnSpPr>
            <p:nvPr/>
          </p:nvCxnSpPr>
          <p:spPr>
            <a:xfrm>
              <a:off x="8908951" y="2974786"/>
              <a:ext cx="1893332" cy="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Connecteur droit avec flèche 20">
              <a:extLst>
                <a:ext uri="{FF2B5EF4-FFF2-40B4-BE49-F238E27FC236}">
                  <a16:creationId xmlns:a16="http://schemas.microsoft.com/office/drawing/2014/main" id="{31BABC35-6DFD-55F4-1BBC-33F323014262}"/>
                </a:ext>
              </a:extLst>
            </p:cNvPr>
            <p:cNvCxnSpPr>
              <a:cxnSpLocks/>
            </p:cNvCxnSpPr>
            <p:nvPr/>
          </p:nvCxnSpPr>
          <p:spPr>
            <a:xfrm>
              <a:off x="9095950" y="3253748"/>
              <a:ext cx="1706333" cy="0"/>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Connecteur droit avec flèche 20">
              <a:extLst>
                <a:ext uri="{FF2B5EF4-FFF2-40B4-BE49-F238E27FC236}">
                  <a16:creationId xmlns:a16="http://schemas.microsoft.com/office/drawing/2014/main" id="{FABEE704-17B8-F64F-85D5-9322D0876339}"/>
                </a:ext>
              </a:extLst>
            </p:cNvPr>
            <p:cNvCxnSpPr>
              <a:cxnSpLocks/>
            </p:cNvCxnSpPr>
            <p:nvPr/>
          </p:nvCxnSpPr>
          <p:spPr>
            <a:xfrm flipV="1">
              <a:off x="8400324" y="3270178"/>
              <a:ext cx="677314" cy="575636"/>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3" name="Connecteur droit avec flèche 20">
              <a:extLst>
                <a:ext uri="{FF2B5EF4-FFF2-40B4-BE49-F238E27FC236}">
                  <a16:creationId xmlns:a16="http://schemas.microsoft.com/office/drawing/2014/main" id="{93FEE2A8-681B-F125-5E21-B6FF75561795}"/>
                </a:ext>
              </a:extLst>
            </p:cNvPr>
            <p:cNvCxnSpPr>
              <a:cxnSpLocks/>
            </p:cNvCxnSpPr>
            <p:nvPr/>
          </p:nvCxnSpPr>
          <p:spPr>
            <a:xfrm flipV="1">
              <a:off x="8400248" y="2974786"/>
              <a:ext cx="508703" cy="87760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4" name="Connecteur droit avec flèche 20">
              <a:extLst>
                <a:ext uri="{FF2B5EF4-FFF2-40B4-BE49-F238E27FC236}">
                  <a16:creationId xmlns:a16="http://schemas.microsoft.com/office/drawing/2014/main" id="{F2F0C065-B367-A77F-3ACD-A2B9371B3443}"/>
                </a:ext>
              </a:extLst>
            </p:cNvPr>
            <p:cNvCxnSpPr>
              <a:cxnSpLocks/>
            </p:cNvCxnSpPr>
            <p:nvPr/>
          </p:nvCxnSpPr>
          <p:spPr>
            <a:xfrm flipV="1">
              <a:off x="8442226" y="3585533"/>
              <a:ext cx="349503" cy="293747"/>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5" name="Connecteur droit avec flèche 20">
              <a:extLst>
                <a:ext uri="{FF2B5EF4-FFF2-40B4-BE49-F238E27FC236}">
                  <a16:creationId xmlns:a16="http://schemas.microsoft.com/office/drawing/2014/main" id="{9833DFE7-A58B-CE4A-4B4E-47F849AF25F9}"/>
                </a:ext>
              </a:extLst>
            </p:cNvPr>
            <p:cNvCxnSpPr>
              <a:cxnSpLocks/>
            </p:cNvCxnSpPr>
            <p:nvPr/>
          </p:nvCxnSpPr>
          <p:spPr>
            <a:xfrm>
              <a:off x="8791729" y="3579955"/>
              <a:ext cx="2020399" cy="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6" name="Connecteur droit avec flèche 20">
              <a:extLst>
                <a:ext uri="{FF2B5EF4-FFF2-40B4-BE49-F238E27FC236}">
                  <a16:creationId xmlns:a16="http://schemas.microsoft.com/office/drawing/2014/main" id="{3707EED7-A086-FA94-E8E6-2F2B20FEE4D8}"/>
                </a:ext>
              </a:extLst>
            </p:cNvPr>
            <p:cNvCxnSpPr>
              <a:cxnSpLocks/>
            </p:cNvCxnSpPr>
            <p:nvPr/>
          </p:nvCxnSpPr>
          <p:spPr>
            <a:xfrm flipV="1">
              <a:off x="8442226" y="3326429"/>
              <a:ext cx="304980" cy="519385"/>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3103460F-AE4C-2B5B-BBC3-702F62EDEDE1}"/>
                </a:ext>
              </a:extLst>
            </p:cNvPr>
            <p:cNvCxnSpPr/>
            <p:nvPr/>
          </p:nvCxnSpPr>
          <p:spPr>
            <a:xfrm>
              <a:off x="9302255" y="2059793"/>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08" name="Straight Connector 307">
              <a:extLst>
                <a:ext uri="{FF2B5EF4-FFF2-40B4-BE49-F238E27FC236}">
                  <a16:creationId xmlns:a16="http://schemas.microsoft.com/office/drawing/2014/main" id="{4E7792C8-1BC7-4E89-C918-249569FFE902}"/>
                </a:ext>
              </a:extLst>
            </p:cNvPr>
            <p:cNvCxnSpPr/>
            <p:nvPr/>
          </p:nvCxnSpPr>
          <p:spPr>
            <a:xfrm>
              <a:off x="8045105" y="2059793"/>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09" name="Straight Connector 308">
              <a:extLst>
                <a:ext uri="{FF2B5EF4-FFF2-40B4-BE49-F238E27FC236}">
                  <a16:creationId xmlns:a16="http://schemas.microsoft.com/office/drawing/2014/main" id="{8258981D-F9CD-4262-F83C-13CCB1D1981A}"/>
                </a:ext>
              </a:extLst>
            </p:cNvPr>
            <p:cNvCxnSpPr/>
            <p:nvPr/>
          </p:nvCxnSpPr>
          <p:spPr>
            <a:xfrm>
              <a:off x="10384883" y="2059793"/>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10" name="Straight Connector 309">
              <a:extLst>
                <a:ext uri="{FF2B5EF4-FFF2-40B4-BE49-F238E27FC236}">
                  <a16:creationId xmlns:a16="http://schemas.microsoft.com/office/drawing/2014/main" id="{87209A1A-5FDC-D877-24DC-0BB551BF78AC}"/>
                </a:ext>
              </a:extLst>
            </p:cNvPr>
            <p:cNvCxnSpPr/>
            <p:nvPr/>
          </p:nvCxnSpPr>
          <p:spPr>
            <a:xfrm>
              <a:off x="11685928" y="2057841"/>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11" name="Connecteur droit avec flèche 20">
              <a:extLst>
                <a:ext uri="{FF2B5EF4-FFF2-40B4-BE49-F238E27FC236}">
                  <a16:creationId xmlns:a16="http://schemas.microsoft.com/office/drawing/2014/main" id="{643DF67B-39A3-4D1A-FC7C-3B366B11301F}"/>
                </a:ext>
              </a:extLst>
            </p:cNvPr>
            <p:cNvCxnSpPr>
              <a:cxnSpLocks/>
            </p:cNvCxnSpPr>
            <p:nvPr/>
          </p:nvCxnSpPr>
          <p:spPr>
            <a:xfrm flipV="1">
              <a:off x="10802283" y="2472171"/>
              <a:ext cx="254327" cy="502615"/>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2" name="Connecteur droit avec flèche 20">
              <a:extLst>
                <a:ext uri="{FF2B5EF4-FFF2-40B4-BE49-F238E27FC236}">
                  <a16:creationId xmlns:a16="http://schemas.microsoft.com/office/drawing/2014/main" id="{A95B6061-5802-1074-24FA-AAC168B7CF11}"/>
                </a:ext>
              </a:extLst>
            </p:cNvPr>
            <p:cNvCxnSpPr>
              <a:cxnSpLocks/>
            </p:cNvCxnSpPr>
            <p:nvPr/>
          </p:nvCxnSpPr>
          <p:spPr>
            <a:xfrm flipV="1">
              <a:off x="10817262" y="2489894"/>
              <a:ext cx="365861" cy="763854"/>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3" name="Connecteur droit avec flèche 20">
              <a:extLst>
                <a:ext uri="{FF2B5EF4-FFF2-40B4-BE49-F238E27FC236}">
                  <a16:creationId xmlns:a16="http://schemas.microsoft.com/office/drawing/2014/main" id="{40A043CC-893D-58F8-25A5-6E191B5F3FCE}"/>
                </a:ext>
              </a:extLst>
            </p:cNvPr>
            <p:cNvCxnSpPr>
              <a:cxnSpLocks/>
            </p:cNvCxnSpPr>
            <p:nvPr/>
          </p:nvCxnSpPr>
          <p:spPr>
            <a:xfrm flipV="1">
              <a:off x="10853059" y="2489894"/>
              <a:ext cx="414123" cy="836535"/>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Connecteur droit avec flèche 20">
              <a:extLst>
                <a:ext uri="{FF2B5EF4-FFF2-40B4-BE49-F238E27FC236}">
                  <a16:creationId xmlns:a16="http://schemas.microsoft.com/office/drawing/2014/main" id="{6AB0287A-9271-1957-286E-425752322996}"/>
                </a:ext>
              </a:extLst>
            </p:cNvPr>
            <p:cNvCxnSpPr>
              <a:cxnSpLocks/>
            </p:cNvCxnSpPr>
            <p:nvPr/>
          </p:nvCxnSpPr>
          <p:spPr>
            <a:xfrm flipH="1">
              <a:off x="10824720" y="2479130"/>
              <a:ext cx="551288" cy="1090061"/>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5" name="TextBox 314">
              <a:extLst>
                <a:ext uri="{FF2B5EF4-FFF2-40B4-BE49-F238E27FC236}">
                  <a16:creationId xmlns:a16="http://schemas.microsoft.com/office/drawing/2014/main" id="{F81698B9-3ED9-128F-BD4D-78C4280D6561}"/>
                </a:ext>
              </a:extLst>
            </p:cNvPr>
            <p:cNvSpPr txBox="1"/>
            <p:nvPr/>
          </p:nvSpPr>
          <p:spPr>
            <a:xfrm>
              <a:off x="7647932" y="1618677"/>
              <a:ext cx="878545" cy="461665"/>
            </a:xfrm>
            <a:prstGeom prst="rect">
              <a:avLst/>
            </a:prstGeom>
            <a:noFill/>
          </p:spPr>
          <p:txBody>
            <a:bodyPr wrap="square">
              <a:spAutoFit/>
            </a:bodyPr>
            <a:lstStyle/>
            <a:p>
              <a:pPr algn="ctr"/>
              <a:r>
                <a:rPr lang="en-US" sz="1200" b="1" dirty="0"/>
                <a:t>Stimulus onset</a:t>
              </a:r>
              <a:endParaRPr lang="fr-FR" sz="1200" b="1" dirty="0"/>
            </a:p>
          </p:txBody>
        </p:sp>
        <p:sp>
          <p:nvSpPr>
            <p:cNvPr id="316" name="TextBox 315">
              <a:extLst>
                <a:ext uri="{FF2B5EF4-FFF2-40B4-BE49-F238E27FC236}">
                  <a16:creationId xmlns:a16="http://schemas.microsoft.com/office/drawing/2014/main" id="{33EA39B8-C535-CF8D-7CCA-2708FD681BDE}"/>
                </a:ext>
              </a:extLst>
            </p:cNvPr>
            <p:cNvSpPr txBox="1"/>
            <p:nvPr/>
          </p:nvSpPr>
          <p:spPr>
            <a:xfrm>
              <a:off x="8862982" y="1594848"/>
              <a:ext cx="878545" cy="461665"/>
            </a:xfrm>
            <a:prstGeom prst="rect">
              <a:avLst/>
            </a:prstGeom>
            <a:noFill/>
          </p:spPr>
          <p:txBody>
            <a:bodyPr wrap="square">
              <a:spAutoFit/>
            </a:bodyPr>
            <a:lstStyle/>
            <a:p>
              <a:pPr algn="ctr"/>
              <a:r>
                <a:rPr lang="en-US" sz="1200" b="1" dirty="0"/>
                <a:t>Stimulus offset</a:t>
              </a:r>
              <a:endParaRPr lang="fr-FR" sz="1200" b="1" dirty="0"/>
            </a:p>
          </p:txBody>
        </p:sp>
        <p:sp>
          <p:nvSpPr>
            <p:cNvPr id="317" name="TextBox 316">
              <a:extLst>
                <a:ext uri="{FF2B5EF4-FFF2-40B4-BE49-F238E27FC236}">
                  <a16:creationId xmlns:a16="http://schemas.microsoft.com/office/drawing/2014/main" id="{482276AA-A64A-9FCE-7E16-7742E5CA69CA}"/>
                </a:ext>
              </a:extLst>
            </p:cNvPr>
            <p:cNvSpPr txBox="1"/>
            <p:nvPr/>
          </p:nvSpPr>
          <p:spPr>
            <a:xfrm>
              <a:off x="9945610" y="1686995"/>
              <a:ext cx="878545" cy="276999"/>
            </a:xfrm>
            <a:prstGeom prst="rect">
              <a:avLst/>
            </a:prstGeom>
            <a:noFill/>
          </p:spPr>
          <p:txBody>
            <a:bodyPr wrap="square">
              <a:spAutoFit/>
            </a:bodyPr>
            <a:lstStyle/>
            <a:p>
              <a:pPr algn="ctr"/>
              <a:r>
                <a:rPr lang="en-US" sz="1200" b="1" dirty="0"/>
                <a:t>RS</a:t>
              </a:r>
              <a:endParaRPr lang="fr-FR" sz="1200" b="1" dirty="0"/>
            </a:p>
          </p:txBody>
        </p:sp>
        <p:sp>
          <p:nvSpPr>
            <p:cNvPr id="318" name="TextBox 317">
              <a:extLst>
                <a:ext uri="{FF2B5EF4-FFF2-40B4-BE49-F238E27FC236}">
                  <a16:creationId xmlns:a16="http://schemas.microsoft.com/office/drawing/2014/main" id="{43E183B9-AF15-1DAE-B975-073744CF24D7}"/>
                </a:ext>
              </a:extLst>
            </p:cNvPr>
            <p:cNvSpPr txBox="1"/>
            <p:nvPr/>
          </p:nvSpPr>
          <p:spPr>
            <a:xfrm>
              <a:off x="11147315" y="1686995"/>
              <a:ext cx="878545" cy="276999"/>
            </a:xfrm>
            <a:prstGeom prst="rect">
              <a:avLst/>
            </a:prstGeom>
            <a:noFill/>
          </p:spPr>
          <p:txBody>
            <a:bodyPr wrap="square">
              <a:spAutoFit/>
            </a:bodyPr>
            <a:lstStyle/>
            <a:p>
              <a:pPr algn="ctr"/>
              <a:r>
                <a:rPr lang="en-US" sz="1200" b="1" dirty="0"/>
                <a:t>Response</a:t>
              </a:r>
              <a:endParaRPr lang="fr-FR" sz="1200" b="1" dirty="0"/>
            </a:p>
          </p:txBody>
        </p:sp>
        <p:cxnSp>
          <p:nvCxnSpPr>
            <p:cNvPr id="319" name="Straight Arrow Connector 318">
              <a:extLst>
                <a:ext uri="{FF2B5EF4-FFF2-40B4-BE49-F238E27FC236}">
                  <a16:creationId xmlns:a16="http://schemas.microsoft.com/office/drawing/2014/main" id="{16BED230-D333-449D-9F6E-BA103CEC2552}"/>
                </a:ext>
              </a:extLst>
            </p:cNvPr>
            <p:cNvCxnSpPr/>
            <p:nvPr/>
          </p:nvCxnSpPr>
          <p:spPr>
            <a:xfrm>
              <a:off x="8075932" y="3982780"/>
              <a:ext cx="366294"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320" name="Straight Arrow Connector 319">
              <a:extLst>
                <a:ext uri="{FF2B5EF4-FFF2-40B4-BE49-F238E27FC236}">
                  <a16:creationId xmlns:a16="http://schemas.microsoft.com/office/drawing/2014/main" id="{B2E4AC1F-69A7-DA1B-03AA-B1F65B6C05AE}"/>
                </a:ext>
              </a:extLst>
            </p:cNvPr>
            <p:cNvCxnSpPr/>
            <p:nvPr/>
          </p:nvCxnSpPr>
          <p:spPr>
            <a:xfrm>
              <a:off x="10384883" y="3728780"/>
              <a:ext cx="366294"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321" name="Straight Connector 320">
              <a:extLst>
                <a:ext uri="{FF2B5EF4-FFF2-40B4-BE49-F238E27FC236}">
                  <a16:creationId xmlns:a16="http://schemas.microsoft.com/office/drawing/2014/main" id="{AB3BADE5-1678-2509-EB08-30F7D1F6C1A8}"/>
                </a:ext>
              </a:extLst>
            </p:cNvPr>
            <p:cNvCxnSpPr/>
            <p:nvPr/>
          </p:nvCxnSpPr>
          <p:spPr>
            <a:xfrm>
              <a:off x="8526477" y="2687380"/>
              <a:ext cx="3095587"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322" name="TextBox 321">
              <a:extLst>
                <a:ext uri="{FF2B5EF4-FFF2-40B4-BE49-F238E27FC236}">
                  <a16:creationId xmlns:a16="http://schemas.microsoft.com/office/drawing/2014/main" id="{D43C15AC-8A19-B966-6611-33F75408FCD0}"/>
                </a:ext>
              </a:extLst>
            </p:cNvPr>
            <p:cNvSpPr txBox="1"/>
            <p:nvPr/>
          </p:nvSpPr>
          <p:spPr>
            <a:xfrm>
              <a:off x="8215799" y="2460864"/>
              <a:ext cx="513337" cy="369332"/>
            </a:xfrm>
            <a:prstGeom prst="rect">
              <a:avLst/>
            </a:prstGeom>
            <a:noFill/>
          </p:spPr>
          <p:txBody>
            <a:bodyPr wrap="square">
              <a:spAutoFit/>
            </a:bodyPr>
            <a:lstStyle/>
            <a:p>
              <a:r>
                <a:rPr lang="en-US" sz="1800" i="1" dirty="0">
                  <a:solidFill>
                    <a:srgbClr val="FF0000"/>
                  </a:solidFill>
                </a:rPr>
                <a:t>g</a:t>
              </a:r>
              <a:endParaRPr lang="fr-FR" i="1" dirty="0">
                <a:solidFill>
                  <a:srgbClr val="FF0000"/>
                </a:solidFill>
              </a:endParaRPr>
            </a:p>
          </p:txBody>
        </p:sp>
        <p:cxnSp>
          <p:nvCxnSpPr>
            <p:cNvPr id="323" name="Straight Connector 322">
              <a:extLst>
                <a:ext uri="{FF2B5EF4-FFF2-40B4-BE49-F238E27FC236}">
                  <a16:creationId xmlns:a16="http://schemas.microsoft.com/office/drawing/2014/main" id="{175A0911-539D-73B3-3507-D40BEAD897D0}"/>
                </a:ext>
              </a:extLst>
            </p:cNvPr>
            <p:cNvCxnSpPr>
              <a:cxnSpLocks/>
            </p:cNvCxnSpPr>
            <p:nvPr/>
          </p:nvCxnSpPr>
          <p:spPr>
            <a:xfrm>
              <a:off x="8908951" y="5283947"/>
              <a:ext cx="2725019"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4" name="TextBox 323">
                  <a:extLst>
                    <a:ext uri="{FF2B5EF4-FFF2-40B4-BE49-F238E27FC236}">
                      <a16:creationId xmlns:a16="http://schemas.microsoft.com/office/drawing/2014/main" id="{07E72016-FD3D-3835-7289-589946AC13B5}"/>
                    </a:ext>
                  </a:extLst>
                </p:cNvPr>
                <p:cNvSpPr txBox="1"/>
                <p:nvPr/>
              </p:nvSpPr>
              <p:spPr>
                <a:xfrm>
                  <a:off x="8400249" y="5118068"/>
                  <a:ext cx="564104" cy="276999"/>
                </a:xfrm>
                <a:prstGeom prst="rect">
                  <a:avLst/>
                </a:prstGeom>
                <a:noFill/>
              </p:spPr>
              <p:txBody>
                <a:bodyPr wrap="square">
                  <a:spAutoFit/>
                </a:bodyPr>
                <a:lstStyle/>
                <a:p>
                  <a14:m>
                    <m:oMath xmlns:m="http://schemas.openxmlformats.org/officeDocument/2006/math">
                      <m:r>
                        <a:rPr lang="en-US" sz="1200" i="1" smtClean="0">
                          <a:solidFill>
                            <a:srgbClr val="FF0000"/>
                          </a:solidFill>
                          <a:latin typeface="Cambria Math" panose="02040503050406030204" pitchFamily="18" charset="0"/>
                          <a:ea typeface="Cambria Math" panose="02040503050406030204" pitchFamily="18" charset="0"/>
                        </a:rPr>
                        <m:t>𝜃</m:t>
                      </m:r>
                      <m:r>
                        <a:rPr lang="fr-FR" sz="1200" b="0" i="1" smtClean="0">
                          <a:solidFill>
                            <a:srgbClr val="FF0000"/>
                          </a:solidFill>
                          <a:latin typeface="Cambria Math" panose="02040503050406030204" pitchFamily="18" charset="0"/>
                          <a:ea typeface="Cambria Math" panose="02040503050406030204" pitchFamily="18" charset="0"/>
                        </a:rPr>
                        <m:t> </m:t>
                      </m:r>
                    </m:oMath>
                  </a14:m>
                  <a:r>
                    <a:rPr lang="en-US" sz="1200" i="1" dirty="0">
                      <a:solidFill>
                        <a:srgbClr val="FF0000"/>
                      </a:solidFill>
                    </a:rPr>
                    <a:t>resp</a:t>
                  </a:r>
                  <a:endParaRPr lang="fr-FR" sz="1200" i="1" dirty="0">
                    <a:solidFill>
                      <a:srgbClr val="FF0000"/>
                    </a:solidFill>
                  </a:endParaRPr>
                </a:p>
              </p:txBody>
            </p:sp>
          </mc:Choice>
          <mc:Fallback xmlns="">
            <p:sp>
              <p:nvSpPr>
                <p:cNvPr id="324" name="TextBox 323">
                  <a:extLst>
                    <a:ext uri="{FF2B5EF4-FFF2-40B4-BE49-F238E27FC236}">
                      <a16:creationId xmlns:a16="http://schemas.microsoft.com/office/drawing/2014/main" id="{07E72016-FD3D-3835-7289-589946AC13B5}"/>
                    </a:ext>
                  </a:extLst>
                </p:cNvPr>
                <p:cNvSpPr txBox="1">
                  <a:spLocks noRot="1" noChangeAspect="1" noMove="1" noResize="1" noEditPoints="1" noAdjustHandles="1" noChangeArrowheads="1" noChangeShapeType="1" noTextEdit="1"/>
                </p:cNvSpPr>
                <p:nvPr/>
              </p:nvSpPr>
              <p:spPr>
                <a:xfrm>
                  <a:off x="8400249" y="5118068"/>
                  <a:ext cx="564104" cy="276999"/>
                </a:xfrm>
                <a:prstGeom prst="rect">
                  <a:avLst/>
                </a:prstGeom>
                <a:blipFill>
                  <a:blip r:embed="rId2"/>
                  <a:stretch>
                    <a:fillRect t="-2222" r="-1075" b="-17778"/>
                  </a:stretch>
                </a:blipFill>
              </p:spPr>
              <p:txBody>
                <a:bodyPr/>
                <a:lstStyle/>
                <a:p>
                  <a:r>
                    <a:rPr lang="fr-FR">
                      <a:noFill/>
                    </a:rPr>
                    <a:t> </a:t>
                  </a:r>
                </a:p>
              </p:txBody>
            </p:sp>
          </mc:Fallback>
        </mc:AlternateContent>
        <p:sp>
          <p:nvSpPr>
            <p:cNvPr id="325" name="ZoneTexte 77">
              <a:extLst>
                <a:ext uri="{FF2B5EF4-FFF2-40B4-BE49-F238E27FC236}">
                  <a16:creationId xmlns:a16="http://schemas.microsoft.com/office/drawing/2014/main" id="{F6F60DD7-44E5-EBCE-0C28-02BE1AC5A2C1}"/>
                </a:ext>
              </a:extLst>
            </p:cNvPr>
            <p:cNvSpPr txBox="1"/>
            <p:nvPr/>
          </p:nvSpPr>
          <p:spPr>
            <a:xfrm>
              <a:off x="10425959" y="5851904"/>
              <a:ext cx="654906" cy="261610"/>
            </a:xfrm>
            <a:prstGeom prst="rect">
              <a:avLst/>
            </a:prstGeom>
            <a:noFill/>
          </p:spPr>
          <p:txBody>
            <a:bodyPr wrap="square" rtlCol="0">
              <a:spAutoFit/>
            </a:bodyPr>
            <a:lstStyle/>
            <a:p>
              <a:pPr algn="ctr"/>
              <a:r>
                <a:rPr lang="en-US" sz="1100" b="1" dirty="0">
                  <a:latin typeface="Times New Roman" panose="02020603050405020304" pitchFamily="18" charset="0"/>
                  <a:cs typeface="Times New Roman" panose="02020603050405020304" pitchFamily="18" charset="0"/>
                </a:rPr>
                <a:t>PMT 2s</a:t>
              </a:r>
            </a:p>
          </p:txBody>
        </p:sp>
        <p:sp>
          <p:nvSpPr>
            <p:cNvPr id="326" name="ZoneTexte 77">
              <a:extLst>
                <a:ext uri="{FF2B5EF4-FFF2-40B4-BE49-F238E27FC236}">
                  <a16:creationId xmlns:a16="http://schemas.microsoft.com/office/drawing/2014/main" id="{EF8D483F-F4BC-AACB-5905-B6BD00C46780}"/>
                </a:ext>
              </a:extLst>
            </p:cNvPr>
            <p:cNvSpPr txBox="1"/>
            <p:nvPr/>
          </p:nvSpPr>
          <p:spPr>
            <a:xfrm>
              <a:off x="11271655" y="6247822"/>
              <a:ext cx="439470" cy="261610"/>
            </a:xfrm>
            <a:prstGeom prst="rect">
              <a:avLst/>
            </a:prstGeom>
            <a:noFill/>
          </p:spPr>
          <p:txBody>
            <a:bodyPr wrap="square" rtlCol="0">
              <a:spAutoFit/>
            </a:bodyPr>
            <a:lstStyle/>
            <a:p>
              <a:pPr algn="ctr"/>
              <a:r>
                <a:rPr lang="en-US" sz="1100" b="1" dirty="0">
                  <a:latin typeface="Times New Roman" panose="02020603050405020304" pitchFamily="18" charset="0"/>
                  <a:cs typeface="Times New Roman" panose="02020603050405020304" pitchFamily="18" charset="0"/>
                </a:rPr>
                <a:t>MT</a:t>
              </a:r>
            </a:p>
          </p:txBody>
        </p:sp>
        <p:cxnSp>
          <p:nvCxnSpPr>
            <p:cNvPr id="327" name="Connecteur droit avec flèche 20">
              <a:extLst>
                <a:ext uri="{FF2B5EF4-FFF2-40B4-BE49-F238E27FC236}">
                  <a16:creationId xmlns:a16="http://schemas.microsoft.com/office/drawing/2014/main" id="{230FA3FE-B0D5-95CD-F1DC-2CB8D3B49052}"/>
                </a:ext>
              </a:extLst>
            </p:cNvPr>
            <p:cNvCxnSpPr>
              <a:cxnSpLocks/>
            </p:cNvCxnSpPr>
            <p:nvPr/>
          </p:nvCxnSpPr>
          <p:spPr>
            <a:xfrm>
              <a:off x="8455562" y="5584368"/>
              <a:ext cx="2738145" cy="0"/>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8" name="Connecteur droit avec flèche 20">
              <a:extLst>
                <a:ext uri="{FF2B5EF4-FFF2-40B4-BE49-F238E27FC236}">
                  <a16:creationId xmlns:a16="http://schemas.microsoft.com/office/drawing/2014/main" id="{1E424090-3B0F-F81A-E6A7-2FD4EA5996E8}"/>
                </a:ext>
              </a:extLst>
            </p:cNvPr>
            <p:cNvCxnSpPr>
              <a:cxnSpLocks/>
            </p:cNvCxnSpPr>
            <p:nvPr/>
          </p:nvCxnSpPr>
          <p:spPr>
            <a:xfrm>
              <a:off x="8455562" y="5700929"/>
              <a:ext cx="2877524" cy="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9" name="Connecteur droit avec flèche 20">
              <a:extLst>
                <a:ext uri="{FF2B5EF4-FFF2-40B4-BE49-F238E27FC236}">
                  <a16:creationId xmlns:a16="http://schemas.microsoft.com/office/drawing/2014/main" id="{74883D07-F023-B528-AC09-B65396363562}"/>
                </a:ext>
              </a:extLst>
            </p:cNvPr>
            <p:cNvCxnSpPr>
              <a:cxnSpLocks/>
            </p:cNvCxnSpPr>
            <p:nvPr/>
          </p:nvCxnSpPr>
          <p:spPr>
            <a:xfrm>
              <a:off x="8455562" y="5529501"/>
              <a:ext cx="2601048" cy="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0" name="Connecteur droit avec flèche 20">
              <a:extLst>
                <a:ext uri="{FF2B5EF4-FFF2-40B4-BE49-F238E27FC236}">
                  <a16:creationId xmlns:a16="http://schemas.microsoft.com/office/drawing/2014/main" id="{DD58317C-90D7-4DAB-2C76-D1507948D0BE}"/>
                </a:ext>
              </a:extLst>
            </p:cNvPr>
            <p:cNvCxnSpPr>
              <a:cxnSpLocks/>
            </p:cNvCxnSpPr>
            <p:nvPr/>
          </p:nvCxnSpPr>
          <p:spPr>
            <a:xfrm>
              <a:off x="8455562" y="5640534"/>
              <a:ext cx="2795671" cy="0"/>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Connecteur droit avec flèche 20">
              <a:extLst>
                <a:ext uri="{FF2B5EF4-FFF2-40B4-BE49-F238E27FC236}">
                  <a16:creationId xmlns:a16="http://schemas.microsoft.com/office/drawing/2014/main" id="{34B8D56E-1B87-7957-5178-319BC0C105D6}"/>
                </a:ext>
              </a:extLst>
            </p:cNvPr>
            <p:cNvCxnSpPr>
              <a:cxnSpLocks/>
            </p:cNvCxnSpPr>
            <p:nvPr/>
          </p:nvCxnSpPr>
          <p:spPr>
            <a:xfrm flipH="1">
              <a:off x="10399563" y="5863206"/>
              <a:ext cx="633122" cy="0"/>
            </a:xfrm>
            <a:prstGeom prst="straightConnector1">
              <a:avLst/>
            </a:prstGeom>
            <a:ln w="19050">
              <a:solidFill>
                <a:srgbClr val="FF9999"/>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2" name="Connecteur droit avec flèche 20">
              <a:extLst>
                <a:ext uri="{FF2B5EF4-FFF2-40B4-BE49-F238E27FC236}">
                  <a16:creationId xmlns:a16="http://schemas.microsoft.com/office/drawing/2014/main" id="{C2D1DFCF-F7B9-98B1-D216-E8A6CD742FA9}"/>
                </a:ext>
              </a:extLst>
            </p:cNvPr>
            <p:cNvCxnSpPr>
              <a:cxnSpLocks/>
            </p:cNvCxnSpPr>
            <p:nvPr/>
          </p:nvCxnSpPr>
          <p:spPr>
            <a:xfrm flipH="1">
              <a:off x="10398297" y="5781085"/>
              <a:ext cx="599591" cy="0"/>
            </a:xfrm>
            <a:prstGeom prst="straightConnector1">
              <a:avLst/>
            </a:prstGeom>
            <a:ln w="190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3" name="Connecteur droit avec flèche 20">
              <a:extLst>
                <a:ext uri="{FF2B5EF4-FFF2-40B4-BE49-F238E27FC236}">
                  <a16:creationId xmlns:a16="http://schemas.microsoft.com/office/drawing/2014/main" id="{90C785BB-ADFB-DDE7-766B-E9BBBE8D674F}"/>
                </a:ext>
              </a:extLst>
            </p:cNvPr>
            <p:cNvCxnSpPr>
              <a:cxnSpLocks/>
            </p:cNvCxnSpPr>
            <p:nvPr/>
          </p:nvCxnSpPr>
          <p:spPr>
            <a:xfrm flipH="1">
              <a:off x="10376104" y="6204063"/>
              <a:ext cx="999904" cy="3925"/>
            </a:xfrm>
            <a:prstGeom prst="straightConnector1">
              <a:avLst/>
            </a:prstGeom>
            <a:ln w="19050">
              <a:solidFill>
                <a:srgbClr val="6AE0F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4" name="Connecteur droit avec flèche 20">
              <a:extLst>
                <a:ext uri="{FF2B5EF4-FFF2-40B4-BE49-F238E27FC236}">
                  <a16:creationId xmlns:a16="http://schemas.microsoft.com/office/drawing/2014/main" id="{75CF6460-D187-4388-DA5F-D301ACBA3B60}"/>
                </a:ext>
              </a:extLst>
            </p:cNvPr>
            <p:cNvCxnSpPr>
              <a:cxnSpLocks/>
            </p:cNvCxnSpPr>
            <p:nvPr/>
          </p:nvCxnSpPr>
          <p:spPr>
            <a:xfrm flipH="1" flipV="1">
              <a:off x="10376104" y="6118916"/>
              <a:ext cx="807019" cy="5253"/>
            </a:xfrm>
            <a:prstGeom prst="straightConnector1">
              <a:avLst/>
            </a:prstGeom>
            <a:ln w="19050">
              <a:solidFill>
                <a:srgbClr val="3864B2"/>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35" name="ZoneTexte 77">
              <a:extLst>
                <a:ext uri="{FF2B5EF4-FFF2-40B4-BE49-F238E27FC236}">
                  <a16:creationId xmlns:a16="http://schemas.microsoft.com/office/drawing/2014/main" id="{4FC2333A-1F4B-77F9-B170-2A19937539E5}"/>
                </a:ext>
              </a:extLst>
            </p:cNvPr>
            <p:cNvSpPr txBox="1"/>
            <p:nvPr/>
          </p:nvSpPr>
          <p:spPr>
            <a:xfrm>
              <a:off x="10392530" y="6247822"/>
              <a:ext cx="952063" cy="261610"/>
            </a:xfrm>
            <a:prstGeom prst="rect">
              <a:avLst/>
            </a:prstGeom>
            <a:noFill/>
          </p:spPr>
          <p:txBody>
            <a:bodyPr wrap="square" rtlCol="0">
              <a:spAutoFit/>
            </a:bodyPr>
            <a:lstStyle/>
            <a:p>
              <a:pPr algn="ctr"/>
              <a:r>
                <a:rPr lang="en-US" sz="1100" b="1" dirty="0">
                  <a:latin typeface="Times New Roman" panose="02020603050405020304" pitchFamily="18" charset="0"/>
                  <a:cs typeface="Times New Roman" panose="02020603050405020304" pitchFamily="18" charset="0"/>
                </a:rPr>
                <a:t>PMT 300ms</a:t>
              </a:r>
            </a:p>
          </p:txBody>
        </p:sp>
        <p:cxnSp>
          <p:nvCxnSpPr>
            <p:cNvPr id="336" name="Connecteur droit avec flèche 20">
              <a:extLst>
                <a:ext uri="{FF2B5EF4-FFF2-40B4-BE49-F238E27FC236}">
                  <a16:creationId xmlns:a16="http://schemas.microsoft.com/office/drawing/2014/main" id="{EBEDC567-A36C-6655-6CAD-A4DADA9636CD}"/>
                </a:ext>
              </a:extLst>
            </p:cNvPr>
            <p:cNvCxnSpPr>
              <a:cxnSpLocks/>
            </p:cNvCxnSpPr>
            <p:nvPr/>
          </p:nvCxnSpPr>
          <p:spPr>
            <a:xfrm flipH="1">
              <a:off x="11046316" y="5863206"/>
              <a:ext cx="204917" cy="0"/>
            </a:xfrm>
            <a:prstGeom prst="straightConnector1">
              <a:avLst/>
            </a:prstGeom>
            <a:ln w="19050">
              <a:solidFill>
                <a:srgbClr val="FF9999"/>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7" name="Connecteur droit avec flèche 20">
              <a:extLst>
                <a:ext uri="{FF2B5EF4-FFF2-40B4-BE49-F238E27FC236}">
                  <a16:creationId xmlns:a16="http://schemas.microsoft.com/office/drawing/2014/main" id="{077DE3B1-0C76-9BB7-1A99-78EBA55534F2}"/>
                </a:ext>
              </a:extLst>
            </p:cNvPr>
            <p:cNvCxnSpPr>
              <a:cxnSpLocks/>
            </p:cNvCxnSpPr>
            <p:nvPr/>
          </p:nvCxnSpPr>
          <p:spPr>
            <a:xfrm flipH="1">
              <a:off x="10997888" y="5781085"/>
              <a:ext cx="195819" cy="0"/>
            </a:xfrm>
            <a:prstGeom prst="straightConnector1">
              <a:avLst/>
            </a:prstGeom>
            <a:ln w="190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8" name="Connecteur droit avec flèche 20">
              <a:extLst>
                <a:ext uri="{FF2B5EF4-FFF2-40B4-BE49-F238E27FC236}">
                  <a16:creationId xmlns:a16="http://schemas.microsoft.com/office/drawing/2014/main" id="{6022077A-C08C-E1E1-E48C-432277275F99}"/>
                </a:ext>
              </a:extLst>
            </p:cNvPr>
            <p:cNvCxnSpPr>
              <a:cxnSpLocks/>
            </p:cNvCxnSpPr>
            <p:nvPr/>
          </p:nvCxnSpPr>
          <p:spPr>
            <a:xfrm flipH="1">
              <a:off x="11379233" y="6198029"/>
              <a:ext cx="200360" cy="0"/>
            </a:xfrm>
            <a:prstGeom prst="straightConnector1">
              <a:avLst/>
            </a:prstGeom>
            <a:ln w="19050">
              <a:solidFill>
                <a:srgbClr val="6AE0F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9" name="Connecteur droit avec flèche 20">
              <a:extLst>
                <a:ext uri="{FF2B5EF4-FFF2-40B4-BE49-F238E27FC236}">
                  <a16:creationId xmlns:a16="http://schemas.microsoft.com/office/drawing/2014/main" id="{CA448EAF-CD9E-B752-7D79-E1ACCB9414FE}"/>
                </a:ext>
              </a:extLst>
            </p:cNvPr>
            <p:cNvCxnSpPr>
              <a:cxnSpLocks/>
            </p:cNvCxnSpPr>
            <p:nvPr/>
          </p:nvCxnSpPr>
          <p:spPr>
            <a:xfrm flipH="1">
              <a:off x="11193086" y="6118916"/>
              <a:ext cx="186147" cy="0"/>
            </a:xfrm>
            <a:prstGeom prst="straightConnector1">
              <a:avLst/>
            </a:prstGeom>
            <a:ln w="19050">
              <a:solidFill>
                <a:srgbClr val="3864B2"/>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40" name="Connecteur droit avec flèche 20">
              <a:extLst>
                <a:ext uri="{FF2B5EF4-FFF2-40B4-BE49-F238E27FC236}">
                  <a16:creationId xmlns:a16="http://schemas.microsoft.com/office/drawing/2014/main" id="{2503855D-3B3F-86B1-B207-4250ED8DCB7A}"/>
                </a:ext>
              </a:extLst>
            </p:cNvPr>
            <p:cNvCxnSpPr>
              <a:cxnSpLocks/>
            </p:cNvCxnSpPr>
            <p:nvPr/>
          </p:nvCxnSpPr>
          <p:spPr>
            <a:xfrm flipV="1">
              <a:off x="11344226" y="5305350"/>
              <a:ext cx="182976" cy="36810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Connecteur droit avec flèche 20">
              <a:extLst>
                <a:ext uri="{FF2B5EF4-FFF2-40B4-BE49-F238E27FC236}">
                  <a16:creationId xmlns:a16="http://schemas.microsoft.com/office/drawing/2014/main" id="{2CCE4572-2620-370A-2CD4-AC7AC34E4A6E}"/>
                </a:ext>
              </a:extLst>
            </p:cNvPr>
            <p:cNvCxnSpPr>
              <a:cxnSpLocks/>
            </p:cNvCxnSpPr>
            <p:nvPr/>
          </p:nvCxnSpPr>
          <p:spPr>
            <a:xfrm flipV="1">
              <a:off x="11258336" y="5292254"/>
              <a:ext cx="149500" cy="331489"/>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2" name="Connecteur droit avec flèche 20">
              <a:extLst>
                <a:ext uri="{FF2B5EF4-FFF2-40B4-BE49-F238E27FC236}">
                  <a16:creationId xmlns:a16="http://schemas.microsoft.com/office/drawing/2014/main" id="{9E5E22BF-C7EE-F49A-7AAD-CCABDD50136F}"/>
                </a:ext>
              </a:extLst>
            </p:cNvPr>
            <p:cNvCxnSpPr>
              <a:cxnSpLocks/>
            </p:cNvCxnSpPr>
            <p:nvPr/>
          </p:nvCxnSpPr>
          <p:spPr>
            <a:xfrm flipH="1">
              <a:off x="11193707" y="5295156"/>
              <a:ext cx="115052" cy="261404"/>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3" name="Connecteur droit avec flèche 20">
              <a:extLst>
                <a:ext uri="{FF2B5EF4-FFF2-40B4-BE49-F238E27FC236}">
                  <a16:creationId xmlns:a16="http://schemas.microsoft.com/office/drawing/2014/main" id="{C02769D4-2A0B-0B2C-3697-5D2FC08D3543}"/>
                </a:ext>
              </a:extLst>
            </p:cNvPr>
            <p:cNvCxnSpPr>
              <a:cxnSpLocks/>
            </p:cNvCxnSpPr>
            <p:nvPr/>
          </p:nvCxnSpPr>
          <p:spPr>
            <a:xfrm flipH="1">
              <a:off x="11062078" y="5285102"/>
              <a:ext cx="106734" cy="235675"/>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Rectangle 3">
            <a:extLst>
              <a:ext uri="{FF2B5EF4-FFF2-40B4-BE49-F238E27FC236}">
                <a16:creationId xmlns:a16="http://schemas.microsoft.com/office/drawing/2014/main" id="{B468EAA5-48A8-425C-C2E9-7C4153225D07}"/>
              </a:ext>
            </a:extLst>
          </p:cNvPr>
          <p:cNvSpPr>
            <a:spLocks noChangeArrowheads="1"/>
          </p:cNvSpPr>
          <p:nvPr/>
        </p:nvSpPr>
        <p:spPr bwMode="auto">
          <a:xfrm>
            <a:off x="0" y="30289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6" name="TextBox 25">
            <a:extLst>
              <a:ext uri="{FF2B5EF4-FFF2-40B4-BE49-F238E27FC236}">
                <a16:creationId xmlns:a16="http://schemas.microsoft.com/office/drawing/2014/main" id="{F79F80C9-536E-3F81-C74E-AD1FF8A73DF5}"/>
              </a:ext>
            </a:extLst>
          </p:cNvPr>
          <p:cNvSpPr txBox="1"/>
          <p:nvPr/>
        </p:nvSpPr>
        <p:spPr>
          <a:xfrm>
            <a:off x="429071" y="1213991"/>
            <a:ext cx="7072131" cy="1569660"/>
          </a:xfrm>
          <a:prstGeom prst="rect">
            <a:avLst/>
          </a:prstGeom>
          <a:noFill/>
        </p:spPr>
        <p:txBody>
          <a:bodyPr wrap="square">
            <a:spAutoFit/>
          </a:bodyPr>
          <a:lstStyle/>
          <a:p>
            <a:pPr marL="285750" indent="-285750">
              <a:buFont typeface="Arial" panose="020B0604020202020204" pitchFamily="34" charset="0"/>
              <a:buChar char="•"/>
            </a:pPr>
            <a:r>
              <a:rPr lang="en-US" sz="1600" dirty="0"/>
              <a:t>During </a:t>
            </a:r>
            <a:r>
              <a:rPr lang="en-US" sz="1600" b="1" dirty="0"/>
              <a:t>stimulus presentation</a:t>
            </a:r>
            <a:r>
              <a:rPr lang="en-US" sz="1600" dirty="0"/>
              <a:t>, the decision variable is continuously transmitted to motor preparation brain areas (similar to immediate decision reports), but the level of gating inhibition increases to prevent muscle activation.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sp>
        <p:nvSpPr>
          <p:cNvPr id="27" name="TextBox 26">
            <a:extLst>
              <a:ext uri="{FF2B5EF4-FFF2-40B4-BE49-F238E27FC236}">
                <a16:creationId xmlns:a16="http://schemas.microsoft.com/office/drawing/2014/main" id="{BE9FB9DF-E5A5-AE42-D062-833C50748CE5}"/>
              </a:ext>
            </a:extLst>
          </p:cNvPr>
          <p:cNvSpPr txBox="1"/>
          <p:nvPr/>
        </p:nvSpPr>
        <p:spPr>
          <a:xfrm>
            <a:off x="507184" y="348568"/>
            <a:ext cx="10736579" cy="369332"/>
          </a:xfrm>
          <a:prstGeom prst="rect">
            <a:avLst/>
          </a:prstGeom>
          <a:noFill/>
        </p:spPr>
        <p:txBody>
          <a:bodyPr wrap="square">
            <a:spAutoFit/>
          </a:bodyPr>
          <a:lstStyle/>
          <a:p>
            <a:r>
              <a:rPr lang="en-US" b="1" dirty="0"/>
              <a:t>Extension of GCDM to delayed decision reports (response signal tasks)</a:t>
            </a:r>
            <a:endParaRPr lang="en-US" sz="1800" b="1" dirty="0"/>
          </a:p>
        </p:txBody>
      </p:sp>
      <p:grpSp>
        <p:nvGrpSpPr>
          <p:cNvPr id="344" name="Group 62">
            <a:extLst>
              <a:ext uri="{FF2B5EF4-FFF2-40B4-BE49-F238E27FC236}">
                <a16:creationId xmlns:a16="http://schemas.microsoft.com/office/drawing/2014/main" id="{F00F0A7D-5789-A67D-E3B1-21813B820B70}"/>
              </a:ext>
            </a:extLst>
          </p:cNvPr>
          <p:cNvGrpSpPr/>
          <p:nvPr/>
        </p:nvGrpSpPr>
        <p:grpSpPr>
          <a:xfrm>
            <a:off x="8606583" y="565328"/>
            <a:ext cx="2319682" cy="752861"/>
            <a:chOff x="5387303" y="98430"/>
            <a:chExt cx="2319682" cy="752861"/>
          </a:xfrm>
        </p:grpSpPr>
        <p:sp>
          <p:nvSpPr>
            <p:cNvPr id="345" name="Rectangle: Rounded Corners 63">
              <a:extLst>
                <a:ext uri="{FF2B5EF4-FFF2-40B4-BE49-F238E27FC236}">
                  <a16:creationId xmlns:a16="http://schemas.microsoft.com/office/drawing/2014/main" id="{619F9A92-F3CE-0B51-5A17-04134ED397BF}"/>
                </a:ext>
              </a:extLst>
            </p:cNvPr>
            <p:cNvSpPr/>
            <p:nvPr/>
          </p:nvSpPr>
          <p:spPr>
            <a:xfrm>
              <a:off x="5399975" y="100047"/>
              <a:ext cx="2307010" cy="751244"/>
            </a:xfrm>
            <a:prstGeom prst="roundRect">
              <a:avLst>
                <a:gd name="adj" fmla="val 6524"/>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46" name="Group 64">
              <a:extLst>
                <a:ext uri="{FF2B5EF4-FFF2-40B4-BE49-F238E27FC236}">
                  <a16:creationId xmlns:a16="http://schemas.microsoft.com/office/drawing/2014/main" id="{95CEA26C-D026-96A5-530D-C6E959E83218}"/>
                </a:ext>
              </a:extLst>
            </p:cNvPr>
            <p:cNvGrpSpPr/>
            <p:nvPr/>
          </p:nvGrpSpPr>
          <p:grpSpPr>
            <a:xfrm>
              <a:off x="5538545" y="322319"/>
              <a:ext cx="2104240" cy="487202"/>
              <a:chOff x="5798404" y="-628878"/>
              <a:chExt cx="2104240" cy="487202"/>
            </a:xfrm>
          </p:grpSpPr>
          <p:cxnSp>
            <p:nvCxnSpPr>
              <p:cNvPr id="348" name="Connecteur droit avec flèche 20">
                <a:extLst>
                  <a:ext uri="{FF2B5EF4-FFF2-40B4-BE49-F238E27FC236}">
                    <a16:creationId xmlns:a16="http://schemas.microsoft.com/office/drawing/2014/main" id="{A60B0B6B-18D9-0B1A-9F5B-72A5A4B740B9}"/>
                  </a:ext>
                </a:extLst>
              </p:cNvPr>
              <p:cNvCxnSpPr>
                <a:cxnSpLocks/>
              </p:cNvCxnSpPr>
              <p:nvPr/>
            </p:nvCxnSpPr>
            <p:spPr>
              <a:xfrm>
                <a:off x="5807920" y="-294108"/>
                <a:ext cx="180000" cy="0"/>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9" name="Connecteur droit avec flèche 20">
                <a:extLst>
                  <a:ext uri="{FF2B5EF4-FFF2-40B4-BE49-F238E27FC236}">
                    <a16:creationId xmlns:a16="http://schemas.microsoft.com/office/drawing/2014/main" id="{A83D4AAC-A585-1A9F-9026-EA597B1350EF}"/>
                  </a:ext>
                </a:extLst>
              </p:cNvPr>
              <p:cNvCxnSpPr>
                <a:cxnSpLocks/>
              </p:cNvCxnSpPr>
              <p:nvPr/>
            </p:nvCxnSpPr>
            <p:spPr>
              <a:xfrm>
                <a:off x="5809810" y="-211082"/>
                <a:ext cx="180000" cy="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0" name="Connecteur droit avec flèche 20">
                <a:extLst>
                  <a:ext uri="{FF2B5EF4-FFF2-40B4-BE49-F238E27FC236}">
                    <a16:creationId xmlns:a16="http://schemas.microsoft.com/office/drawing/2014/main" id="{82934416-6288-84BE-3162-FE5DA44C77C7}"/>
                  </a:ext>
                </a:extLst>
              </p:cNvPr>
              <p:cNvCxnSpPr>
                <a:cxnSpLocks/>
              </p:cNvCxnSpPr>
              <p:nvPr/>
            </p:nvCxnSpPr>
            <p:spPr>
              <a:xfrm>
                <a:off x="5800196" y="-542906"/>
                <a:ext cx="187724" cy="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1" name="Connecteur droit avec flèche 20">
                <a:extLst>
                  <a:ext uri="{FF2B5EF4-FFF2-40B4-BE49-F238E27FC236}">
                    <a16:creationId xmlns:a16="http://schemas.microsoft.com/office/drawing/2014/main" id="{7A7EEDA4-9B77-7F6D-285A-2369DA4B78BD}"/>
                  </a:ext>
                </a:extLst>
              </p:cNvPr>
              <p:cNvCxnSpPr>
                <a:cxnSpLocks/>
              </p:cNvCxnSpPr>
              <p:nvPr/>
            </p:nvCxnSpPr>
            <p:spPr>
              <a:xfrm>
                <a:off x="5798404" y="-467593"/>
                <a:ext cx="185037" cy="0"/>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2" name="TextBox 70">
                <a:extLst>
                  <a:ext uri="{FF2B5EF4-FFF2-40B4-BE49-F238E27FC236}">
                    <a16:creationId xmlns:a16="http://schemas.microsoft.com/office/drawing/2014/main" id="{E4724260-FFAA-1267-ECE6-F96200B4ADE1}"/>
                  </a:ext>
                </a:extLst>
              </p:cNvPr>
              <p:cNvSpPr txBox="1"/>
              <p:nvPr/>
            </p:nvSpPr>
            <p:spPr>
              <a:xfrm>
                <a:off x="6010479" y="-628878"/>
                <a:ext cx="350192"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2s</a:t>
                </a:r>
              </a:p>
            </p:txBody>
          </p:sp>
          <p:sp>
            <p:nvSpPr>
              <p:cNvPr id="353" name="TextBox 71">
                <a:extLst>
                  <a:ext uri="{FF2B5EF4-FFF2-40B4-BE49-F238E27FC236}">
                    <a16:creationId xmlns:a16="http://schemas.microsoft.com/office/drawing/2014/main" id="{77650B52-EC7A-C5BF-667A-953CEC625AB8}"/>
                  </a:ext>
                </a:extLst>
              </p:cNvPr>
              <p:cNvSpPr txBox="1"/>
              <p:nvPr/>
            </p:nvSpPr>
            <p:spPr>
              <a:xfrm>
                <a:off x="5998056" y="-387897"/>
                <a:ext cx="640531"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300 ms</a:t>
                </a:r>
              </a:p>
            </p:txBody>
          </p:sp>
          <p:sp>
            <p:nvSpPr>
              <p:cNvPr id="354" name="TextBox 72">
                <a:extLst>
                  <a:ext uri="{FF2B5EF4-FFF2-40B4-BE49-F238E27FC236}">
                    <a16:creationId xmlns:a16="http://schemas.microsoft.com/office/drawing/2014/main" id="{79D6EA65-844A-F7FC-8D90-6B84A1C91D87}"/>
                  </a:ext>
                </a:extLst>
              </p:cNvPr>
              <p:cNvSpPr txBox="1"/>
              <p:nvPr/>
            </p:nvSpPr>
            <p:spPr>
              <a:xfrm>
                <a:off x="6880207" y="-596578"/>
                <a:ext cx="1022437"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High coherence</a:t>
                </a:r>
              </a:p>
            </p:txBody>
          </p:sp>
          <p:sp>
            <p:nvSpPr>
              <p:cNvPr id="355" name="TextBox 73">
                <a:extLst>
                  <a:ext uri="{FF2B5EF4-FFF2-40B4-BE49-F238E27FC236}">
                    <a16:creationId xmlns:a16="http://schemas.microsoft.com/office/drawing/2014/main" id="{E3FE2D9F-7179-3CE5-2E5B-91F3D5269FD2}"/>
                  </a:ext>
                </a:extLst>
              </p:cNvPr>
              <p:cNvSpPr txBox="1"/>
              <p:nvPr/>
            </p:nvSpPr>
            <p:spPr>
              <a:xfrm>
                <a:off x="6884745" y="-391563"/>
                <a:ext cx="1001399"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Low coherence</a:t>
                </a:r>
              </a:p>
            </p:txBody>
          </p:sp>
          <p:cxnSp>
            <p:nvCxnSpPr>
              <p:cNvPr id="356" name="Connecteur droit avec flèche 20">
                <a:extLst>
                  <a:ext uri="{FF2B5EF4-FFF2-40B4-BE49-F238E27FC236}">
                    <a16:creationId xmlns:a16="http://schemas.microsoft.com/office/drawing/2014/main" id="{FDA22D7B-1571-6343-8BAD-718E2BC51C41}"/>
                  </a:ext>
                </a:extLst>
              </p:cNvPr>
              <p:cNvCxnSpPr>
                <a:cxnSpLocks/>
              </p:cNvCxnSpPr>
              <p:nvPr/>
            </p:nvCxnSpPr>
            <p:spPr>
              <a:xfrm>
                <a:off x="6695633" y="-475961"/>
                <a:ext cx="187724" cy="0"/>
              </a:xfrm>
              <a:prstGeom prst="straightConnector1">
                <a:avLst/>
              </a:prstGeom>
              <a:ln w="5715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7" name="Connecteur droit avec flèche 20">
                <a:extLst>
                  <a:ext uri="{FF2B5EF4-FFF2-40B4-BE49-F238E27FC236}">
                    <a16:creationId xmlns:a16="http://schemas.microsoft.com/office/drawing/2014/main" id="{2D5594F0-662A-9106-7CB7-4DFAD3B36ED8}"/>
                  </a:ext>
                </a:extLst>
              </p:cNvPr>
              <p:cNvCxnSpPr>
                <a:cxnSpLocks/>
              </p:cNvCxnSpPr>
              <p:nvPr/>
            </p:nvCxnSpPr>
            <p:spPr>
              <a:xfrm>
                <a:off x="6698320" y="-264800"/>
                <a:ext cx="185037" cy="0"/>
              </a:xfrm>
              <a:prstGeom prst="straightConnector1">
                <a:avLst/>
              </a:prstGeom>
              <a:ln w="57150" cap="rnd">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47" name="TextBox 65">
              <a:extLst>
                <a:ext uri="{FF2B5EF4-FFF2-40B4-BE49-F238E27FC236}">
                  <a16:creationId xmlns:a16="http://schemas.microsoft.com/office/drawing/2014/main" id="{8833A654-7A80-835F-2152-9AF0E41D9894}"/>
                </a:ext>
              </a:extLst>
            </p:cNvPr>
            <p:cNvSpPr txBox="1"/>
            <p:nvPr/>
          </p:nvSpPr>
          <p:spPr>
            <a:xfrm>
              <a:off x="5387303" y="98430"/>
              <a:ext cx="2312457" cy="276999"/>
            </a:xfrm>
            <a:prstGeom prst="rect">
              <a:avLst/>
            </a:prstGeom>
            <a:noFill/>
          </p:spPr>
          <p:txBody>
            <a:bodyPr wrap="square">
              <a:spAutoFit/>
            </a:bodyPr>
            <a:lstStyle/>
            <a:p>
              <a:pPr algn="ctr"/>
              <a:r>
                <a:rPr lang="fr-FR" sz="1150" b="1" dirty="0">
                  <a:latin typeface="Times New Roman" panose="02020603050405020304" pitchFamily="18" charset="0"/>
                  <a:cs typeface="Times New Roman" panose="02020603050405020304" pitchFamily="18" charset="0"/>
                </a:rPr>
                <a:t>Stimulus duration and coherence</a:t>
              </a:r>
            </a:p>
          </p:txBody>
        </p:sp>
      </p:grpSp>
      <p:sp>
        <p:nvSpPr>
          <p:cNvPr id="358" name="Rectangle 357">
            <a:extLst>
              <a:ext uri="{FF2B5EF4-FFF2-40B4-BE49-F238E27FC236}">
                <a16:creationId xmlns:a16="http://schemas.microsoft.com/office/drawing/2014/main" id="{6B6C6F2E-7D19-1E42-EB36-F1E9F037287F}"/>
              </a:ext>
            </a:extLst>
          </p:cNvPr>
          <p:cNvSpPr/>
          <p:nvPr/>
        </p:nvSpPr>
        <p:spPr>
          <a:xfrm>
            <a:off x="9275269" y="2056513"/>
            <a:ext cx="2809194" cy="46401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9" name="Rectangle 358">
            <a:extLst>
              <a:ext uri="{FF2B5EF4-FFF2-40B4-BE49-F238E27FC236}">
                <a16:creationId xmlns:a16="http://schemas.microsoft.com/office/drawing/2014/main" id="{B22D4A75-C468-4756-89F1-172951BA06B5}"/>
              </a:ext>
            </a:extLst>
          </p:cNvPr>
          <p:cNvSpPr/>
          <p:nvPr/>
        </p:nvSpPr>
        <p:spPr>
          <a:xfrm>
            <a:off x="10019822" y="1642696"/>
            <a:ext cx="1964227" cy="3771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002110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DF18A-5D93-EE35-D50F-6ABBC8345BE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D67F721E-F6A4-DCF5-7B86-7F2DBD23EACA}"/>
              </a:ext>
            </a:extLst>
          </p:cNvPr>
          <p:cNvSpPr>
            <a:spLocks noChangeArrowheads="1"/>
          </p:cNvSpPr>
          <p:nvPr/>
        </p:nvSpPr>
        <p:spPr bwMode="auto">
          <a:xfrm>
            <a:off x="0" y="30289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6" name="TextBox 25">
            <a:extLst>
              <a:ext uri="{FF2B5EF4-FFF2-40B4-BE49-F238E27FC236}">
                <a16:creationId xmlns:a16="http://schemas.microsoft.com/office/drawing/2014/main" id="{BD9A7520-6BB9-D15C-9FC5-45844492F100}"/>
              </a:ext>
            </a:extLst>
          </p:cNvPr>
          <p:cNvSpPr txBox="1"/>
          <p:nvPr/>
        </p:nvSpPr>
        <p:spPr>
          <a:xfrm>
            <a:off x="429071" y="1213991"/>
            <a:ext cx="7072131" cy="4154984"/>
          </a:xfrm>
          <a:prstGeom prst="rect">
            <a:avLst/>
          </a:prstGeom>
          <a:noFill/>
        </p:spPr>
        <p:txBody>
          <a:bodyPr wrap="square">
            <a:spAutoFit/>
          </a:bodyPr>
          <a:lstStyle/>
          <a:p>
            <a:pPr marL="285750" indent="-285750">
              <a:buFont typeface="Arial" panose="020B0604020202020204" pitchFamily="34" charset="0"/>
              <a:buChar char="•"/>
            </a:pPr>
            <a:r>
              <a:rPr lang="en-US" sz="1600" dirty="0"/>
              <a:t>During </a:t>
            </a:r>
            <a:r>
              <a:rPr lang="en-US" sz="1600" b="1" dirty="0"/>
              <a:t>stimulus presentation</a:t>
            </a:r>
            <a:r>
              <a:rPr lang="en-US" sz="1600" dirty="0"/>
              <a:t>, the decision variable is  continuously transmitted to motor preparation brain areas (similar to immediate decision reports), but the level of gating inhibition increases to prevent muscle activation.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During the </a:t>
            </a:r>
            <a:r>
              <a:rPr lang="en-US" sz="1600" b="1" dirty="0"/>
              <a:t>delay</a:t>
            </a:r>
            <a:r>
              <a:rPr lang="en-US" sz="1600" dirty="0"/>
              <a:t>, the motor preparation variable transitions </a:t>
            </a:r>
            <a:r>
              <a:rPr lang="en-US" sz="1600" dirty="0">
                <a:effectLst/>
                <a:latin typeface="Times New Roman" panose="02020603050405020304" pitchFamily="18" charset="0"/>
                <a:ea typeface="Calibri" panose="020F0502020204030204" pitchFamily="34" charset="0"/>
              </a:rPr>
              <a:t>to sustained activity after hitting a threshold to achieve the short-term maintenance of the selected choice. </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average level of sustained activity decreases as stimulus duration decreases, due a mixture of terminated and non-terminated processes (Ratcliff, 2006).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For the same reason, the average level of sustained activity also decreases as the quality of sensory evidence decreases. </a:t>
            </a:r>
            <a:r>
              <a:rPr lang="en-US" sz="1200" dirty="0"/>
              <a:t>A short post-threshold accumulation period (Mazurek et al., 2003) or a threshold that decreases as processing time increases (</a:t>
            </a:r>
            <a:r>
              <a:rPr lang="en-US" sz="1200" dirty="0" err="1"/>
              <a:t>Drugowitsch</a:t>
            </a:r>
            <a:r>
              <a:rPr lang="en-US" sz="1200" dirty="0"/>
              <a:t> et al., 2012) may also contribute to this phenomenon.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sp>
        <p:nvSpPr>
          <p:cNvPr id="27" name="TextBox 26">
            <a:extLst>
              <a:ext uri="{FF2B5EF4-FFF2-40B4-BE49-F238E27FC236}">
                <a16:creationId xmlns:a16="http://schemas.microsoft.com/office/drawing/2014/main" id="{66DECCF3-BC11-290E-8FE0-B1408056D0F7}"/>
              </a:ext>
            </a:extLst>
          </p:cNvPr>
          <p:cNvSpPr txBox="1"/>
          <p:nvPr/>
        </p:nvSpPr>
        <p:spPr>
          <a:xfrm>
            <a:off x="507184" y="348568"/>
            <a:ext cx="10736579" cy="369332"/>
          </a:xfrm>
          <a:prstGeom prst="rect">
            <a:avLst/>
          </a:prstGeom>
          <a:noFill/>
        </p:spPr>
        <p:txBody>
          <a:bodyPr wrap="square">
            <a:spAutoFit/>
          </a:bodyPr>
          <a:lstStyle/>
          <a:p>
            <a:r>
              <a:rPr lang="en-US" b="1" dirty="0"/>
              <a:t>Extension of GCDM to delayed decision reports (response signal tasks)</a:t>
            </a:r>
            <a:endParaRPr lang="en-US" sz="1800" b="1" dirty="0"/>
          </a:p>
        </p:txBody>
      </p:sp>
      <p:sp>
        <p:nvSpPr>
          <p:cNvPr id="4" name="Rectangle 3">
            <a:extLst>
              <a:ext uri="{FF2B5EF4-FFF2-40B4-BE49-F238E27FC236}">
                <a16:creationId xmlns:a16="http://schemas.microsoft.com/office/drawing/2014/main" id="{D71352AF-004A-E842-2FCB-7532E969AA06}"/>
              </a:ext>
            </a:extLst>
          </p:cNvPr>
          <p:cNvSpPr/>
          <p:nvPr/>
        </p:nvSpPr>
        <p:spPr>
          <a:xfrm>
            <a:off x="10545244" y="2103843"/>
            <a:ext cx="1176208" cy="39403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8F1EBD71-EB60-00E9-F661-DF1C6422C3E2}"/>
              </a:ext>
            </a:extLst>
          </p:cNvPr>
          <p:cNvSpPr/>
          <p:nvPr/>
        </p:nvSpPr>
        <p:spPr>
          <a:xfrm>
            <a:off x="10814162" y="1727924"/>
            <a:ext cx="1289318" cy="5117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Group 9">
            <a:extLst>
              <a:ext uri="{FF2B5EF4-FFF2-40B4-BE49-F238E27FC236}">
                <a16:creationId xmlns:a16="http://schemas.microsoft.com/office/drawing/2014/main" id="{00745678-ED7B-E027-7C25-2AF50E1B0F0D}"/>
              </a:ext>
            </a:extLst>
          </p:cNvPr>
          <p:cNvGrpSpPr/>
          <p:nvPr/>
        </p:nvGrpSpPr>
        <p:grpSpPr>
          <a:xfrm>
            <a:off x="7589722" y="1594848"/>
            <a:ext cx="4377928" cy="4914584"/>
            <a:chOff x="7647932" y="1594848"/>
            <a:chExt cx="4377928" cy="4914584"/>
          </a:xfrm>
        </p:grpSpPr>
        <p:sp>
          <p:nvSpPr>
            <p:cNvPr id="11" name="Rectangle 10">
              <a:extLst>
                <a:ext uri="{FF2B5EF4-FFF2-40B4-BE49-F238E27FC236}">
                  <a16:creationId xmlns:a16="http://schemas.microsoft.com/office/drawing/2014/main" id="{1DA1DBD4-CD93-6A00-1FAC-22BA21A5E125}"/>
                </a:ext>
              </a:extLst>
            </p:cNvPr>
            <p:cNvSpPr/>
            <p:nvPr/>
          </p:nvSpPr>
          <p:spPr>
            <a:xfrm>
              <a:off x="8075931" y="4832084"/>
              <a:ext cx="3604339" cy="1139214"/>
            </a:xfrm>
            <a:prstGeom prst="rect">
              <a:avLst/>
            </a:prstGeom>
            <a:solidFill>
              <a:srgbClr val="F9F9F9"/>
            </a:solidFill>
            <a:ln>
              <a:solidFill>
                <a:srgbClr val="F9F9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D1ED1AA2-3244-B9B0-BF7A-C328297E6042}"/>
                </a:ext>
              </a:extLst>
            </p:cNvPr>
            <p:cNvSpPr/>
            <p:nvPr/>
          </p:nvSpPr>
          <p:spPr>
            <a:xfrm>
              <a:off x="8040457" y="2176141"/>
              <a:ext cx="3651130" cy="2365439"/>
            </a:xfrm>
            <a:prstGeom prst="rect">
              <a:avLst/>
            </a:prstGeom>
            <a:solidFill>
              <a:srgbClr val="F9F9F9"/>
            </a:solidFill>
            <a:ln>
              <a:solidFill>
                <a:srgbClr val="F9F9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3" name="Connecteur droit avec flèche 20">
              <a:extLst>
                <a:ext uri="{FF2B5EF4-FFF2-40B4-BE49-F238E27FC236}">
                  <a16:creationId xmlns:a16="http://schemas.microsoft.com/office/drawing/2014/main" id="{A69353D6-CABB-66B2-816F-B64FBDF668CC}"/>
                </a:ext>
              </a:extLst>
            </p:cNvPr>
            <p:cNvCxnSpPr>
              <a:cxnSpLocks/>
            </p:cNvCxnSpPr>
            <p:nvPr/>
          </p:nvCxnSpPr>
          <p:spPr>
            <a:xfrm>
              <a:off x="8747206" y="3326429"/>
              <a:ext cx="2105853" cy="0"/>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necteur droit avec flèche 20">
              <a:extLst>
                <a:ext uri="{FF2B5EF4-FFF2-40B4-BE49-F238E27FC236}">
                  <a16:creationId xmlns:a16="http://schemas.microsoft.com/office/drawing/2014/main" id="{86FD26CD-8569-0290-5F26-A486B164C836}"/>
                </a:ext>
              </a:extLst>
            </p:cNvPr>
            <p:cNvCxnSpPr>
              <a:cxnSpLocks/>
            </p:cNvCxnSpPr>
            <p:nvPr/>
          </p:nvCxnSpPr>
          <p:spPr>
            <a:xfrm>
              <a:off x="8908951" y="2974786"/>
              <a:ext cx="1893332" cy="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Connecteur droit avec flèche 20">
              <a:extLst>
                <a:ext uri="{FF2B5EF4-FFF2-40B4-BE49-F238E27FC236}">
                  <a16:creationId xmlns:a16="http://schemas.microsoft.com/office/drawing/2014/main" id="{673AADA1-9B7B-FDE7-97CC-3B7F57D74619}"/>
                </a:ext>
              </a:extLst>
            </p:cNvPr>
            <p:cNvCxnSpPr>
              <a:cxnSpLocks/>
            </p:cNvCxnSpPr>
            <p:nvPr/>
          </p:nvCxnSpPr>
          <p:spPr>
            <a:xfrm>
              <a:off x="9095950" y="3253748"/>
              <a:ext cx="1706333" cy="0"/>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Connecteur droit avec flèche 20">
              <a:extLst>
                <a:ext uri="{FF2B5EF4-FFF2-40B4-BE49-F238E27FC236}">
                  <a16:creationId xmlns:a16="http://schemas.microsoft.com/office/drawing/2014/main" id="{9247937E-3EEA-8C83-D26C-B7183F5A965D}"/>
                </a:ext>
              </a:extLst>
            </p:cNvPr>
            <p:cNvCxnSpPr>
              <a:cxnSpLocks/>
            </p:cNvCxnSpPr>
            <p:nvPr/>
          </p:nvCxnSpPr>
          <p:spPr>
            <a:xfrm flipV="1">
              <a:off x="8400324" y="3270178"/>
              <a:ext cx="677314" cy="575636"/>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necteur droit avec flèche 20">
              <a:extLst>
                <a:ext uri="{FF2B5EF4-FFF2-40B4-BE49-F238E27FC236}">
                  <a16:creationId xmlns:a16="http://schemas.microsoft.com/office/drawing/2014/main" id="{5BEBFBE1-773F-6AE5-7FAF-A1AF9B767E14}"/>
                </a:ext>
              </a:extLst>
            </p:cNvPr>
            <p:cNvCxnSpPr>
              <a:cxnSpLocks/>
            </p:cNvCxnSpPr>
            <p:nvPr/>
          </p:nvCxnSpPr>
          <p:spPr>
            <a:xfrm flipV="1">
              <a:off x="8400248" y="2974786"/>
              <a:ext cx="508703" cy="87760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Connecteur droit avec flèche 20">
              <a:extLst>
                <a:ext uri="{FF2B5EF4-FFF2-40B4-BE49-F238E27FC236}">
                  <a16:creationId xmlns:a16="http://schemas.microsoft.com/office/drawing/2014/main" id="{7E5A9FAE-BA35-141B-1AD0-10496D850EED}"/>
                </a:ext>
              </a:extLst>
            </p:cNvPr>
            <p:cNvCxnSpPr>
              <a:cxnSpLocks/>
            </p:cNvCxnSpPr>
            <p:nvPr/>
          </p:nvCxnSpPr>
          <p:spPr>
            <a:xfrm flipV="1">
              <a:off x="8442226" y="3585533"/>
              <a:ext cx="349503" cy="293747"/>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Connecteur droit avec flèche 20">
              <a:extLst>
                <a:ext uri="{FF2B5EF4-FFF2-40B4-BE49-F238E27FC236}">
                  <a16:creationId xmlns:a16="http://schemas.microsoft.com/office/drawing/2014/main" id="{FDB829A9-80B4-9005-61E6-45851CE0C887}"/>
                </a:ext>
              </a:extLst>
            </p:cNvPr>
            <p:cNvCxnSpPr>
              <a:cxnSpLocks/>
            </p:cNvCxnSpPr>
            <p:nvPr/>
          </p:nvCxnSpPr>
          <p:spPr>
            <a:xfrm>
              <a:off x="8791729" y="3579955"/>
              <a:ext cx="2020399" cy="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Connecteur droit avec flèche 20">
              <a:extLst>
                <a:ext uri="{FF2B5EF4-FFF2-40B4-BE49-F238E27FC236}">
                  <a16:creationId xmlns:a16="http://schemas.microsoft.com/office/drawing/2014/main" id="{558FDD12-CE96-A3C2-096A-0ED777AB1A52}"/>
                </a:ext>
              </a:extLst>
            </p:cNvPr>
            <p:cNvCxnSpPr>
              <a:cxnSpLocks/>
            </p:cNvCxnSpPr>
            <p:nvPr/>
          </p:nvCxnSpPr>
          <p:spPr>
            <a:xfrm flipV="1">
              <a:off x="8442226" y="3326429"/>
              <a:ext cx="304980" cy="519385"/>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FB64D7C-B364-3F1D-179D-6811C807BBCE}"/>
                </a:ext>
              </a:extLst>
            </p:cNvPr>
            <p:cNvCxnSpPr/>
            <p:nvPr/>
          </p:nvCxnSpPr>
          <p:spPr>
            <a:xfrm>
              <a:off x="9302255" y="2059793"/>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C4BAA99-B107-6628-B721-9876B4D4C271}"/>
                </a:ext>
              </a:extLst>
            </p:cNvPr>
            <p:cNvCxnSpPr/>
            <p:nvPr/>
          </p:nvCxnSpPr>
          <p:spPr>
            <a:xfrm>
              <a:off x="8045105" y="2059793"/>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DFF8E4E3-E432-E7C2-4099-FEFBAF97563C}"/>
                </a:ext>
              </a:extLst>
            </p:cNvPr>
            <p:cNvCxnSpPr/>
            <p:nvPr/>
          </p:nvCxnSpPr>
          <p:spPr>
            <a:xfrm>
              <a:off x="10384883" y="2059793"/>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F913E4D-D834-FB46-AB66-5368E59C53A0}"/>
                </a:ext>
              </a:extLst>
            </p:cNvPr>
            <p:cNvCxnSpPr/>
            <p:nvPr/>
          </p:nvCxnSpPr>
          <p:spPr>
            <a:xfrm>
              <a:off x="11685928" y="2057841"/>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necteur droit avec flèche 20">
              <a:extLst>
                <a:ext uri="{FF2B5EF4-FFF2-40B4-BE49-F238E27FC236}">
                  <a16:creationId xmlns:a16="http://schemas.microsoft.com/office/drawing/2014/main" id="{E1F0FF7B-35E0-51ED-1DED-42DE4D6D8FC2}"/>
                </a:ext>
              </a:extLst>
            </p:cNvPr>
            <p:cNvCxnSpPr>
              <a:cxnSpLocks/>
            </p:cNvCxnSpPr>
            <p:nvPr/>
          </p:nvCxnSpPr>
          <p:spPr>
            <a:xfrm flipV="1">
              <a:off x="10802283" y="2472171"/>
              <a:ext cx="254327" cy="502615"/>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Connecteur droit avec flèche 20">
              <a:extLst>
                <a:ext uri="{FF2B5EF4-FFF2-40B4-BE49-F238E27FC236}">
                  <a16:creationId xmlns:a16="http://schemas.microsoft.com/office/drawing/2014/main" id="{0F538E98-3F6B-5B90-C093-905D5A5660E2}"/>
                </a:ext>
              </a:extLst>
            </p:cNvPr>
            <p:cNvCxnSpPr>
              <a:cxnSpLocks/>
            </p:cNvCxnSpPr>
            <p:nvPr/>
          </p:nvCxnSpPr>
          <p:spPr>
            <a:xfrm flipV="1">
              <a:off x="10817262" y="2489894"/>
              <a:ext cx="365861" cy="763854"/>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Connecteur droit avec flèche 20">
              <a:extLst>
                <a:ext uri="{FF2B5EF4-FFF2-40B4-BE49-F238E27FC236}">
                  <a16:creationId xmlns:a16="http://schemas.microsoft.com/office/drawing/2014/main" id="{0886A514-094F-B0F1-DB9E-C918C47CAC2A}"/>
                </a:ext>
              </a:extLst>
            </p:cNvPr>
            <p:cNvCxnSpPr>
              <a:cxnSpLocks/>
            </p:cNvCxnSpPr>
            <p:nvPr/>
          </p:nvCxnSpPr>
          <p:spPr>
            <a:xfrm flipV="1">
              <a:off x="10853059" y="2489894"/>
              <a:ext cx="414123" cy="836535"/>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Connecteur droit avec flèche 20">
              <a:extLst>
                <a:ext uri="{FF2B5EF4-FFF2-40B4-BE49-F238E27FC236}">
                  <a16:creationId xmlns:a16="http://schemas.microsoft.com/office/drawing/2014/main" id="{795A41C5-375B-0AFE-C811-327FECEB1EBE}"/>
                </a:ext>
              </a:extLst>
            </p:cNvPr>
            <p:cNvCxnSpPr>
              <a:cxnSpLocks/>
            </p:cNvCxnSpPr>
            <p:nvPr/>
          </p:nvCxnSpPr>
          <p:spPr>
            <a:xfrm flipH="1">
              <a:off x="10824720" y="2479130"/>
              <a:ext cx="551288" cy="1090061"/>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5536C42-3DA9-29B3-CD0A-9C0CA2CF61C5}"/>
                </a:ext>
              </a:extLst>
            </p:cNvPr>
            <p:cNvSpPr txBox="1"/>
            <p:nvPr/>
          </p:nvSpPr>
          <p:spPr>
            <a:xfrm>
              <a:off x="7647932" y="1618677"/>
              <a:ext cx="878545" cy="461665"/>
            </a:xfrm>
            <a:prstGeom prst="rect">
              <a:avLst/>
            </a:prstGeom>
            <a:noFill/>
          </p:spPr>
          <p:txBody>
            <a:bodyPr wrap="square">
              <a:spAutoFit/>
            </a:bodyPr>
            <a:lstStyle/>
            <a:p>
              <a:pPr algn="ctr"/>
              <a:r>
                <a:rPr lang="en-US" sz="1200" b="1" dirty="0"/>
                <a:t>Stimulus onset</a:t>
              </a:r>
              <a:endParaRPr lang="fr-FR" sz="1200" b="1" dirty="0"/>
            </a:p>
          </p:txBody>
        </p:sp>
        <p:sp>
          <p:nvSpPr>
            <p:cNvPr id="33" name="TextBox 32">
              <a:extLst>
                <a:ext uri="{FF2B5EF4-FFF2-40B4-BE49-F238E27FC236}">
                  <a16:creationId xmlns:a16="http://schemas.microsoft.com/office/drawing/2014/main" id="{34B39F67-3CC3-5643-8D20-80F9A434F6C4}"/>
                </a:ext>
              </a:extLst>
            </p:cNvPr>
            <p:cNvSpPr txBox="1"/>
            <p:nvPr/>
          </p:nvSpPr>
          <p:spPr>
            <a:xfrm>
              <a:off x="8862982" y="1594848"/>
              <a:ext cx="878545" cy="461665"/>
            </a:xfrm>
            <a:prstGeom prst="rect">
              <a:avLst/>
            </a:prstGeom>
            <a:noFill/>
          </p:spPr>
          <p:txBody>
            <a:bodyPr wrap="square">
              <a:spAutoFit/>
            </a:bodyPr>
            <a:lstStyle/>
            <a:p>
              <a:pPr algn="ctr"/>
              <a:r>
                <a:rPr lang="en-US" sz="1200" b="1" dirty="0"/>
                <a:t>Stimulus offset</a:t>
              </a:r>
              <a:endParaRPr lang="fr-FR" sz="1200" b="1" dirty="0"/>
            </a:p>
          </p:txBody>
        </p:sp>
        <p:sp>
          <p:nvSpPr>
            <p:cNvPr id="34" name="TextBox 33">
              <a:extLst>
                <a:ext uri="{FF2B5EF4-FFF2-40B4-BE49-F238E27FC236}">
                  <a16:creationId xmlns:a16="http://schemas.microsoft.com/office/drawing/2014/main" id="{8FCD98C5-6F98-D9B8-0580-61621EAB95A4}"/>
                </a:ext>
              </a:extLst>
            </p:cNvPr>
            <p:cNvSpPr txBox="1"/>
            <p:nvPr/>
          </p:nvSpPr>
          <p:spPr>
            <a:xfrm>
              <a:off x="9945610" y="1686995"/>
              <a:ext cx="878545" cy="276999"/>
            </a:xfrm>
            <a:prstGeom prst="rect">
              <a:avLst/>
            </a:prstGeom>
            <a:noFill/>
          </p:spPr>
          <p:txBody>
            <a:bodyPr wrap="square">
              <a:spAutoFit/>
            </a:bodyPr>
            <a:lstStyle/>
            <a:p>
              <a:pPr algn="ctr"/>
              <a:r>
                <a:rPr lang="en-US" sz="1200" b="1" dirty="0"/>
                <a:t>RS</a:t>
              </a:r>
              <a:endParaRPr lang="fr-FR" sz="1200" b="1" dirty="0"/>
            </a:p>
          </p:txBody>
        </p:sp>
        <p:sp>
          <p:nvSpPr>
            <p:cNvPr id="35" name="TextBox 34">
              <a:extLst>
                <a:ext uri="{FF2B5EF4-FFF2-40B4-BE49-F238E27FC236}">
                  <a16:creationId xmlns:a16="http://schemas.microsoft.com/office/drawing/2014/main" id="{CA972F36-6110-ACDB-3F05-91D4EF0545B7}"/>
                </a:ext>
              </a:extLst>
            </p:cNvPr>
            <p:cNvSpPr txBox="1"/>
            <p:nvPr/>
          </p:nvSpPr>
          <p:spPr>
            <a:xfrm>
              <a:off x="11147315" y="1686995"/>
              <a:ext cx="878545" cy="276999"/>
            </a:xfrm>
            <a:prstGeom prst="rect">
              <a:avLst/>
            </a:prstGeom>
            <a:noFill/>
          </p:spPr>
          <p:txBody>
            <a:bodyPr wrap="square">
              <a:spAutoFit/>
            </a:bodyPr>
            <a:lstStyle/>
            <a:p>
              <a:pPr algn="ctr"/>
              <a:r>
                <a:rPr lang="en-US" sz="1200" b="1" dirty="0"/>
                <a:t>Response</a:t>
              </a:r>
              <a:endParaRPr lang="fr-FR" sz="1200" b="1" dirty="0"/>
            </a:p>
          </p:txBody>
        </p:sp>
        <p:cxnSp>
          <p:nvCxnSpPr>
            <p:cNvPr id="36" name="Straight Arrow Connector 35">
              <a:extLst>
                <a:ext uri="{FF2B5EF4-FFF2-40B4-BE49-F238E27FC236}">
                  <a16:creationId xmlns:a16="http://schemas.microsoft.com/office/drawing/2014/main" id="{F68B4D0C-4BDE-60FF-74F8-F5895E612D89}"/>
                </a:ext>
              </a:extLst>
            </p:cNvPr>
            <p:cNvCxnSpPr/>
            <p:nvPr/>
          </p:nvCxnSpPr>
          <p:spPr>
            <a:xfrm>
              <a:off x="8075932" y="3982780"/>
              <a:ext cx="366294"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338C6583-6351-BD6F-B5AB-DC43708A1186}"/>
                </a:ext>
              </a:extLst>
            </p:cNvPr>
            <p:cNvCxnSpPr/>
            <p:nvPr/>
          </p:nvCxnSpPr>
          <p:spPr>
            <a:xfrm>
              <a:off x="10384883" y="3728780"/>
              <a:ext cx="366294"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38" name="Straight Connector 37">
              <a:extLst>
                <a:ext uri="{FF2B5EF4-FFF2-40B4-BE49-F238E27FC236}">
                  <a16:creationId xmlns:a16="http://schemas.microsoft.com/office/drawing/2014/main" id="{6F7B0A8C-A752-3DDF-23DA-8C94F8760908}"/>
                </a:ext>
              </a:extLst>
            </p:cNvPr>
            <p:cNvCxnSpPr/>
            <p:nvPr/>
          </p:nvCxnSpPr>
          <p:spPr>
            <a:xfrm>
              <a:off x="8526477" y="2687380"/>
              <a:ext cx="3095587"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CE93E516-AB69-49E7-5B16-A66C5AFEA894}"/>
                </a:ext>
              </a:extLst>
            </p:cNvPr>
            <p:cNvSpPr txBox="1"/>
            <p:nvPr/>
          </p:nvSpPr>
          <p:spPr>
            <a:xfrm>
              <a:off x="8215799" y="2460864"/>
              <a:ext cx="513337" cy="369332"/>
            </a:xfrm>
            <a:prstGeom prst="rect">
              <a:avLst/>
            </a:prstGeom>
            <a:noFill/>
          </p:spPr>
          <p:txBody>
            <a:bodyPr wrap="square">
              <a:spAutoFit/>
            </a:bodyPr>
            <a:lstStyle/>
            <a:p>
              <a:r>
                <a:rPr lang="en-US" sz="1800" i="1" dirty="0">
                  <a:solidFill>
                    <a:srgbClr val="FF0000"/>
                  </a:solidFill>
                </a:rPr>
                <a:t>g</a:t>
              </a:r>
              <a:endParaRPr lang="fr-FR" i="1" dirty="0">
                <a:solidFill>
                  <a:srgbClr val="FF0000"/>
                </a:solidFill>
              </a:endParaRPr>
            </a:p>
          </p:txBody>
        </p:sp>
        <p:cxnSp>
          <p:nvCxnSpPr>
            <p:cNvPr id="40" name="Straight Connector 39">
              <a:extLst>
                <a:ext uri="{FF2B5EF4-FFF2-40B4-BE49-F238E27FC236}">
                  <a16:creationId xmlns:a16="http://schemas.microsoft.com/office/drawing/2014/main" id="{B70382F1-1B82-F1A3-702D-65CA5EA3D605}"/>
                </a:ext>
              </a:extLst>
            </p:cNvPr>
            <p:cNvCxnSpPr>
              <a:cxnSpLocks/>
            </p:cNvCxnSpPr>
            <p:nvPr/>
          </p:nvCxnSpPr>
          <p:spPr>
            <a:xfrm>
              <a:off x="8908951" y="5283947"/>
              <a:ext cx="2725019"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0D46B4A-F4C9-880C-69C4-3B7639DE7138}"/>
                    </a:ext>
                  </a:extLst>
                </p:cNvPr>
                <p:cNvSpPr txBox="1"/>
                <p:nvPr/>
              </p:nvSpPr>
              <p:spPr>
                <a:xfrm>
                  <a:off x="8400249" y="5118068"/>
                  <a:ext cx="564104" cy="276999"/>
                </a:xfrm>
                <a:prstGeom prst="rect">
                  <a:avLst/>
                </a:prstGeom>
                <a:noFill/>
              </p:spPr>
              <p:txBody>
                <a:bodyPr wrap="square">
                  <a:spAutoFit/>
                </a:bodyPr>
                <a:lstStyle/>
                <a:p>
                  <a14:m>
                    <m:oMath xmlns:m="http://schemas.openxmlformats.org/officeDocument/2006/math">
                      <m:r>
                        <a:rPr lang="en-US" sz="1200" i="1" smtClean="0">
                          <a:solidFill>
                            <a:srgbClr val="FF0000"/>
                          </a:solidFill>
                          <a:latin typeface="Cambria Math" panose="02040503050406030204" pitchFamily="18" charset="0"/>
                          <a:ea typeface="Cambria Math" panose="02040503050406030204" pitchFamily="18" charset="0"/>
                        </a:rPr>
                        <m:t>𝜃</m:t>
                      </m:r>
                      <m:r>
                        <a:rPr lang="fr-FR" sz="1200" b="0" i="1" smtClean="0">
                          <a:solidFill>
                            <a:srgbClr val="FF0000"/>
                          </a:solidFill>
                          <a:latin typeface="Cambria Math" panose="02040503050406030204" pitchFamily="18" charset="0"/>
                          <a:ea typeface="Cambria Math" panose="02040503050406030204" pitchFamily="18" charset="0"/>
                        </a:rPr>
                        <m:t> </m:t>
                      </m:r>
                    </m:oMath>
                  </a14:m>
                  <a:r>
                    <a:rPr lang="en-US" sz="1200" i="1" dirty="0">
                      <a:solidFill>
                        <a:srgbClr val="FF0000"/>
                      </a:solidFill>
                    </a:rPr>
                    <a:t>resp</a:t>
                  </a:r>
                  <a:endParaRPr lang="fr-FR" sz="1200" i="1" dirty="0">
                    <a:solidFill>
                      <a:srgbClr val="FF0000"/>
                    </a:solidFill>
                  </a:endParaRPr>
                </a:p>
              </p:txBody>
            </p:sp>
          </mc:Choice>
          <mc:Fallback xmlns="">
            <p:sp>
              <p:nvSpPr>
                <p:cNvPr id="41" name="TextBox 40">
                  <a:extLst>
                    <a:ext uri="{FF2B5EF4-FFF2-40B4-BE49-F238E27FC236}">
                      <a16:creationId xmlns:a16="http://schemas.microsoft.com/office/drawing/2014/main" id="{E0D46B4A-F4C9-880C-69C4-3B7639DE7138}"/>
                    </a:ext>
                  </a:extLst>
                </p:cNvPr>
                <p:cNvSpPr txBox="1">
                  <a:spLocks noRot="1" noChangeAspect="1" noMove="1" noResize="1" noEditPoints="1" noAdjustHandles="1" noChangeArrowheads="1" noChangeShapeType="1" noTextEdit="1"/>
                </p:cNvSpPr>
                <p:nvPr/>
              </p:nvSpPr>
              <p:spPr>
                <a:xfrm>
                  <a:off x="8400249" y="5118068"/>
                  <a:ext cx="564104" cy="276999"/>
                </a:xfrm>
                <a:prstGeom prst="rect">
                  <a:avLst/>
                </a:prstGeom>
                <a:blipFill>
                  <a:blip r:embed="rId2"/>
                  <a:stretch>
                    <a:fillRect t="-2222" r="-1075" b="-17778"/>
                  </a:stretch>
                </a:blipFill>
              </p:spPr>
              <p:txBody>
                <a:bodyPr/>
                <a:lstStyle/>
                <a:p>
                  <a:r>
                    <a:rPr lang="fr-FR">
                      <a:noFill/>
                    </a:rPr>
                    <a:t> </a:t>
                  </a:r>
                </a:p>
              </p:txBody>
            </p:sp>
          </mc:Fallback>
        </mc:AlternateContent>
        <p:sp>
          <p:nvSpPr>
            <p:cNvPr id="42" name="ZoneTexte 77">
              <a:extLst>
                <a:ext uri="{FF2B5EF4-FFF2-40B4-BE49-F238E27FC236}">
                  <a16:creationId xmlns:a16="http://schemas.microsoft.com/office/drawing/2014/main" id="{C31287ED-8C56-66DF-554F-E4C0EE6415DC}"/>
                </a:ext>
              </a:extLst>
            </p:cNvPr>
            <p:cNvSpPr txBox="1"/>
            <p:nvPr/>
          </p:nvSpPr>
          <p:spPr>
            <a:xfrm>
              <a:off x="10425959" y="5851904"/>
              <a:ext cx="654906" cy="261610"/>
            </a:xfrm>
            <a:prstGeom prst="rect">
              <a:avLst/>
            </a:prstGeom>
            <a:noFill/>
          </p:spPr>
          <p:txBody>
            <a:bodyPr wrap="square" rtlCol="0">
              <a:spAutoFit/>
            </a:bodyPr>
            <a:lstStyle/>
            <a:p>
              <a:pPr algn="ctr"/>
              <a:r>
                <a:rPr lang="en-US" sz="1100" b="1" dirty="0">
                  <a:latin typeface="Times New Roman" panose="02020603050405020304" pitchFamily="18" charset="0"/>
                  <a:cs typeface="Times New Roman" panose="02020603050405020304" pitchFamily="18" charset="0"/>
                </a:rPr>
                <a:t>PMT 2s</a:t>
              </a:r>
            </a:p>
          </p:txBody>
        </p:sp>
        <p:sp>
          <p:nvSpPr>
            <p:cNvPr id="43" name="ZoneTexte 77">
              <a:extLst>
                <a:ext uri="{FF2B5EF4-FFF2-40B4-BE49-F238E27FC236}">
                  <a16:creationId xmlns:a16="http://schemas.microsoft.com/office/drawing/2014/main" id="{648B8966-FB0F-5101-4AEA-75D8097EFD77}"/>
                </a:ext>
              </a:extLst>
            </p:cNvPr>
            <p:cNvSpPr txBox="1"/>
            <p:nvPr/>
          </p:nvSpPr>
          <p:spPr>
            <a:xfrm>
              <a:off x="11271655" y="6247822"/>
              <a:ext cx="439470" cy="261610"/>
            </a:xfrm>
            <a:prstGeom prst="rect">
              <a:avLst/>
            </a:prstGeom>
            <a:noFill/>
          </p:spPr>
          <p:txBody>
            <a:bodyPr wrap="square" rtlCol="0">
              <a:spAutoFit/>
            </a:bodyPr>
            <a:lstStyle/>
            <a:p>
              <a:pPr algn="ctr"/>
              <a:r>
                <a:rPr lang="en-US" sz="1100" b="1" dirty="0">
                  <a:latin typeface="Times New Roman" panose="02020603050405020304" pitchFamily="18" charset="0"/>
                  <a:cs typeface="Times New Roman" panose="02020603050405020304" pitchFamily="18" charset="0"/>
                </a:rPr>
                <a:t>MT</a:t>
              </a:r>
            </a:p>
          </p:txBody>
        </p:sp>
        <p:cxnSp>
          <p:nvCxnSpPr>
            <p:cNvPr id="44" name="Connecteur droit avec flèche 20">
              <a:extLst>
                <a:ext uri="{FF2B5EF4-FFF2-40B4-BE49-F238E27FC236}">
                  <a16:creationId xmlns:a16="http://schemas.microsoft.com/office/drawing/2014/main" id="{B623C840-045D-EA81-C883-0B5942A69994}"/>
                </a:ext>
              </a:extLst>
            </p:cNvPr>
            <p:cNvCxnSpPr>
              <a:cxnSpLocks/>
            </p:cNvCxnSpPr>
            <p:nvPr/>
          </p:nvCxnSpPr>
          <p:spPr>
            <a:xfrm>
              <a:off x="8455562" y="5584368"/>
              <a:ext cx="2738145" cy="0"/>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Connecteur droit avec flèche 20">
              <a:extLst>
                <a:ext uri="{FF2B5EF4-FFF2-40B4-BE49-F238E27FC236}">
                  <a16:creationId xmlns:a16="http://schemas.microsoft.com/office/drawing/2014/main" id="{E0D8D7F1-C04C-B795-B36F-CC397CB05DB5}"/>
                </a:ext>
              </a:extLst>
            </p:cNvPr>
            <p:cNvCxnSpPr>
              <a:cxnSpLocks/>
            </p:cNvCxnSpPr>
            <p:nvPr/>
          </p:nvCxnSpPr>
          <p:spPr>
            <a:xfrm>
              <a:off x="8455562" y="5700929"/>
              <a:ext cx="2877524" cy="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Connecteur droit avec flèche 20">
              <a:extLst>
                <a:ext uri="{FF2B5EF4-FFF2-40B4-BE49-F238E27FC236}">
                  <a16:creationId xmlns:a16="http://schemas.microsoft.com/office/drawing/2014/main" id="{368327F8-9DCA-C5BE-9938-E4AFB5DDB212}"/>
                </a:ext>
              </a:extLst>
            </p:cNvPr>
            <p:cNvCxnSpPr>
              <a:cxnSpLocks/>
            </p:cNvCxnSpPr>
            <p:nvPr/>
          </p:nvCxnSpPr>
          <p:spPr>
            <a:xfrm>
              <a:off x="8455562" y="5529501"/>
              <a:ext cx="2601048" cy="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Connecteur droit avec flèche 20">
              <a:extLst>
                <a:ext uri="{FF2B5EF4-FFF2-40B4-BE49-F238E27FC236}">
                  <a16:creationId xmlns:a16="http://schemas.microsoft.com/office/drawing/2014/main" id="{5C94900E-9088-D97A-5FA0-E1BD8DEBA56A}"/>
                </a:ext>
              </a:extLst>
            </p:cNvPr>
            <p:cNvCxnSpPr>
              <a:cxnSpLocks/>
            </p:cNvCxnSpPr>
            <p:nvPr/>
          </p:nvCxnSpPr>
          <p:spPr>
            <a:xfrm>
              <a:off x="8455562" y="5640534"/>
              <a:ext cx="2795671" cy="0"/>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Connecteur droit avec flèche 20">
              <a:extLst>
                <a:ext uri="{FF2B5EF4-FFF2-40B4-BE49-F238E27FC236}">
                  <a16:creationId xmlns:a16="http://schemas.microsoft.com/office/drawing/2014/main" id="{EE5E46BF-925E-AABA-566E-1315BCBF3B2A}"/>
                </a:ext>
              </a:extLst>
            </p:cNvPr>
            <p:cNvCxnSpPr>
              <a:cxnSpLocks/>
            </p:cNvCxnSpPr>
            <p:nvPr/>
          </p:nvCxnSpPr>
          <p:spPr>
            <a:xfrm flipH="1">
              <a:off x="10399563" y="5863206"/>
              <a:ext cx="633122" cy="0"/>
            </a:xfrm>
            <a:prstGeom prst="straightConnector1">
              <a:avLst/>
            </a:prstGeom>
            <a:ln w="19050">
              <a:solidFill>
                <a:srgbClr val="FF9999"/>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20">
              <a:extLst>
                <a:ext uri="{FF2B5EF4-FFF2-40B4-BE49-F238E27FC236}">
                  <a16:creationId xmlns:a16="http://schemas.microsoft.com/office/drawing/2014/main" id="{A58210CE-0519-E775-6327-C1BA40A1688C}"/>
                </a:ext>
              </a:extLst>
            </p:cNvPr>
            <p:cNvCxnSpPr>
              <a:cxnSpLocks/>
            </p:cNvCxnSpPr>
            <p:nvPr/>
          </p:nvCxnSpPr>
          <p:spPr>
            <a:xfrm flipH="1">
              <a:off x="10398297" y="5781085"/>
              <a:ext cx="599591" cy="0"/>
            </a:xfrm>
            <a:prstGeom prst="straightConnector1">
              <a:avLst/>
            </a:prstGeom>
            <a:ln w="190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0" name="Connecteur droit avec flèche 20">
              <a:extLst>
                <a:ext uri="{FF2B5EF4-FFF2-40B4-BE49-F238E27FC236}">
                  <a16:creationId xmlns:a16="http://schemas.microsoft.com/office/drawing/2014/main" id="{27388AC0-AD1A-90EC-4C6B-E59346EFC2FD}"/>
                </a:ext>
              </a:extLst>
            </p:cNvPr>
            <p:cNvCxnSpPr>
              <a:cxnSpLocks/>
            </p:cNvCxnSpPr>
            <p:nvPr/>
          </p:nvCxnSpPr>
          <p:spPr>
            <a:xfrm flipH="1">
              <a:off x="10376104" y="6204063"/>
              <a:ext cx="999904" cy="3925"/>
            </a:xfrm>
            <a:prstGeom prst="straightConnector1">
              <a:avLst/>
            </a:prstGeom>
            <a:ln w="19050">
              <a:solidFill>
                <a:srgbClr val="6AE0F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 name="Connecteur droit avec flèche 20">
              <a:extLst>
                <a:ext uri="{FF2B5EF4-FFF2-40B4-BE49-F238E27FC236}">
                  <a16:creationId xmlns:a16="http://schemas.microsoft.com/office/drawing/2014/main" id="{37D5A87F-AED5-BFAA-28E1-47916737200B}"/>
                </a:ext>
              </a:extLst>
            </p:cNvPr>
            <p:cNvCxnSpPr>
              <a:cxnSpLocks/>
            </p:cNvCxnSpPr>
            <p:nvPr/>
          </p:nvCxnSpPr>
          <p:spPr>
            <a:xfrm flipH="1" flipV="1">
              <a:off x="10376104" y="6118916"/>
              <a:ext cx="807019" cy="5253"/>
            </a:xfrm>
            <a:prstGeom prst="straightConnector1">
              <a:avLst/>
            </a:prstGeom>
            <a:ln w="19050">
              <a:solidFill>
                <a:srgbClr val="3864B2"/>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2" name="ZoneTexte 77">
              <a:extLst>
                <a:ext uri="{FF2B5EF4-FFF2-40B4-BE49-F238E27FC236}">
                  <a16:creationId xmlns:a16="http://schemas.microsoft.com/office/drawing/2014/main" id="{244A4AE7-6303-883C-9F7F-F036E1F86FB4}"/>
                </a:ext>
              </a:extLst>
            </p:cNvPr>
            <p:cNvSpPr txBox="1"/>
            <p:nvPr/>
          </p:nvSpPr>
          <p:spPr>
            <a:xfrm>
              <a:off x="10392530" y="6247822"/>
              <a:ext cx="952063" cy="261610"/>
            </a:xfrm>
            <a:prstGeom prst="rect">
              <a:avLst/>
            </a:prstGeom>
            <a:noFill/>
          </p:spPr>
          <p:txBody>
            <a:bodyPr wrap="square" rtlCol="0">
              <a:spAutoFit/>
            </a:bodyPr>
            <a:lstStyle/>
            <a:p>
              <a:pPr algn="ctr"/>
              <a:r>
                <a:rPr lang="en-US" sz="1100" b="1" dirty="0">
                  <a:latin typeface="Times New Roman" panose="02020603050405020304" pitchFamily="18" charset="0"/>
                  <a:cs typeface="Times New Roman" panose="02020603050405020304" pitchFamily="18" charset="0"/>
                </a:rPr>
                <a:t>PMT 300ms</a:t>
              </a:r>
            </a:p>
          </p:txBody>
        </p:sp>
        <p:cxnSp>
          <p:nvCxnSpPr>
            <p:cNvPr id="53" name="Connecteur droit avec flèche 20">
              <a:extLst>
                <a:ext uri="{FF2B5EF4-FFF2-40B4-BE49-F238E27FC236}">
                  <a16:creationId xmlns:a16="http://schemas.microsoft.com/office/drawing/2014/main" id="{00DA38A9-C647-79B5-A21F-342A69E05AD6}"/>
                </a:ext>
              </a:extLst>
            </p:cNvPr>
            <p:cNvCxnSpPr>
              <a:cxnSpLocks/>
            </p:cNvCxnSpPr>
            <p:nvPr/>
          </p:nvCxnSpPr>
          <p:spPr>
            <a:xfrm flipH="1">
              <a:off x="11046316" y="5863206"/>
              <a:ext cx="204917" cy="0"/>
            </a:xfrm>
            <a:prstGeom prst="straightConnector1">
              <a:avLst/>
            </a:prstGeom>
            <a:ln w="19050">
              <a:solidFill>
                <a:srgbClr val="FF9999"/>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4" name="Connecteur droit avec flèche 20">
              <a:extLst>
                <a:ext uri="{FF2B5EF4-FFF2-40B4-BE49-F238E27FC236}">
                  <a16:creationId xmlns:a16="http://schemas.microsoft.com/office/drawing/2014/main" id="{D2C0C194-3D3A-B0C6-5796-81A1CD3A8CEB}"/>
                </a:ext>
              </a:extLst>
            </p:cNvPr>
            <p:cNvCxnSpPr>
              <a:cxnSpLocks/>
            </p:cNvCxnSpPr>
            <p:nvPr/>
          </p:nvCxnSpPr>
          <p:spPr>
            <a:xfrm flipH="1">
              <a:off x="10997888" y="5781085"/>
              <a:ext cx="195819" cy="0"/>
            </a:xfrm>
            <a:prstGeom prst="straightConnector1">
              <a:avLst/>
            </a:prstGeom>
            <a:ln w="190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5" name="Connecteur droit avec flèche 20">
              <a:extLst>
                <a:ext uri="{FF2B5EF4-FFF2-40B4-BE49-F238E27FC236}">
                  <a16:creationId xmlns:a16="http://schemas.microsoft.com/office/drawing/2014/main" id="{D5EE8326-FEF4-9CF1-6DAF-530956F684B9}"/>
                </a:ext>
              </a:extLst>
            </p:cNvPr>
            <p:cNvCxnSpPr>
              <a:cxnSpLocks/>
            </p:cNvCxnSpPr>
            <p:nvPr/>
          </p:nvCxnSpPr>
          <p:spPr>
            <a:xfrm flipH="1">
              <a:off x="11379233" y="6198029"/>
              <a:ext cx="200360" cy="0"/>
            </a:xfrm>
            <a:prstGeom prst="straightConnector1">
              <a:avLst/>
            </a:prstGeom>
            <a:ln w="19050">
              <a:solidFill>
                <a:srgbClr val="6AE0F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6" name="Connecteur droit avec flèche 20">
              <a:extLst>
                <a:ext uri="{FF2B5EF4-FFF2-40B4-BE49-F238E27FC236}">
                  <a16:creationId xmlns:a16="http://schemas.microsoft.com/office/drawing/2014/main" id="{570D20AF-16DA-EEC8-B78E-1B4984CFC378}"/>
                </a:ext>
              </a:extLst>
            </p:cNvPr>
            <p:cNvCxnSpPr>
              <a:cxnSpLocks/>
            </p:cNvCxnSpPr>
            <p:nvPr/>
          </p:nvCxnSpPr>
          <p:spPr>
            <a:xfrm flipH="1">
              <a:off x="11193086" y="6118916"/>
              <a:ext cx="186147" cy="0"/>
            </a:xfrm>
            <a:prstGeom prst="straightConnector1">
              <a:avLst/>
            </a:prstGeom>
            <a:ln w="19050">
              <a:solidFill>
                <a:srgbClr val="3864B2"/>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7" name="Connecteur droit avec flèche 20">
              <a:extLst>
                <a:ext uri="{FF2B5EF4-FFF2-40B4-BE49-F238E27FC236}">
                  <a16:creationId xmlns:a16="http://schemas.microsoft.com/office/drawing/2014/main" id="{118F7682-572B-29C4-2BE0-B0A8C46CABD7}"/>
                </a:ext>
              </a:extLst>
            </p:cNvPr>
            <p:cNvCxnSpPr>
              <a:cxnSpLocks/>
            </p:cNvCxnSpPr>
            <p:nvPr/>
          </p:nvCxnSpPr>
          <p:spPr>
            <a:xfrm flipV="1">
              <a:off x="11344226" y="5305350"/>
              <a:ext cx="182976" cy="36810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Connecteur droit avec flèche 20">
              <a:extLst>
                <a:ext uri="{FF2B5EF4-FFF2-40B4-BE49-F238E27FC236}">
                  <a16:creationId xmlns:a16="http://schemas.microsoft.com/office/drawing/2014/main" id="{C5CB9959-7AA2-10A3-9480-8B30B1641BD1}"/>
                </a:ext>
              </a:extLst>
            </p:cNvPr>
            <p:cNvCxnSpPr>
              <a:cxnSpLocks/>
            </p:cNvCxnSpPr>
            <p:nvPr/>
          </p:nvCxnSpPr>
          <p:spPr>
            <a:xfrm flipV="1">
              <a:off x="11258336" y="5292254"/>
              <a:ext cx="149500" cy="331489"/>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Connecteur droit avec flèche 20">
              <a:extLst>
                <a:ext uri="{FF2B5EF4-FFF2-40B4-BE49-F238E27FC236}">
                  <a16:creationId xmlns:a16="http://schemas.microsoft.com/office/drawing/2014/main" id="{4A728BC6-A5EC-5D0B-AF6C-5A8BA0C3AFAD}"/>
                </a:ext>
              </a:extLst>
            </p:cNvPr>
            <p:cNvCxnSpPr>
              <a:cxnSpLocks/>
            </p:cNvCxnSpPr>
            <p:nvPr/>
          </p:nvCxnSpPr>
          <p:spPr>
            <a:xfrm flipH="1">
              <a:off x="11193707" y="5295156"/>
              <a:ext cx="115052" cy="261404"/>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Connecteur droit avec flèche 20">
              <a:extLst>
                <a:ext uri="{FF2B5EF4-FFF2-40B4-BE49-F238E27FC236}">
                  <a16:creationId xmlns:a16="http://schemas.microsoft.com/office/drawing/2014/main" id="{6FAF0E4B-F7EB-2836-C465-0F23FA664B30}"/>
                </a:ext>
              </a:extLst>
            </p:cNvPr>
            <p:cNvCxnSpPr>
              <a:cxnSpLocks/>
            </p:cNvCxnSpPr>
            <p:nvPr/>
          </p:nvCxnSpPr>
          <p:spPr>
            <a:xfrm flipH="1">
              <a:off x="11062078" y="5285102"/>
              <a:ext cx="106734" cy="235675"/>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5" name="Group 62">
            <a:extLst>
              <a:ext uri="{FF2B5EF4-FFF2-40B4-BE49-F238E27FC236}">
                <a16:creationId xmlns:a16="http://schemas.microsoft.com/office/drawing/2014/main" id="{CE3E6C3B-3809-969B-05F0-266B702A057B}"/>
              </a:ext>
            </a:extLst>
          </p:cNvPr>
          <p:cNvGrpSpPr/>
          <p:nvPr/>
        </p:nvGrpSpPr>
        <p:grpSpPr>
          <a:xfrm>
            <a:off x="8606583" y="565328"/>
            <a:ext cx="2319682" cy="752861"/>
            <a:chOff x="5387303" y="98430"/>
            <a:chExt cx="2319682" cy="752861"/>
          </a:xfrm>
        </p:grpSpPr>
        <p:sp>
          <p:nvSpPr>
            <p:cNvPr id="76" name="Rectangle: Rounded Corners 63">
              <a:extLst>
                <a:ext uri="{FF2B5EF4-FFF2-40B4-BE49-F238E27FC236}">
                  <a16:creationId xmlns:a16="http://schemas.microsoft.com/office/drawing/2014/main" id="{AA170B19-8FDE-5E1B-EB14-603AB6E29C91}"/>
                </a:ext>
              </a:extLst>
            </p:cNvPr>
            <p:cNvSpPr/>
            <p:nvPr/>
          </p:nvSpPr>
          <p:spPr>
            <a:xfrm>
              <a:off x="5399975" y="100047"/>
              <a:ext cx="2307010" cy="751244"/>
            </a:xfrm>
            <a:prstGeom prst="roundRect">
              <a:avLst>
                <a:gd name="adj" fmla="val 6524"/>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77" name="Group 64">
              <a:extLst>
                <a:ext uri="{FF2B5EF4-FFF2-40B4-BE49-F238E27FC236}">
                  <a16:creationId xmlns:a16="http://schemas.microsoft.com/office/drawing/2014/main" id="{5A7ADC3B-72D4-8211-6803-A6B57E7AC717}"/>
                </a:ext>
              </a:extLst>
            </p:cNvPr>
            <p:cNvGrpSpPr/>
            <p:nvPr/>
          </p:nvGrpSpPr>
          <p:grpSpPr>
            <a:xfrm>
              <a:off x="5538545" y="322319"/>
              <a:ext cx="2104240" cy="487202"/>
              <a:chOff x="5798404" y="-628878"/>
              <a:chExt cx="2104240" cy="487202"/>
            </a:xfrm>
          </p:grpSpPr>
          <p:cxnSp>
            <p:nvCxnSpPr>
              <p:cNvPr id="79" name="Connecteur droit avec flèche 20">
                <a:extLst>
                  <a:ext uri="{FF2B5EF4-FFF2-40B4-BE49-F238E27FC236}">
                    <a16:creationId xmlns:a16="http://schemas.microsoft.com/office/drawing/2014/main" id="{D5B09D61-8CE7-898C-8355-F9F42C2B3DFB}"/>
                  </a:ext>
                </a:extLst>
              </p:cNvPr>
              <p:cNvCxnSpPr>
                <a:cxnSpLocks/>
              </p:cNvCxnSpPr>
              <p:nvPr/>
            </p:nvCxnSpPr>
            <p:spPr>
              <a:xfrm>
                <a:off x="5807920" y="-294108"/>
                <a:ext cx="180000" cy="0"/>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Connecteur droit avec flèche 20">
                <a:extLst>
                  <a:ext uri="{FF2B5EF4-FFF2-40B4-BE49-F238E27FC236}">
                    <a16:creationId xmlns:a16="http://schemas.microsoft.com/office/drawing/2014/main" id="{D11E8E91-B43C-A426-BE91-542AC8441A08}"/>
                  </a:ext>
                </a:extLst>
              </p:cNvPr>
              <p:cNvCxnSpPr>
                <a:cxnSpLocks/>
              </p:cNvCxnSpPr>
              <p:nvPr/>
            </p:nvCxnSpPr>
            <p:spPr>
              <a:xfrm>
                <a:off x="5809810" y="-211082"/>
                <a:ext cx="180000" cy="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Connecteur droit avec flèche 20">
                <a:extLst>
                  <a:ext uri="{FF2B5EF4-FFF2-40B4-BE49-F238E27FC236}">
                    <a16:creationId xmlns:a16="http://schemas.microsoft.com/office/drawing/2014/main" id="{47BC6DF1-7F7A-5160-842E-EB9D4A024A69}"/>
                  </a:ext>
                </a:extLst>
              </p:cNvPr>
              <p:cNvCxnSpPr>
                <a:cxnSpLocks/>
              </p:cNvCxnSpPr>
              <p:nvPr/>
            </p:nvCxnSpPr>
            <p:spPr>
              <a:xfrm>
                <a:off x="5800196" y="-542906"/>
                <a:ext cx="187724" cy="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Connecteur droit avec flèche 20">
                <a:extLst>
                  <a:ext uri="{FF2B5EF4-FFF2-40B4-BE49-F238E27FC236}">
                    <a16:creationId xmlns:a16="http://schemas.microsoft.com/office/drawing/2014/main" id="{78296074-9AA8-FCDD-6BB4-8813803B7556}"/>
                  </a:ext>
                </a:extLst>
              </p:cNvPr>
              <p:cNvCxnSpPr>
                <a:cxnSpLocks/>
              </p:cNvCxnSpPr>
              <p:nvPr/>
            </p:nvCxnSpPr>
            <p:spPr>
              <a:xfrm>
                <a:off x="5798404" y="-467593"/>
                <a:ext cx="185037" cy="0"/>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3" name="TextBox 70">
                <a:extLst>
                  <a:ext uri="{FF2B5EF4-FFF2-40B4-BE49-F238E27FC236}">
                    <a16:creationId xmlns:a16="http://schemas.microsoft.com/office/drawing/2014/main" id="{CD10FFA5-C991-EFFD-0AE3-88CB223515E9}"/>
                  </a:ext>
                </a:extLst>
              </p:cNvPr>
              <p:cNvSpPr txBox="1"/>
              <p:nvPr/>
            </p:nvSpPr>
            <p:spPr>
              <a:xfrm>
                <a:off x="6010479" y="-628878"/>
                <a:ext cx="350192"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2s</a:t>
                </a:r>
              </a:p>
            </p:txBody>
          </p:sp>
          <p:sp>
            <p:nvSpPr>
              <p:cNvPr id="84" name="TextBox 71">
                <a:extLst>
                  <a:ext uri="{FF2B5EF4-FFF2-40B4-BE49-F238E27FC236}">
                    <a16:creationId xmlns:a16="http://schemas.microsoft.com/office/drawing/2014/main" id="{199FEDBD-47A5-7BBB-3249-94FA56056720}"/>
                  </a:ext>
                </a:extLst>
              </p:cNvPr>
              <p:cNvSpPr txBox="1"/>
              <p:nvPr/>
            </p:nvSpPr>
            <p:spPr>
              <a:xfrm>
                <a:off x="5998056" y="-387897"/>
                <a:ext cx="640531"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300 ms</a:t>
                </a:r>
              </a:p>
            </p:txBody>
          </p:sp>
          <p:sp>
            <p:nvSpPr>
              <p:cNvPr id="85" name="TextBox 72">
                <a:extLst>
                  <a:ext uri="{FF2B5EF4-FFF2-40B4-BE49-F238E27FC236}">
                    <a16:creationId xmlns:a16="http://schemas.microsoft.com/office/drawing/2014/main" id="{4AD18222-A1D3-47E7-E3F9-447C5F013AB3}"/>
                  </a:ext>
                </a:extLst>
              </p:cNvPr>
              <p:cNvSpPr txBox="1"/>
              <p:nvPr/>
            </p:nvSpPr>
            <p:spPr>
              <a:xfrm>
                <a:off x="6880207" y="-596578"/>
                <a:ext cx="1022437"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High coherence</a:t>
                </a:r>
              </a:p>
            </p:txBody>
          </p:sp>
          <p:sp>
            <p:nvSpPr>
              <p:cNvPr id="86" name="TextBox 73">
                <a:extLst>
                  <a:ext uri="{FF2B5EF4-FFF2-40B4-BE49-F238E27FC236}">
                    <a16:creationId xmlns:a16="http://schemas.microsoft.com/office/drawing/2014/main" id="{6DC9D4FC-8041-F49D-CADD-29C84BFC4EFF}"/>
                  </a:ext>
                </a:extLst>
              </p:cNvPr>
              <p:cNvSpPr txBox="1"/>
              <p:nvPr/>
            </p:nvSpPr>
            <p:spPr>
              <a:xfrm>
                <a:off x="6884745" y="-391563"/>
                <a:ext cx="1001399"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Low coherence</a:t>
                </a:r>
              </a:p>
            </p:txBody>
          </p:sp>
          <p:cxnSp>
            <p:nvCxnSpPr>
              <p:cNvPr id="87" name="Connecteur droit avec flèche 20">
                <a:extLst>
                  <a:ext uri="{FF2B5EF4-FFF2-40B4-BE49-F238E27FC236}">
                    <a16:creationId xmlns:a16="http://schemas.microsoft.com/office/drawing/2014/main" id="{9AEA67C8-F8C7-CB9E-B6FE-860883251559}"/>
                  </a:ext>
                </a:extLst>
              </p:cNvPr>
              <p:cNvCxnSpPr>
                <a:cxnSpLocks/>
              </p:cNvCxnSpPr>
              <p:nvPr/>
            </p:nvCxnSpPr>
            <p:spPr>
              <a:xfrm>
                <a:off x="6695633" y="-475961"/>
                <a:ext cx="187724" cy="0"/>
              </a:xfrm>
              <a:prstGeom prst="straightConnector1">
                <a:avLst/>
              </a:prstGeom>
              <a:ln w="5715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Connecteur droit avec flèche 20">
                <a:extLst>
                  <a:ext uri="{FF2B5EF4-FFF2-40B4-BE49-F238E27FC236}">
                    <a16:creationId xmlns:a16="http://schemas.microsoft.com/office/drawing/2014/main" id="{DE8AEDFC-9D2A-A167-DBC3-213E0A390C16}"/>
                  </a:ext>
                </a:extLst>
              </p:cNvPr>
              <p:cNvCxnSpPr>
                <a:cxnSpLocks/>
              </p:cNvCxnSpPr>
              <p:nvPr/>
            </p:nvCxnSpPr>
            <p:spPr>
              <a:xfrm>
                <a:off x="6698320" y="-264800"/>
                <a:ext cx="185037" cy="0"/>
              </a:xfrm>
              <a:prstGeom prst="straightConnector1">
                <a:avLst/>
              </a:prstGeom>
              <a:ln w="57150" cap="rnd">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8" name="TextBox 65">
              <a:extLst>
                <a:ext uri="{FF2B5EF4-FFF2-40B4-BE49-F238E27FC236}">
                  <a16:creationId xmlns:a16="http://schemas.microsoft.com/office/drawing/2014/main" id="{32DE0388-821D-A82D-2C7C-F049E085C0BC}"/>
                </a:ext>
              </a:extLst>
            </p:cNvPr>
            <p:cNvSpPr txBox="1"/>
            <p:nvPr/>
          </p:nvSpPr>
          <p:spPr>
            <a:xfrm>
              <a:off x="5387303" y="98430"/>
              <a:ext cx="2312457" cy="276999"/>
            </a:xfrm>
            <a:prstGeom prst="rect">
              <a:avLst/>
            </a:prstGeom>
            <a:noFill/>
          </p:spPr>
          <p:txBody>
            <a:bodyPr wrap="square">
              <a:spAutoFit/>
            </a:bodyPr>
            <a:lstStyle/>
            <a:p>
              <a:pPr algn="ctr"/>
              <a:r>
                <a:rPr lang="fr-FR" sz="1150" b="1" dirty="0">
                  <a:latin typeface="Times New Roman" panose="02020603050405020304" pitchFamily="18" charset="0"/>
                  <a:cs typeface="Times New Roman" panose="02020603050405020304" pitchFamily="18" charset="0"/>
                </a:rPr>
                <a:t>Stimulus duration and coherence</a:t>
              </a:r>
            </a:p>
          </p:txBody>
        </p:sp>
      </p:grpSp>
      <p:sp>
        <p:nvSpPr>
          <p:cNvPr id="89" name="Rectangle 88">
            <a:extLst>
              <a:ext uri="{FF2B5EF4-FFF2-40B4-BE49-F238E27FC236}">
                <a16:creationId xmlns:a16="http://schemas.microsoft.com/office/drawing/2014/main" id="{CA463799-A6B2-6174-755F-65A91E6D4F0A}"/>
              </a:ext>
            </a:extLst>
          </p:cNvPr>
          <p:cNvSpPr/>
          <p:nvPr/>
        </p:nvSpPr>
        <p:spPr>
          <a:xfrm>
            <a:off x="10350721" y="2056513"/>
            <a:ext cx="1751672" cy="46401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EF9A4650-A173-10C8-E52E-638D0E9DFB64}"/>
              </a:ext>
            </a:extLst>
          </p:cNvPr>
          <p:cNvSpPr/>
          <p:nvPr/>
        </p:nvSpPr>
        <p:spPr>
          <a:xfrm>
            <a:off x="10680851" y="1642696"/>
            <a:ext cx="1303198" cy="3771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51040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5B89E-FEBB-8572-5DE4-1317ABD2FAD5}"/>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9CA345F0-AFAF-78BF-B02D-0DF96C3E40F4}"/>
              </a:ext>
            </a:extLst>
          </p:cNvPr>
          <p:cNvSpPr>
            <a:spLocks noChangeArrowheads="1"/>
          </p:cNvSpPr>
          <p:nvPr/>
        </p:nvSpPr>
        <p:spPr bwMode="auto">
          <a:xfrm>
            <a:off x="0" y="30289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6" name="TextBox 25">
            <a:extLst>
              <a:ext uri="{FF2B5EF4-FFF2-40B4-BE49-F238E27FC236}">
                <a16:creationId xmlns:a16="http://schemas.microsoft.com/office/drawing/2014/main" id="{5FB7A429-38AD-B5E4-C2F2-B41117680012}"/>
              </a:ext>
            </a:extLst>
          </p:cNvPr>
          <p:cNvSpPr txBox="1"/>
          <p:nvPr/>
        </p:nvSpPr>
        <p:spPr>
          <a:xfrm>
            <a:off x="429071" y="1213991"/>
            <a:ext cx="7072131" cy="5139869"/>
          </a:xfrm>
          <a:prstGeom prst="rect">
            <a:avLst/>
          </a:prstGeom>
          <a:noFill/>
        </p:spPr>
        <p:txBody>
          <a:bodyPr wrap="square">
            <a:spAutoFit/>
          </a:bodyPr>
          <a:lstStyle/>
          <a:p>
            <a:pPr marL="285750" indent="-285750">
              <a:buFont typeface="Arial" panose="020B0604020202020204" pitchFamily="34" charset="0"/>
              <a:buChar char="•"/>
            </a:pPr>
            <a:r>
              <a:rPr lang="en-US" sz="1600" dirty="0"/>
              <a:t>During </a:t>
            </a:r>
            <a:r>
              <a:rPr lang="en-US" sz="1600" b="1" dirty="0"/>
              <a:t>stimulus presentation</a:t>
            </a:r>
            <a:r>
              <a:rPr lang="en-US" sz="1600" dirty="0"/>
              <a:t>, the decision variable is  continuously transmitted to motor preparation brain areas (similar to immediate decision reports), but the level of gating inhibition increases to prevent muscle activation.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During the </a:t>
            </a:r>
            <a:r>
              <a:rPr lang="en-US" sz="1600" b="1" dirty="0"/>
              <a:t>delay</a:t>
            </a:r>
            <a:r>
              <a:rPr lang="en-US" sz="1600" dirty="0"/>
              <a:t>, the motor preparation variable transitions </a:t>
            </a:r>
            <a:r>
              <a:rPr lang="en-US" sz="1600" dirty="0">
                <a:effectLst/>
                <a:latin typeface="Times New Roman" panose="02020603050405020304" pitchFamily="18" charset="0"/>
                <a:ea typeface="Calibri" panose="020F0502020204030204" pitchFamily="34" charset="0"/>
              </a:rPr>
              <a:t>to sustained activity after hitting a threshold to achieve the short-term maintenance of the selected choice. </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average level of sustained activity decreases as stimulus duration decreases, due a mixture of terminated and non-terminated processes (Ratcliff, 2006).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For the same reason, the average level of sustained activity also decreases as the quality of sensory evidence decreases. </a:t>
            </a:r>
            <a:r>
              <a:rPr lang="en-US" sz="1200" dirty="0"/>
              <a:t>A short post-threshold accumulation period (Mazurek et al., 2003) or a threshold that decreases as processing time increases (</a:t>
            </a:r>
            <a:r>
              <a:rPr lang="en-US" sz="1200" dirty="0" err="1"/>
              <a:t>Drugowitsch</a:t>
            </a:r>
            <a:r>
              <a:rPr lang="en-US" sz="1200" dirty="0"/>
              <a:t> et al., 2012) may also contribute to this phenomenon.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When the </a:t>
            </a:r>
            <a:r>
              <a:rPr lang="en-US" sz="1600" b="1" dirty="0"/>
              <a:t>RS</a:t>
            </a:r>
            <a:r>
              <a:rPr lang="en-US" sz="1600" dirty="0"/>
              <a:t> is presented, the level of sustained activity </a:t>
            </a:r>
            <a:r>
              <a:rPr lang="en-US" sz="1600" dirty="0">
                <a:effectLst/>
                <a:latin typeface="Times New Roman" panose="02020603050405020304" pitchFamily="18" charset="0"/>
                <a:ea typeface="Calibri" panose="020F0502020204030204" pitchFamily="34" charset="0"/>
              </a:rPr>
              <a:t>constitutes the starting point for a second phase of accumulation, in which subjects sample evidence from the RS to activate the muscles</a:t>
            </a:r>
            <a:r>
              <a:rPr lang="en-US" sz="1600" dirty="0">
                <a:latin typeface="Times New Roman" panose="02020603050405020304" pitchFamily="18" charset="0"/>
                <a:ea typeface="Calibri" panose="020F0502020204030204" pitchFamily="34" charset="0"/>
              </a:rPr>
              <a:t> (similar to models of one-choice response time tasks; Ratcliff &amp; Van Dongen, 2011).</a:t>
            </a:r>
            <a:endParaRPr lang="fr-FR" sz="1600" dirty="0"/>
          </a:p>
          <a:p>
            <a:pPr marL="285750" indent="-285750">
              <a:buFont typeface="Arial" panose="020B0604020202020204" pitchFamily="34" charset="0"/>
              <a:buChar char="•"/>
            </a:pPr>
            <a:endParaRPr lang="en-US" sz="1600" dirty="0"/>
          </a:p>
        </p:txBody>
      </p:sp>
      <p:sp>
        <p:nvSpPr>
          <p:cNvPr id="27" name="TextBox 26">
            <a:extLst>
              <a:ext uri="{FF2B5EF4-FFF2-40B4-BE49-F238E27FC236}">
                <a16:creationId xmlns:a16="http://schemas.microsoft.com/office/drawing/2014/main" id="{30CF9ADF-3038-ED5B-B5EE-8E4997352D90}"/>
              </a:ext>
            </a:extLst>
          </p:cNvPr>
          <p:cNvSpPr txBox="1"/>
          <p:nvPr/>
        </p:nvSpPr>
        <p:spPr>
          <a:xfrm>
            <a:off x="507184" y="348568"/>
            <a:ext cx="10736579" cy="369332"/>
          </a:xfrm>
          <a:prstGeom prst="rect">
            <a:avLst/>
          </a:prstGeom>
          <a:noFill/>
        </p:spPr>
        <p:txBody>
          <a:bodyPr wrap="square">
            <a:spAutoFit/>
          </a:bodyPr>
          <a:lstStyle/>
          <a:p>
            <a:r>
              <a:rPr lang="en-US" b="1" dirty="0"/>
              <a:t>Extension of GCDM to delayed decision reports (response signal tasks)</a:t>
            </a:r>
            <a:endParaRPr lang="en-US" sz="1800" b="1" dirty="0"/>
          </a:p>
        </p:txBody>
      </p:sp>
      <p:grpSp>
        <p:nvGrpSpPr>
          <p:cNvPr id="57" name="Group 56">
            <a:extLst>
              <a:ext uri="{FF2B5EF4-FFF2-40B4-BE49-F238E27FC236}">
                <a16:creationId xmlns:a16="http://schemas.microsoft.com/office/drawing/2014/main" id="{88CAA362-A314-8086-44FE-DA90AFBDA90A}"/>
              </a:ext>
            </a:extLst>
          </p:cNvPr>
          <p:cNvGrpSpPr/>
          <p:nvPr/>
        </p:nvGrpSpPr>
        <p:grpSpPr>
          <a:xfrm>
            <a:off x="7589722" y="1594848"/>
            <a:ext cx="4377928" cy="4914584"/>
            <a:chOff x="7647932" y="1594848"/>
            <a:chExt cx="4377928" cy="4914584"/>
          </a:xfrm>
        </p:grpSpPr>
        <p:sp>
          <p:nvSpPr>
            <p:cNvPr id="58" name="Rectangle 57">
              <a:extLst>
                <a:ext uri="{FF2B5EF4-FFF2-40B4-BE49-F238E27FC236}">
                  <a16:creationId xmlns:a16="http://schemas.microsoft.com/office/drawing/2014/main" id="{BB0B8B75-3C87-483E-A742-75077875CAC3}"/>
                </a:ext>
              </a:extLst>
            </p:cNvPr>
            <p:cNvSpPr/>
            <p:nvPr/>
          </p:nvSpPr>
          <p:spPr>
            <a:xfrm>
              <a:off x="8075931" y="4832084"/>
              <a:ext cx="3604339" cy="1139214"/>
            </a:xfrm>
            <a:prstGeom prst="rect">
              <a:avLst/>
            </a:prstGeom>
            <a:solidFill>
              <a:srgbClr val="F9F9F9"/>
            </a:solidFill>
            <a:ln>
              <a:solidFill>
                <a:srgbClr val="F9F9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D823AFD9-5AEA-62DA-8926-753E430F90E2}"/>
                </a:ext>
              </a:extLst>
            </p:cNvPr>
            <p:cNvSpPr/>
            <p:nvPr/>
          </p:nvSpPr>
          <p:spPr>
            <a:xfrm>
              <a:off x="8040457" y="2176141"/>
              <a:ext cx="3651130" cy="2365439"/>
            </a:xfrm>
            <a:prstGeom prst="rect">
              <a:avLst/>
            </a:prstGeom>
            <a:solidFill>
              <a:srgbClr val="F9F9F9"/>
            </a:solidFill>
            <a:ln>
              <a:solidFill>
                <a:srgbClr val="F9F9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0" name="Connecteur droit avec flèche 20">
              <a:extLst>
                <a:ext uri="{FF2B5EF4-FFF2-40B4-BE49-F238E27FC236}">
                  <a16:creationId xmlns:a16="http://schemas.microsoft.com/office/drawing/2014/main" id="{579EE994-1436-E0C9-5AAF-1F1BF5A52B36}"/>
                </a:ext>
              </a:extLst>
            </p:cNvPr>
            <p:cNvCxnSpPr>
              <a:cxnSpLocks/>
            </p:cNvCxnSpPr>
            <p:nvPr/>
          </p:nvCxnSpPr>
          <p:spPr>
            <a:xfrm>
              <a:off x="8747206" y="3326429"/>
              <a:ext cx="2105853" cy="0"/>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Connecteur droit avec flèche 20">
              <a:extLst>
                <a:ext uri="{FF2B5EF4-FFF2-40B4-BE49-F238E27FC236}">
                  <a16:creationId xmlns:a16="http://schemas.microsoft.com/office/drawing/2014/main" id="{4D94BE94-F97F-5191-D7E5-431976636C8F}"/>
                </a:ext>
              </a:extLst>
            </p:cNvPr>
            <p:cNvCxnSpPr>
              <a:cxnSpLocks/>
            </p:cNvCxnSpPr>
            <p:nvPr/>
          </p:nvCxnSpPr>
          <p:spPr>
            <a:xfrm>
              <a:off x="8908951" y="2974786"/>
              <a:ext cx="1893332" cy="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Connecteur droit avec flèche 20">
              <a:extLst>
                <a:ext uri="{FF2B5EF4-FFF2-40B4-BE49-F238E27FC236}">
                  <a16:creationId xmlns:a16="http://schemas.microsoft.com/office/drawing/2014/main" id="{5D95005D-7F13-BF25-AA7F-3B1AC5F2F430}"/>
                </a:ext>
              </a:extLst>
            </p:cNvPr>
            <p:cNvCxnSpPr>
              <a:cxnSpLocks/>
            </p:cNvCxnSpPr>
            <p:nvPr/>
          </p:nvCxnSpPr>
          <p:spPr>
            <a:xfrm>
              <a:off x="9095950" y="3253748"/>
              <a:ext cx="1706333" cy="0"/>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Connecteur droit avec flèche 20">
              <a:extLst>
                <a:ext uri="{FF2B5EF4-FFF2-40B4-BE49-F238E27FC236}">
                  <a16:creationId xmlns:a16="http://schemas.microsoft.com/office/drawing/2014/main" id="{BD03750D-9745-964E-2B97-200AA64DD9DC}"/>
                </a:ext>
              </a:extLst>
            </p:cNvPr>
            <p:cNvCxnSpPr>
              <a:cxnSpLocks/>
            </p:cNvCxnSpPr>
            <p:nvPr/>
          </p:nvCxnSpPr>
          <p:spPr>
            <a:xfrm flipV="1">
              <a:off x="8400324" y="3270178"/>
              <a:ext cx="677314" cy="575636"/>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Connecteur droit avec flèche 20">
              <a:extLst>
                <a:ext uri="{FF2B5EF4-FFF2-40B4-BE49-F238E27FC236}">
                  <a16:creationId xmlns:a16="http://schemas.microsoft.com/office/drawing/2014/main" id="{437F60F0-AF09-C6C2-87A2-29B6371F74F4}"/>
                </a:ext>
              </a:extLst>
            </p:cNvPr>
            <p:cNvCxnSpPr>
              <a:cxnSpLocks/>
            </p:cNvCxnSpPr>
            <p:nvPr/>
          </p:nvCxnSpPr>
          <p:spPr>
            <a:xfrm flipV="1">
              <a:off x="8400248" y="2974786"/>
              <a:ext cx="508703" cy="87760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Connecteur droit avec flèche 20">
              <a:extLst>
                <a:ext uri="{FF2B5EF4-FFF2-40B4-BE49-F238E27FC236}">
                  <a16:creationId xmlns:a16="http://schemas.microsoft.com/office/drawing/2014/main" id="{A38BBFEC-4189-5770-E986-6DC386C47DBE}"/>
                </a:ext>
              </a:extLst>
            </p:cNvPr>
            <p:cNvCxnSpPr>
              <a:cxnSpLocks/>
            </p:cNvCxnSpPr>
            <p:nvPr/>
          </p:nvCxnSpPr>
          <p:spPr>
            <a:xfrm flipV="1">
              <a:off x="8442226" y="3585533"/>
              <a:ext cx="349503" cy="293747"/>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Connecteur droit avec flèche 20">
              <a:extLst>
                <a:ext uri="{FF2B5EF4-FFF2-40B4-BE49-F238E27FC236}">
                  <a16:creationId xmlns:a16="http://schemas.microsoft.com/office/drawing/2014/main" id="{E9DF7B1A-DBA8-2D7C-BEF5-282DFCBA4BDA}"/>
                </a:ext>
              </a:extLst>
            </p:cNvPr>
            <p:cNvCxnSpPr>
              <a:cxnSpLocks/>
            </p:cNvCxnSpPr>
            <p:nvPr/>
          </p:nvCxnSpPr>
          <p:spPr>
            <a:xfrm>
              <a:off x="8791729" y="3579955"/>
              <a:ext cx="2020399" cy="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Connecteur droit avec flèche 20">
              <a:extLst>
                <a:ext uri="{FF2B5EF4-FFF2-40B4-BE49-F238E27FC236}">
                  <a16:creationId xmlns:a16="http://schemas.microsoft.com/office/drawing/2014/main" id="{120374B4-3157-7461-1CE5-D2049F599EDF}"/>
                </a:ext>
              </a:extLst>
            </p:cNvPr>
            <p:cNvCxnSpPr>
              <a:cxnSpLocks/>
            </p:cNvCxnSpPr>
            <p:nvPr/>
          </p:nvCxnSpPr>
          <p:spPr>
            <a:xfrm flipV="1">
              <a:off x="8442226" y="3326429"/>
              <a:ext cx="304980" cy="519385"/>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668ABE1-7763-2022-C273-12968EDFA86E}"/>
                </a:ext>
              </a:extLst>
            </p:cNvPr>
            <p:cNvCxnSpPr/>
            <p:nvPr/>
          </p:nvCxnSpPr>
          <p:spPr>
            <a:xfrm>
              <a:off x="9302255" y="2059793"/>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6881D1B3-5860-FEFE-90CB-10A6D597EFDA}"/>
                </a:ext>
              </a:extLst>
            </p:cNvPr>
            <p:cNvCxnSpPr/>
            <p:nvPr/>
          </p:nvCxnSpPr>
          <p:spPr>
            <a:xfrm>
              <a:off x="8045105" y="2059793"/>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8402C7A9-3257-BB07-94E4-99C1030BBBCF}"/>
                </a:ext>
              </a:extLst>
            </p:cNvPr>
            <p:cNvCxnSpPr/>
            <p:nvPr/>
          </p:nvCxnSpPr>
          <p:spPr>
            <a:xfrm>
              <a:off x="10384883" y="2059793"/>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8D9C33CB-375A-7C38-29CC-E5E4960E037E}"/>
                </a:ext>
              </a:extLst>
            </p:cNvPr>
            <p:cNvCxnSpPr/>
            <p:nvPr/>
          </p:nvCxnSpPr>
          <p:spPr>
            <a:xfrm>
              <a:off x="11685928" y="2057841"/>
              <a:ext cx="0" cy="3913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72" name="Connecteur droit avec flèche 20">
              <a:extLst>
                <a:ext uri="{FF2B5EF4-FFF2-40B4-BE49-F238E27FC236}">
                  <a16:creationId xmlns:a16="http://schemas.microsoft.com/office/drawing/2014/main" id="{C16D8D63-FBE8-2DA1-18B5-91EEB7443DE3}"/>
                </a:ext>
              </a:extLst>
            </p:cNvPr>
            <p:cNvCxnSpPr>
              <a:cxnSpLocks/>
            </p:cNvCxnSpPr>
            <p:nvPr/>
          </p:nvCxnSpPr>
          <p:spPr>
            <a:xfrm flipV="1">
              <a:off x="10802283" y="2472171"/>
              <a:ext cx="254327" cy="502615"/>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Connecteur droit avec flèche 20">
              <a:extLst>
                <a:ext uri="{FF2B5EF4-FFF2-40B4-BE49-F238E27FC236}">
                  <a16:creationId xmlns:a16="http://schemas.microsoft.com/office/drawing/2014/main" id="{CFE63A8D-B7EC-B70C-E6E5-E5799427B6EC}"/>
                </a:ext>
              </a:extLst>
            </p:cNvPr>
            <p:cNvCxnSpPr>
              <a:cxnSpLocks/>
            </p:cNvCxnSpPr>
            <p:nvPr/>
          </p:nvCxnSpPr>
          <p:spPr>
            <a:xfrm flipV="1">
              <a:off x="10817262" y="2489894"/>
              <a:ext cx="365861" cy="763854"/>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Connecteur droit avec flèche 20">
              <a:extLst>
                <a:ext uri="{FF2B5EF4-FFF2-40B4-BE49-F238E27FC236}">
                  <a16:creationId xmlns:a16="http://schemas.microsoft.com/office/drawing/2014/main" id="{A3B4E53A-DD2C-9293-2E34-4B1CD1BEA4D7}"/>
                </a:ext>
              </a:extLst>
            </p:cNvPr>
            <p:cNvCxnSpPr>
              <a:cxnSpLocks/>
            </p:cNvCxnSpPr>
            <p:nvPr/>
          </p:nvCxnSpPr>
          <p:spPr>
            <a:xfrm flipV="1">
              <a:off x="10853059" y="2489894"/>
              <a:ext cx="414123" cy="836535"/>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Connecteur droit avec flèche 20">
              <a:extLst>
                <a:ext uri="{FF2B5EF4-FFF2-40B4-BE49-F238E27FC236}">
                  <a16:creationId xmlns:a16="http://schemas.microsoft.com/office/drawing/2014/main" id="{5F515781-4A64-7F20-1613-DE9C1AF63D59}"/>
                </a:ext>
              </a:extLst>
            </p:cNvPr>
            <p:cNvCxnSpPr>
              <a:cxnSpLocks/>
            </p:cNvCxnSpPr>
            <p:nvPr/>
          </p:nvCxnSpPr>
          <p:spPr>
            <a:xfrm flipH="1">
              <a:off x="10824720" y="2479130"/>
              <a:ext cx="551288" cy="1090061"/>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8E0F81AB-AE89-9ADA-EADC-BF4305891A2F}"/>
                </a:ext>
              </a:extLst>
            </p:cNvPr>
            <p:cNvSpPr txBox="1"/>
            <p:nvPr/>
          </p:nvSpPr>
          <p:spPr>
            <a:xfrm>
              <a:off x="7647932" y="1618677"/>
              <a:ext cx="878545" cy="461665"/>
            </a:xfrm>
            <a:prstGeom prst="rect">
              <a:avLst/>
            </a:prstGeom>
            <a:noFill/>
          </p:spPr>
          <p:txBody>
            <a:bodyPr wrap="square">
              <a:spAutoFit/>
            </a:bodyPr>
            <a:lstStyle/>
            <a:p>
              <a:pPr algn="ctr"/>
              <a:r>
                <a:rPr lang="en-US" sz="1200" b="1" dirty="0"/>
                <a:t>Stimulus onset</a:t>
              </a:r>
              <a:endParaRPr lang="fr-FR" sz="1200" b="1" dirty="0"/>
            </a:p>
          </p:txBody>
        </p:sp>
        <p:sp>
          <p:nvSpPr>
            <p:cNvPr id="77" name="TextBox 76">
              <a:extLst>
                <a:ext uri="{FF2B5EF4-FFF2-40B4-BE49-F238E27FC236}">
                  <a16:creationId xmlns:a16="http://schemas.microsoft.com/office/drawing/2014/main" id="{B7E6FC84-54DE-7AFA-F129-19C40C9E6192}"/>
                </a:ext>
              </a:extLst>
            </p:cNvPr>
            <p:cNvSpPr txBox="1"/>
            <p:nvPr/>
          </p:nvSpPr>
          <p:spPr>
            <a:xfrm>
              <a:off x="8862982" y="1594848"/>
              <a:ext cx="878545" cy="461665"/>
            </a:xfrm>
            <a:prstGeom prst="rect">
              <a:avLst/>
            </a:prstGeom>
            <a:noFill/>
          </p:spPr>
          <p:txBody>
            <a:bodyPr wrap="square">
              <a:spAutoFit/>
            </a:bodyPr>
            <a:lstStyle/>
            <a:p>
              <a:pPr algn="ctr"/>
              <a:r>
                <a:rPr lang="en-US" sz="1200" b="1" dirty="0"/>
                <a:t>Stimulus offset</a:t>
              </a:r>
              <a:endParaRPr lang="fr-FR" sz="1200" b="1" dirty="0"/>
            </a:p>
          </p:txBody>
        </p:sp>
        <p:sp>
          <p:nvSpPr>
            <p:cNvPr id="78" name="TextBox 77">
              <a:extLst>
                <a:ext uri="{FF2B5EF4-FFF2-40B4-BE49-F238E27FC236}">
                  <a16:creationId xmlns:a16="http://schemas.microsoft.com/office/drawing/2014/main" id="{92FF41CB-B7B0-584A-2032-9D06E6E773E6}"/>
                </a:ext>
              </a:extLst>
            </p:cNvPr>
            <p:cNvSpPr txBox="1"/>
            <p:nvPr/>
          </p:nvSpPr>
          <p:spPr>
            <a:xfrm>
              <a:off x="9945610" y="1686995"/>
              <a:ext cx="878545" cy="276999"/>
            </a:xfrm>
            <a:prstGeom prst="rect">
              <a:avLst/>
            </a:prstGeom>
            <a:noFill/>
          </p:spPr>
          <p:txBody>
            <a:bodyPr wrap="square">
              <a:spAutoFit/>
            </a:bodyPr>
            <a:lstStyle/>
            <a:p>
              <a:pPr algn="ctr"/>
              <a:r>
                <a:rPr lang="en-US" sz="1200" b="1" dirty="0"/>
                <a:t>RS</a:t>
              </a:r>
              <a:endParaRPr lang="fr-FR" sz="1200" b="1" dirty="0"/>
            </a:p>
          </p:txBody>
        </p:sp>
        <p:sp>
          <p:nvSpPr>
            <p:cNvPr id="79" name="TextBox 78">
              <a:extLst>
                <a:ext uri="{FF2B5EF4-FFF2-40B4-BE49-F238E27FC236}">
                  <a16:creationId xmlns:a16="http://schemas.microsoft.com/office/drawing/2014/main" id="{2543B160-B0E2-1630-24E0-8368C770626B}"/>
                </a:ext>
              </a:extLst>
            </p:cNvPr>
            <p:cNvSpPr txBox="1"/>
            <p:nvPr/>
          </p:nvSpPr>
          <p:spPr>
            <a:xfrm>
              <a:off x="11147315" y="1686995"/>
              <a:ext cx="878545" cy="276999"/>
            </a:xfrm>
            <a:prstGeom prst="rect">
              <a:avLst/>
            </a:prstGeom>
            <a:noFill/>
          </p:spPr>
          <p:txBody>
            <a:bodyPr wrap="square">
              <a:spAutoFit/>
            </a:bodyPr>
            <a:lstStyle/>
            <a:p>
              <a:pPr algn="ctr"/>
              <a:r>
                <a:rPr lang="en-US" sz="1200" b="1" dirty="0"/>
                <a:t>Response</a:t>
              </a:r>
              <a:endParaRPr lang="fr-FR" sz="1200" b="1" dirty="0"/>
            </a:p>
          </p:txBody>
        </p:sp>
        <p:cxnSp>
          <p:nvCxnSpPr>
            <p:cNvPr id="82" name="Straight Connector 81">
              <a:extLst>
                <a:ext uri="{FF2B5EF4-FFF2-40B4-BE49-F238E27FC236}">
                  <a16:creationId xmlns:a16="http://schemas.microsoft.com/office/drawing/2014/main" id="{32921A0E-674B-08C5-F091-5DB2366DCCAC}"/>
                </a:ext>
              </a:extLst>
            </p:cNvPr>
            <p:cNvCxnSpPr/>
            <p:nvPr/>
          </p:nvCxnSpPr>
          <p:spPr>
            <a:xfrm>
              <a:off x="8526477" y="2687380"/>
              <a:ext cx="3095587"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83" name="TextBox 82">
              <a:extLst>
                <a:ext uri="{FF2B5EF4-FFF2-40B4-BE49-F238E27FC236}">
                  <a16:creationId xmlns:a16="http://schemas.microsoft.com/office/drawing/2014/main" id="{8DC2D1AC-247B-BD8A-0447-6C2278CA6F32}"/>
                </a:ext>
              </a:extLst>
            </p:cNvPr>
            <p:cNvSpPr txBox="1"/>
            <p:nvPr/>
          </p:nvSpPr>
          <p:spPr>
            <a:xfrm>
              <a:off x="8215799" y="2460864"/>
              <a:ext cx="513337" cy="369332"/>
            </a:xfrm>
            <a:prstGeom prst="rect">
              <a:avLst/>
            </a:prstGeom>
            <a:noFill/>
          </p:spPr>
          <p:txBody>
            <a:bodyPr wrap="square">
              <a:spAutoFit/>
            </a:bodyPr>
            <a:lstStyle/>
            <a:p>
              <a:r>
                <a:rPr lang="en-US" sz="1800" i="1" dirty="0">
                  <a:solidFill>
                    <a:srgbClr val="FF0000"/>
                  </a:solidFill>
                </a:rPr>
                <a:t>g</a:t>
              </a:r>
              <a:endParaRPr lang="fr-FR" i="1" dirty="0">
                <a:solidFill>
                  <a:srgbClr val="FF0000"/>
                </a:solidFill>
              </a:endParaRPr>
            </a:p>
          </p:txBody>
        </p:sp>
        <p:cxnSp>
          <p:nvCxnSpPr>
            <p:cNvPr id="84" name="Straight Connector 83">
              <a:extLst>
                <a:ext uri="{FF2B5EF4-FFF2-40B4-BE49-F238E27FC236}">
                  <a16:creationId xmlns:a16="http://schemas.microsoft.com/office/drawing/2014/main" id="{3C35F0DD-D485-EB54-7FCB-A8693D450553}"/>
                </a:ext>
              </a:extLst>
            </p:cNvPr>
            <p:cNvCxnSpPr>
              <a:cxnSpLocks/>
            </p:cNvCxnSpPr>
            <p:nvPr/>
          </p:nvCxnSpPr>
          <p:spPr>
            <a:xfrm>
              <a:off x="8908951" y="5283947"/>
              <a:ext cx="2725019"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1CD5183A-999C-7FDC-F7E7-20CD9544A513}"/>
                    </a:ext>
                  </a:extLst>
                </p:cNvPr>
                <p:cNvSpPr txBox="1"/>
                <p:nvPr/>
              </p:nvSpPr>
              <p:spPr>
                <a:xfrm>
                  <a:off x="8400249" y="5118068"/>
                  <a:ext cx="564104" cy="276999"/>
                </a:xfrm>
                <a:prstGeom prst="rect">
                  <a:avLst/>
                </a:prstGeom>
                <a:noFill/>
              </p:spPr>
              <p:txBody>
                <a:bodyPr wrap="square">
                  <a:spAutoFit/>
                </a:bodyPr>
                <a:lstStyle/>
                <a:p>
                  <a14:m>
                    <m:oMath xmlns:m="http://schemas.openxmlformats.org/officeDocument/2006/math">
                      <m:r>
                        <a:rPr lang="en-US" sz="1200" i="1" smtClean="0">
                          <a:solidFill>
                            <a:srgbClr val="FF0000"/>
                          </a:solidFill>
                          <a:latin typeface="Cambria Math" panose="02040503050406030204" pitchFamily="18" charset="0"/>
                          <a:ea typeface="Cambria Math" panose="02040503050406030204" pitchFamily="18" charset="0"/>
                        </a:rPr>
                        <m:t>𝜃</m:t>
                      </m:r>
                      <m:r>
                        <a:rPr lang="fr-FR" sz="1200" b="0" i="1" smtClean="0">
                          <a:solidFill>
                            <a:srgbClr val="FF0000"/>
                          </a:solidFill>
                          <a:latin typeface="Cambria Math" panose="02040503050406030204" pitchFamily="18" charset="0"/>
                          <a:ea typeface="Cambria Math" panose="02040503050406030204" pitchFamily="18" charset="0"/>
                        </a:rPr>
                        <m:t> </m:t>
                      </m:r>
                    </m:oMath>
                  </a14:m>
                  <a:r>
                    <a:rPr lang="en-US" sz="1200" i="1" dirty="0">
                      <a:solidFill>
                        <a:srgbClr val="FF0000"/>
                      </a:solidFill>
                    </a:rPr>
                    <a:t>resp</a:t>
                  </a:r>
                  <a:endParaRPr lang="fr-FR" sz="1200" i="1" dirty="0">
                    <a:solidFill>
                      <a:srgbClr val="FF0000"/>
                    </a:solidFill>
                  </a:endParaRPr>
                </a:p>
              </p:txBody>
            </p:sp>
          </mc:Choice>
          <mc:Fallback xmlns="">
            <p:sp>
              <p:nvSpPr>
                <p:cNvPr id="85" name="TextBox 84">
                  <a:extLst>
                    <a:ext uri="{FF2B5EF4-FFF2-40B4-BE49-F238E27FC236}">
                      <a16:creationId xmlns:a16="http://schemas.microsoft.com/office/drawing/2014/main" id="{1CD5183A-999C-7FDC-F7E7-20CD9544A513}"/>
                    </a:ext>
                  </a:extLst>
                </p:cNvPr>
                <p:cNvSpPr txBox="1">
                  <a:spLocks noRot="1" noChangeAspect="1" noMove="1" noResize="1" noEditPoints="1" noAdjustHandles="1" noChangeArrowheads="1" noChangeShapeType="1" noTextEdit="1"/>
                </p:cNvSpPr>
                <p:nvPr/>
              </p:nvSpPr>
              <p:spPr>
                <a:xfrm>
                  <a:off x="8400249" y="5118068"/>
                  <a:ext cx="564104" cy="276999"/>
                </a:xfrm>
                <a:prstGeom prst="rect">
                  <a:avLst/>
                </a:prstGeom>
                <a:blipFill>
                  <a:blip r:embed="rId2"/>
                  <a:stretch>
                    <a:fillRect t="-2222" r="-1075" b="-17778"/>
                  </a:stretch>
                </a:blipFill>
              </p:spPr>
              <p:txBody>
                <a:bodyPr/>
                <a:lstStyle/>
                <a:p>
                  <a:r>
                    <a:rPr lang="fr-FR">
                      <a:noFill/>
                    </a:rPr>
                    <a:t> </a:t>
                  </a:r>
                </a:p>
              </p:txBody>
            </p:sp>
          </mc:Fallback>
        </mc:AlternateContent>
        <p:sp>
          <p:nvSpPr>
            <p:cNvPr id="86" name="ZoneTexte 77">
              <a:extLst>
                <a:ext uri="{FF2B5EF4-FFF2-40B4-BE49-F238E27FC236}">
                  <a16:creationId xmlns:a16="http://schemas.microsoft.com/office/drawing/2014/main" id="{8E5DE28A-FF46-F9E8-94C8-7CEA5F0CB62F}"/>
                </a:ext>
              </a:extLst>
            </p:cNvPr>
            <p:cNvSpPr txBox="1"/>
            <p:nvPr/>
          </p:nvSpPr>
          <p:spPr>
            <a:xfrm>
              <a:off x="10425959" y="5851904"/>
              <a:ext cx="654906" cy="261610"/>
            </a:xfrm>
            <a:prstGeom prst="rect">
              <a:avLst/>
            </a:prstGeom>
            <a:noFill/>
          </p:spPr>
          <p:txBody>
            <a:bodyPr wrap="square" rtlCol="0">
              <a:spAutoFit/>
            </a:bodyPr>
            <a:lstStyle/>
            <a:p>
              <a:pPr algn="ctr"/>
              <a:r>
                <a:rPr lang="en-US" sz="1100" b="1" dirty="0">
                  <a:latin typeface="Times New Roman" panose="02020603050405020304" pitchFamily="18" charset="0"/>
                  <a:cs typeface="Times New Roman" panose="02020603050405020304" pitchFamily="18" charset="0"/>
                </a:rPr>
                <a:t>PMT 2s</a:t>
              </a:r>
            </a:p>
          </p:txBody>
        </p:sp>
        <p:sp>
          <p:nvSpPr>
            <p:cNvPr id="87" name="ZoneTexte 77">
              <a:extLst>
                <a:ext uri="{FF2B5EF4-FFF2-40B4-BE49-F238E27FC236}">
                  <a16:creationId xmlns:a16="http://schemas.microsoft.com/office/drawing/2014/main" id="{39532D23-FB46-5692-6520-2B2E2CA76DFF}"/>
                </a:ext>
              </a:extLst>
            </p:cNvPr>
            <p:cNvSpPr txBox="1"/>
            <p:nvPr/>
          </p:nvSpPr>
          <p:spPr>
            <a:xfrm>
              <a:off x="11271655" y="6247822"/>
              <a:ext cx="439470" cy="261610"/>
            </a:xfrm>
            <a:prstGeom prst="rect">
              <a:avLst/>
            </a:prstGeom>
            <a:noFill/>
          </p:spPr>
          <p:txBody>
            <a:bodyPr wrap="square" rtlCol="0">
              <a:spAutoFit/>
            </a:bodyPr>
            <a:lstStyle/>
            <a:p>
              <a:pPr algn="ctr"/>
              <a:r>
                <a:rPr lang="en-US" sz="1100" b="1" dirty="0">
                  <a:latin typeface="Times New Roman" panose="02020603050405020304" pitchFamily="18" charset="0"/>
                  <a:cs typeface="Times New Roman" panose="02020603050405020304" pitchFamily="18" charset="0"/>
                </a:rPr>
                <a:t>MT</a:t>
              </a:r>
            </a:p>
          </p:txBody>
        </p:sp>
        <p:cxnSp>
          <p:nvCxnSpPr>
            <p:cNvPr id="88" name="Connecteur droit avec flèche 20">
              <a:extLst>
                <a:ext uri="{FF2B5EF4-FFF2-40B4-BE49-F238E27FC236}">
                  <a16:creationId xmlns:a16="http://schemas.microsoft.com/office/drawing/2014/main" id="{3E9DA501-A9CF-BA99-F40C-DF9EB367159D}"/>
                </a:ext>
              </a:extLst>
            </p:cNvPr>
            <p:cNvCxnSpPr>
              <a:cxnSpLocks/>
            </p:cNvCxnSpPr>
            <p:nvPr/>
          </p:nvCxnSpPr>
          <p:spPr>
            <a:xfrm>
              <a:off x="8455562" y="5584368"/>
              <a:ext cx="2738145" cy="0"/>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Connecteur droit avec flèche 20">
              <a:extLst>
                <a:ext uri="{FF2B5EF4-FFF2-40B4-BE49-F238E27FC236}">
                  <a16:creationId xmlns:a16="http://schemas.microsoft.com/office/drawing/2014/main" id="{D0029861-B589-6A04-2C05-04E75665D00D}"/>
                </a:ext>
              </a:extLst>
            </p:cNvPr>
            <p:cNvCxnSpPr>
              <a:cxnSpLocks/>
            </p:cNvCxnSpPr>
            <p:nvPr/>
          </p:nvCxnSpPr>
          <p:spPr>
            <a:xfrm>
              <a:off x="8455562" y="5700929"/>
              <a:ext cx="2877524" cy="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Connecteur droit avec flèche 20">
              <a:extLst>
                <a:ext uri="{FF2B5EF4-FFF2-40B4-BE49-F238E27FC236}">
                  <a16:creationId xmlns:a16="http://schemas.microsoft.com/office/drawing/2014/main" id="{9DA9C77D-2C51-A278-D8B9-5A307128557B}"/>
                </a:ext>
              </a:extLst>
            </p:cNvPr>
            <p:cNvCxnSpPr>
              <a:cxnSpLocks/>
            </p:cNvCxnSpPr>
            <p:nvPr/>
          </p:nvCxnSpPr>
          <p:spPr>
            <a:xfrm>
              <a:off x="8455562" y="5529501"/>
              <a:ext cx="2601048" cy="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Connecteur droit avec flèche 20">
              <a:extLst>
                <a:ext uri="{FF2B5EF4-FFF2-40B4-BE49-F238E27FC236}">
                  <a16:creationId xmlns:a16="http://schemas.microsoft.com/office/drawing/2014/main" id="{BA2EB5B9-ED5C-41E0-F586-AA8E9D113A13}"/>
                </a:ext>
              </a:extLst>
            </p:cNvPr>
            <p:cNvCxnSpPr>
              <a:cxnSpLocks/>
            </p:cNvCxnSpPr>
            <p:nvPr/>
          </p:nvCxnSpPr>
          <p:spPr>
            <a:xfrm>
              <a:off x="8455562" y="5640534"/>
              <a:ext cx="2795671" cy="0"/>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Connecteur droit avec flèche 20">
              <a:extLst>
                <a:ext uri="{FF2B5EF4-FFF2-40B4-BE49-F238E27FC236}">
                  <a16:creationId xmlns:a16="http://schemas.microsoft.com/office/drawing/2014/main" id="{36D7EBD2-A22F-136C-EE3D-29F0AFA20279}"/>
                </a:ext>
              </a:extLst>
            </p:cNvPr>
            <p:cNvCxnSpPr>
              <a:cxnSpLocks/>
            </p:cNvCxnSpPr>
            <p:nvPr/>
          </p:nvCxnSpPr>
          <p:spPr>
            <a:xfrm flipH="1">
              <a:off x="10399563" y="5863206"/>
              <a:ext cx="769249" cy="0"/>
            </a:xfrm>
            <a:prstGeom prst="straightConnector1">
              <a:avLst/>
            </a:prstGeom>
            <a:ln w="19050">
              <a:solidFill>
                <a:srgbClr val="FF9999"/>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3" name="Connecteur droit avec flèche 20">
              <a:extLst>
                <a:ext uri="{FF2B5EF4-FFF2-40B4-BE49-F238E27FC236}">
                  <a16:creationId xmlns:a16="http://schemas.microsoft.com/office/drawing/2014/main" id="{7B51238C-FB7D-B5DF-6B1C-12185F6A427C}"/>
                </a:ext>
              </a:extLst>
            </p:cNvPr>
            <p:cNvCxnSpPr>
              <a:cxnSpLocks/>
            </p:cNvCxnSpPr>
            <p:nvPr/>
          </p:nvCxnSpPr>
          <p:spPr>
            <a:xfrm flipH="1">
              <a:off x="10398297" y="5781085"/>
              <a:ext cx="599591" cy="0"/>
            </a:xfrm>
            <a:prstGeom prst="straightConnector1">
              <a:avLst/>
            </a:prstGeom>
            <a:ln w="190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4" name="Connecteur droit avec flèche 20">
              <a:extLst>
                <a:ext uri="{FF2B5EF4-FFF2-40B4-BE49-F238E27FC236}">
                  <a16:creationId xmlns:a16="http://schemas.microsoft.com/office/drawing/2014/main" id="{3471F094-87DC-59EB-581D-B2CDF5706508}"/>
                </a:ext>
              </a:extLst>
            </p:cNvPr>
            <p:cNvCxnSpPr>
              <a:cxnSpLocks/>
            </p:cNvCxnSpPr>
            <p:nvPr/>
          </p:nvCxnSpPr>
          <p:spPr>
            <a:xfrm flipH="1">
              <a:off x="10376104" y="6204063"/>
              <a:ext cx="999904" cy="3925"/>
            </a:xfrm>
            <a:prstGeom prst="straightConnector1">
              <a:avLst/>
            </a:prstGeom>
            <a:ln w="19050">
              <a:solidFill>
                <a:srgbClr val="6AE0F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5" name="Connecteur droit avec flèche 20">
              <a:extLst>
                <a:ext uri="{FF2B5EF4-FFF2-40B4-BE49-F238E27FC236}">
                  <a16:creationId xmlns:a16="http://schemas.microsoft.com/office/drawing/2014/main" id="{2855E7D6-BEDC-7855-D347-83C04424D00B}"/>
                </a:ext>
              </a:extLst>
            </p:cNvPr>
            <p:cNvCxnSpPr>
              <a:cxnSpLocks/>
            </p:cNvCxnSpPr>
            <p:nvPr/>
          </p:nvCxnSpPr>
          <p:spPr>
            <a:xfrm flipH="1" flipV="1">
              <a:off x="10376104" y="6118916"/>
              <a:ext cx="807019" cy="5253"/>
            </a:xfrm>
            <a:prstGeom prst="straightConnector1">
              <a:avLst/>
            </a:prstGeom>
            <a:ln w="19050">
              <a:solidFill>
                <a:srgbClr val="3864B2"/>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6" name="ZoneTexte 77">
              <a:extLst>
                <a:ext uri="{FF2B5EF4-FFF2-40B4-BE49-F238E27FC236}">
                  <a16:creationId xmlns:a16="http://schemas.microsoft.com/office/drawing/2014/main" id="{605043C5-DA40-6ABF-0D7C-F4DEA5B887A1}"/>
                </a:ext>
              </a:extLst>
            </p:cNvPr>
            <p:cNvSpPr txBox="1"/>
            <p:nvPr/>
          </p:nvSpPr>
          <p:spPr>
            <a:xfrm>
              <a:off x="10392530" y="6247822"/>
              <a:ext cx="952063" cy="261610"/>
            </a:xfrm>
            <a:prstGeom prst="rect">
              <a:avLst/>
            </a:prstGeom>
            <a:noFill/>
          </p:spPr>
          <p:txBody>
            <a:bodyPr wrap="square" rtlCol="0">
              <a:spAutoFit/>
            </a:bodyPr>
            <a:lstStyle/>
            <a:p>
              <a:pPr algn="ctr"/>
              <a:r>
                <a:rPr lang="en-US" sz="1100" b="1" dirty="0">
                  <a:latin typeface="Times New Roman" panose="02020603050405020304" pitchFamily="18" charset="0"/>
                  <a:cs typeface="Times New Roman" panose="02020603050405020304" pitchFamily="18" charset="0"/>
                </a:rPr>
                <a:t>PMT 300ms</a:t>
              </a:r>
            </a:p>
          </p:txBody>
        </p:sp>
        <p:cxnSp>
          <p:nvCxnSpPr>
            <p:cNvPr id="97" name="Connecteur droit avec flèche 20">
              <a:extLst>
                <a:ext uri="{FF2B5EF4-FFF2-40B4-BE49-F238E27FC236}">
                  <a16:creationId xmlns:a16="http://schemas.microsoft.com/office/drawing/2014/main" id="{29048E52-058A-A74D-1832-7D01FF9CBCA9}"/>
                </a:ext>
              </a:extLst>
            </p:cNvPr>
            <p:cNvCxnSpPr>
              <a:cxnSpLocks/>
            </p:cNvCxnSpPr>
            <p:nvPr/>
          </p:nvCxnSpPr>
          <p:spPr>
            <a:xfrm flipH="1">
              <a:off x="11171091" y="5863206"/>
              <a:ext cx="204917" cy="0"/>
            </a:xfrm>
            <a:prstGeom prst="straightConnector1">
              <a:avLst/>
            </a:prstGeom>
            <a:ln w="19050">
              <a:solidFill>
                <a:srgbClr val="FF9999"/>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8" name="Connecteur droit avec flèche 20">
              <a:extLst>
                <a:ext uri="{FF2B5EF4-FFF2-40B4-BE49-F238E27FC236}">
                  <a16:creationId xmlns:a16="http://schemas.microsoft.com/office/drawing/2014/main" id="{70D2A740-8EA8-7774-87AF-DA3EFCB7F6EA}"/>
                </a:ext>
              </a:extLst>
            </p:cNvPr>
            <p:cNvCxnSpPr>
              <a:cxnSpLocks/>
            </p:cNvCxnSpPr>
            <p:nvPr/>
          </p:nvCxnSpPr>
          <p:spPr>
            <a:xfrm flipH="1">
              <a:off x="10997888" y="5781085"/>
              <a:ext cx="195819" cy="0"/>
            </a:xfrm>
            <a:prstGeom prst="straightConnector1">
              <a:avLst/>
            </a:prstGeom>
            <a:ln w="190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9" name="Connecteur droit avec flèche 20">
              <a:extLst>
                <a:ext uri="{FF2B5EF4-FFF2-40B4-BE49-F238E27FC236}">
                  <a16:creationId xmlns:a16="http://schemas.microsoft.com/office/drawing/2014/main" id="{C96614CE-CF71-CC3B-511F-E3729FFB5545}"/>
                </a:ext>
              </a:extLst>
            </p:cNvPr>
            <p:cNvCxnSpPr>
              <a:cxnSpLocks/>
            </p:cNvCxnSpPr>
            <p:nvPr/>
          </p:nvCxnSpPr>
          <p:spPr>
            <a:xfrm flipH="1">
              <a:off x="11379233" y="6198029"/>
              <a:ext cx="200360" cy="0"/>
            </a:xfrm>
            <a:prstGeom prst="straightConnector1">
              <a:avLst/>
            </a:prstGeom>
            <a:ln w="19050">
              <a:solidFill>
                <a:srgbClr val="6AE0F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0" name="Connecteur droit avec flèche 20">
              <a:extLst>
                <a:ext uri="{FF2B5EF4-FFF2-40B4-BE49-F238E27FC236}">
                  <a16:creationId xmlns:a16="http://schemas.microsoft.com/office/drawing/2014/main" id="{C8CAA804-1B0A-4A86-F3BE-6E6D1BF0D4C7}"/>
                </a:ext>
              </a:extLst>
            </p:cNvPr>
            <p:cNvCxnSpPr>
              <a:cxnSpLocks/>
            </p:cNvCxnSpPr>
            <p:nvPr/>
          </p:nvCxnSpPr>
          <p:spPr>
            <a:xfrm flipH="1">
              <a:off x="11193086" y="6118916"/>
              <a:ext cx="186147" cy="0"/>
            </a:xfrm>
            <a:prstGeom prst="straightConnector1">
              <a:avLst/>
            </a:prstGeom>
            <a:ln w="19050">
              <a:solidFill>
                <a:srgbClr val="3864B2"/>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1" name="Connecteur droit avec flèche 20">
              <a:extLst>
                <a:ext uri="{FF2B5EF4-FFF2-40B4-BE49-F238E27FC236}">
                  <a16:creationId xmlns:a16="http://schemas.microsoft.com/office/drawing/2014/main" id="{92B689D6-DD00-3369-DD84-597D43257A9F}"/>
                </a:ext>
              </a:extLst>
            </p:cNvPr>
            <p:cNvCxnSpPr>
              <a:cxnSpLocks/>
            </p:cNvCxnSpPr>
            <p:nvPr/>
          </p:nvCxnSpPr>
          <p:spPr>
            <a:xfrm flipV="1">
              <a:off x="11344226" y="5305350"/>
              <a:ext cx="182976" cy="36810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Connecteur droit avec flèche 20">
              <a:extLst>
                <a:ext uri="{FF2B5EF4-FFF2-40B4-BE49-F238E27FC236}">
                  <a16:creationId xmlns:a16="http://schemas.microsoft.com/office/drawing/2014/main" id="{50265C0C-2643-35A2-5490-9774B7BA0D7F}"/>
                </a:ext>
              </a:extLst>
            </p:cNvPr>
            <p:cNvCxnSpPr>
              <a:cxnSpLocks/>
            </p:cNvCxnSpPr>
            <p:nvPr/>
          </p:nvCxnSpPr>
          <p:spPr>
            <a:xfrm flipV="1">
              <a:off x="11258336" y="5292254"/>
              <a:ext cx="149500" cy="331489"/>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Connecteur droit avec flèche 20">
              <a:extLst>
                <a:ext uri="{FF2B5EF4-FFF2-40B4-BE49-F238E27FC236}">
                  <a16:creationId xmlns:a16="http://schemas.microsoft.com/office/drawing/2014/main" id="{D7CF8D88-2FBC-CFD1-B8F4-128EB5463FBB}"/>
                </a:ext>
              </a:extLst>
            </p:cNvPr>
            <p:cNvCxnSpPr>
              <a:cxnSpLocks/>
            </p:cNvCxnSpPr>
            <p:nvPr/>
          </p:nvCxnSpPr>
          <p:spPr>
            <a:xfrm flipH="1">
              <a:off x="11193707" y="5295156"/>
              <a:ext cx="115052" cy="261404"/>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Connecteur droit avec flèche 20">
              <a:extLst>
                <a:ext uri="{FF2B5EF4-FFF2-40B4-BE49-F238E27FC236}">
                  <a16:creationId xmlns:a16="http://schemas.microsoft.com/office/drawing/2014/main" id="{3AD51BB3-197C-C0E6-ED3C-2C116B62AF08}"/>
                </a:ext>
              </a:extLst>
            </p:cNvPr>
            <p:cNvCxnSpPr>
              <a:cxnSpLocks/>
            </p:cNvCxnSpPr>
            <p:nvPr/>
          </p:nvCxnSpPr>
          <p:spPr>
            <a:xfrm flipH="1">
              <a:off x="11062078" y="5285102"/>
              <a:ext cx="106734" cy="235675"/>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5" name="Group 62">
            <a:extLst>
              <a:ext uri="{FF2B5EF4-FFF2-40B4-BE49-F238E27FC236}">
                <a16:creationId xmlns:a16="http://schemas.microsoft.com/office/drawing/2014/main" id="{8EEF8167-95DB-3A49-473A-3F31DB8CB16E}"/>
              </a:ext>
            </a:extLst>
          </p:cNvPr>
          <p:cNvGrpSpPr/>
          <p:nvPr/>
        </p:nvGrpSpPr>
        <p:grpSpPr>
          <a:xfrm>
            <a:off x="8606583" y="565328"/>
            <a:ext cx="2319682" cy="752861"/>
            <a:chOff x="5387303" y="98430"/>
            <a:chExt cx="2319682" cy="752861"/>
          </a:xfrm>
        </p:grpSpPr>
        <p:sp>
          <p:nvSpPr>
            <p:cNvPr id="106" name="Rectangle: Rounded Corners 63">
              <a:extLst>
                <a:ext uri="{FF2B5EF4-FFF2-40B4-BE49-F238E27FC236}">
                  <a16:creationId xmlns:a16="http://schemas.microsoft.com/office/drawing/2014/main" id="{B05FDE86-A32D-D405-FEBF-F271C43E6239}"/>
                </a:ext>
              </a:extLst>
            </p:cNvPr>
            <p:cNvSpPr/>
            <p:nvPr/>
          </p:nvSpPr>
          <p:spPr>
            <a:xfrm>
              <a:off x="5399975" y="100047"/>
              <a:ext cx="2307010" cy="751244"/>
            </a:xfrm>
            <a:prstGeom prst="roundRect">
              <a:avLst>
                <a:gd name="adj" fmla="val 6524"/>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7" name="Group 64">
              <a:extLst>
                <a:ext uri="{FF2B5EF4-FFF2-40B4-BE49-F238E27FC236}">
                  <a16:creationId xmlns:a16="http://schemas.microsoft.com/office/drawing/2014/main" id="{C6B419C8-AECE-9FE2-F363-11FF2872D9A3}"/>
                </a:ext>
              </a:extLst>
            </p:cNvPr>
            <p:cNvGrpSpPr/>
            <p:nvPr/>
          </p:nvGrpSpPr>
          <p:grpSpPr>
            <a:xfrm>
              <a:off x="5538545" y="322319"/>
              <a:ext cx="2104240" cy="487202"/>
              <a:chOff x="5798404" y="-628878"/>
              <a:chExt cx="2104240" cy="487202"/>
            </a:xfrm>
          </p:grpSpPr>
          <p:cxnSp>
            <p:nvCxnSpPr>
              <p:cNvPr id="109" name="Connecteur droit avec flèche 20">
                <a:extLst>
                  <a:ext uri="{FF2B5EF4-FFF2-40B4-BE49-F238E27FC236}">
                    <a16:creationId xmlns:a16="http://schemas.microsoft.com/office/drawing/2014/main" id="{B656AFE4-BFF0-C0C5-1F90-74D7049FAE1A}"/>
                  </a:ext>
                </a:extLst>
              </p:cNvPr>
              <p:cNvCxnSpPr>
                <a:cxnSpLocks/>
              </p:cNvCxnSpPr>
              <p:nvPr/>
            </p:nvCxnSpPr>
            <p:spPr>
              <a:xfrm>
                <a:off x="5807920" y="-294108"/>
                <a:ext cx="180000" cy="0"/>
              </a:xfrm>
              <a:prstGeom prst="straightConnector1">
                <a:avLst/>
              </a:prstGeom>
              <a:ln w="57150" cap="rnd">
                <a:solidFill>
                  <a:srgbClr val="3864B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Connecteur droit avec flèche 20">
                <a:extLst>
                  <a:ext uri="{FF2B5EF4-FFF2-40B4-BE49-F238E27FC236}">
                    <a16:creationId xmlns:a16="http://schemas.microsoft.com/office/drawing/2014/main" id="{FDCC7D32-5B53-6870-1ED4-C71D87DF7976}"/>
                  </a:ext>
                </a:extLst>
              </p:cNvPr>
              <p:cNvCxnSpPr>
                <a:cxnSpLocks/>
              </p:cNvCxnSpPr>
              <p:nvPr/>
            </p:nvCxnSpPr>
            <p:spPr>
              <a:xfrm>
                <a:off x="5809810" y="-211082"/>
                <a:ext cx="180000" cy="0"/>
              </a:xfrm>
              <a:prstGeom prst="straightConnector1">
                <a:avLst/>
              </a:prstGeom>
              <a:ln w="57150" cap="rnd">
                <a:solidFill>
                  <a:srgbClr val="6AE0F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Connecteur droit avec flèche 20">
                <a:extLst>
                  <a:ext uri="{FF2B5EF4-FFF2-40B4-BE49-F238E27FC236}">
                    <a16:creationId xmlns:a16="http://schemas.microsoft.com/office/drawing/2014/main" id="{0E861F38-4771-902A-70E3-BF4A7F86D35A}"/>
                  </a:ext>
                </a:extLst>
              </p:cNvPr>
              <p:cNvCxnSpPr>
                <a:cxnSpLocks/>
              </p:cNvCxnSpPr>
              <p:nvPr/>
            </p:nvCxnSpPr>
            <p:spPr>
              <a:xfrm>
                <a:off x="5800196" y="-542906"/>
                <a:ext cx="187724" cy="0"/>
              </a:xfrm>
              <a:prstGeom prst="straightConnector1">
                <a:avLst/>
              </a:prstGeom>
              <a:ln w="57150" cap="rnd">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Connecteur droit avec flèche 20">
                <a:extLst>
                  <a:ext uri="{FF2B5EF4-FFF2-40B4-BE49-F238E27FC236}">
                    <a16:creationId xmlns:a16="http://schemas.microsoft.com/office/drawing/2014/main" id="{BD5EBA8C-2A87-E8F0-D57E-44816704B62A}"/>
                  </a:ext>
                </a:extLst>
              </p:cNvPr>
              <p:cNvCxnSpPr>
                <a:cxnSpLocks/>
              </p:cNvCxnSpPr>
              <p:nvPr/>
            </p:nvCxnSpPr>
            <p:spPr>
              <a:xfrm>
                <a:off x="5798404" y="-467593"/>
                <a:ext cx="185037" cy="0"/>
              </a:xfrm>
              <a:prstGeom prst="straightConnector1">
                <a:avLst/>
              </a:prstGeom>
              <a:ln w="57150" cap="rnd">
                <a:solidFill>
                  <a:srgbClr val="FF999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3" name="TextBox 70">
                <a:extLst>
                  <a:ext uri="{FF2B5EF4-FFF2-40B4-BE49-F238E27FC236}">
                    <a16:creationId xmlns:a16="http://schemas.microsoft.com/office/drawing/2014/main" id="{B4E39402-D101-090F-BEBB-DFDFC0C4AC3A}"/>
                  </a:ext>
                </a:extLst>
              </p:cNvPr>
              <p:cNvSpPr txBox="1"/>
              <p:nvPr/>
            </p:nvSpPr>
            <p:spPr>
              <a:xfrm>
                <a:off x="6010479" y="-628878"/>
                <a:ext cx="350192"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2s</a:t>
                </a:r>
              </a:p>
            </p:txBody>
          </p:sp>
          <p:sp>
            <p:nvSpPr>
              <p:cNvPr id="114" name="TextBox 71">
                <a:extLst>
                  <a:ext uri="{FF2B5EF4-FFF2-40B4-BE49-F238E27FC236}">
                    <a16:creationId xmlns:a16="http://schemas.microsoft.com/office/drawing/2014/main" id="{72421823-CA0D-F955-2C73-BD63ECEDEDC8}"/>
                  </a:ext>
                </a:extLst>
              </p:cNvPr>
              <p:cNvSpPr txBox="1"/>
              <p:nvPr/>
            </p:nvSpPr>
            <p:spPr>
              <a:xfrm>
                <a:off x="5998056" y="-387897"/>
                <a:ext cx="640531"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300 ms</a:t>
                </a:r>
              </a:p>
            </p:txBody>
          </p:sp>
          <p:sp>
            <p:nvSpPr>
              <p:cNvPr id="115" name="TextBox 72">
                <a:extLst>
                  <a:ext uri="{FF2B5EF4-FFF2-40B4-BE49-F238E27FC236}">
                    <a16:creationId xmlns:a16="http://schemas.microsoft.com/office/drawing/2014/main" id="{A85AF687-9E9F-8DF3-9440-597A36F78EDC}"/>
                  </a:ext>
                </a:extLst>
              </p:cNvPr>
              <p:cNvSpPr txBox="1"/>
              <p:nvPr/>
            </p:nvSpPr>
            <p:spPr>
              <a:xfrm>
                <a:off x="6880207" y="-596578"/>
                <a:ext cx="1022437"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High coherence</a:t>
                </a:r>
              </a:p>
            </p:txBody>
          </p:sp>
          <p:sp>
            <p:nvSpPr>
              <p:cNvPr id="116" name="TextBox 73">
                <a:extLst>
                  <a:ext uri="{FF2B5EF4-FFF2-40B4-BE49-F238E27FC236}">
                    <a16:creationId xmlns:a16="http://schemas.microsoft.com/office/drawing/2014/main" id="{711CA090-C4FF-868C-A048-EFD7B2B87A81}"/>
                  </a:ext>
                </a:extLst>
              </p:cNvPr>
              <p:cNvSpPr txBox="1"/>
              <p:nvPr/>
            </p:nvSpPr>
            <p:spPr>
              <a:xfrm>
                <a:off x="6884745" y="-391563"/>
                <a:ext cx="1001399" cy="246221"/>
              </a:xfrm>
              <a:prstGeom prst="rect">
                <a:avLst/>
              </a:prstGeom>
              <a:noFill/>
            </p:spPr>
            <p:txBody>
              <a:bodyPr wrap="square" rtlCol="0">
                <a:spAutoFit/>
              </a:bodyPr>
              <a:lstStyle/>
              <a:p>
                <a:r>
                  <a:rPr lang="fr-FR" sz="1000" dirty="0">
                    <a:latin typeface="Times New Roman" panose="02020603050405020304" pitchFamily="18" charset="0"/>
                    <a:cs typeface="Times New Roman" panose="02020603050405020304" pitchFamily="18" charset="0"/>
                  </a:rPr>
                  <a:t>Low coherence</a:t>
                </a:r>
              </a:p>
            </p:txBody>
          </p:sp>
          <p:cxnSp>
            <p:nvCxnSpPr>
              <p:cNvPr id="117" name="Connecteur droit avec flèche 20">
                <a:extLst>
                  <a:ext uri="{FF2B5EF4-FFF2-40B4-BE49-F238E27FC236}">
                    <a16:creationId xmlns:a16="http://schemas.microsoft.com/office/drawing/2014/main" id="{FC800BF6-6640-D059-E900-BDB0DBB794D7}"/>
                  </a:ext>
                </a:extLst>
              </p:cNvPr>
              <p:cNvCxnSpPr>
                <a:cxnSpLocks/>
              </p:cNvCxnSpPr>
              <p:nvPr/>
            </p:nvCxnSpPr>
            <p:spPr>
              <a:xfrm>
                <a:off x="6695633" y="-475961"/>
                <a:ext cx="187724" cy="0"/>
              </a:xfrm>
              <a:prstGeom prst="straightConnector1">
                <a:avLst/>
              </a:prstGeom>
              <a:ln w="5715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Connecteur droit avec flèche 20">
                <a:extLst>
                  <a:ext uri="{FF2B5EF4-FFF2-40B4-BE49-F238E27FC236}">
                    <a16:creationId xmlns:a16="http://schemas.microsoft.com/office/drawing/2014/main" id="{DA41E3B4-F791-51F7-282D-DBA7EECC3889}"/>
                  </a:ext>
                </a:extLst>
              </p:cNvPr>
              <p:cNvCxnSpPr>
                <a:cxnSpLocks/>
              </p:cNvCxnSpPr>
              <p:nvPr/>
            </p:nvCxnSpPr>
            <p:spPr>
              <a:xfrm>
                <a:off x="6698320" y="-264800"/>
                <a:ext cx="185037" cy="0"/>
              </a:xfrm>
              <a:prstGeom prst="straightConnector1">
                <a:avLst/>
              </a:prstGeom>
              <a:ln w="57150" cap="rnd">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8" name="TextBox 65">
              <a:extLst>
                <a:ext uri="{FF2B5EF4-FFF2-40B4-BE49-F238E27FC236}">
                  <a16:creationId xmlns:a16="http://schemas.microsoft.com/office/drawing/2014/main" id="{E86913BC-14F6-EFEC-F171-84D1E8366896}"/>
                </a:ext>
              </a:extLst>
            </p:cNvPr>
            <p:cNvSpPr txBox="1"/>
            <p:nvPr/>
          </p:nvSpPr>
          <p:spPr>
            <a:xfrm>
              <a:off x="5387303" y="98430"/>
              <a:ext cx="2312457" cy="276999"/>
            </a:xfrm>
            <a:prstGeom prst="rect">
              <a:avLst/>
            </a:prstGeom>
            <a:noFill/>
          </p:spPr>
          <p:txBody>
            <a:bodyPr wrap="square">
              <a:spAutoFit/>
            </a:bodyPr>
            <a:lstStyle/>
            <a:p>
              <a:pPr algn="ctr"/>
              <a:r>
                <a:rPr lang="fr-FR" sz="1150" b="1" dirty="0">
                  <a:latin typeface="Times New Roman" panose="02020603050405020304" pitchFamily="18" charset="0"/>
                  <a:cs typeface="Times New Roman" panose="02020603050405020304" pitchFamily="18" charset="0"/>
                </a:rPr>
                <a:t>Stimulus duration and coherence</a:t>
              </a:r>
            </a:p>
          </p:txBody>
        </p:sp>
      </p:grpSp>
      <p:sp>
        <p:nvSpPr>
          <p:cNvPr id="121" name="TextBox 120">
            <a:extLst>
              <a:ext uri="{FF2B5EF4-FFF2-40B4-BE49-F238E27FC236}">
                <a16:creationId xmlns:a16="http://schemas.microsoft.com/office/drawing/2014/main" id="{EEBBCE71-1814-C175-7B4F-E5D1A88AA4C4}"/>
              </a:ext>
            </a:extLst>
          </p:cNvPr>
          <p:cNvSpPr txBox="1"/>
          <p:nvPr/>
        </p:nvSpPr>
        <p:spPr>
          <a:xfrm>
            <a:off x="8682599" y="4566447"/>
            <a:ext cx="2725019" cy="261610"/>
          </a:xfrm>
          <a:prstGeom prst="rect">
            <a:avLst/>
          </a:prstGeom>
          <a:solidFill>
            <a:schemeClr val="bg1"/>
          </a:solidFill>
        </p:spPr>
        <p:txBody>
          <a:bodyPr wrap="square">
            <a:spAutoFit/>
          </a:bodyPr>
          <a:lstStyle/>
          <a:p>
            <a:r>
              <a:rPr lang="en-US" sz="1100" dirty="0">
                <a:latin typeface="Times New Roman" panose="02020603050405020304" pitchFamily="18" charset="0"/>
                <a:ea typeface="Calibri" panose="020F0502020204030204" pitchFamily="34" charset="0"/>
              </a:rPr>
              <a:t>Neural drive to muscle fibers (EMG)</a:t>
            </a:r>
            <a:endParaRPr lang="fr-FR" sz="1100" dirty="0"/>
          </a:p>
        </p:txBody>
      </p:sp>
      <p:sp>
        <p:nvSpPr>
          <p:cNvPr id="122" name="TextBox 121">
            <a:extLst>
              <a:ext uri="{FF2B5EF4-FFF2-40B4-BE49-F238E27FC236}">
                <a16:creationId xmlns:a16="http://schemas.microsoft.com/office/drawing/2014/main" id="{F07F463A-67C8-A0D7-09BC-AB2C7418041F}"/>
              </a:ext>
            </a:extLst>
          </p:cNvPr>
          <p:cNvSpPr txBox="1"/>
          <p:nvPr/>
        </p:nvSpPr>
        <p:spPr>
          <a:xfrm>
            <a:off x="8040059" y="2243696"/>
            <a:ext cx="1552430" cy="261610"/>
          </a:xfrm>
          <a:prstGeom prst="rect">
            <a:avLst/>
          </a:prstGeom>
          <a:noFill/>
        </p:spPr>
        <p:txBody>
          <a:bodyPr wrap="square">
            <a:spAutoFit/>
          </a:bodyPr>
          <a:lstStyle/>
          <a:p>
            <a:r>
              <a:rPr lang="en-US" sz="1100" dirty="0">
                <a:latin typeface="Times New Roman" panose="02020603050405020304" pitchFamily="18" charset="0"/>
                <a:ea typeface="Calibri" panose="020F0502020204030204" pitchFamily="34" charset="0"/>
              </a:rPr>
              <a:t>Motor preparation</a:t>
            </a:r>
            <a:endParaRPr lang="fr-FR" sz="1100" dirty="0"/>
          </a:p>
        </p:txBody>
      </p:sp>
    </p:spTree>
    <p:extLst>
      <p:ext uri="{BB962C8B-B14F-4D97-AF65-F5344CB8AC3E}">
        <p14:creationId xmlns:p14="http://schemas.microsoft.com/office/powerpoint/2010/main" val="2742174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0F860A-650A-9736-567F-A91419AEC65C}"/>
              </a:ext>
            </a:extLst>
          </p:cNvPr>
          <p:cNvSpPr txBox="1"/>
          <p:nvPr/>
        </p:nvSpPr>
        <p:spPr>
          <a:xfrm>
            <a:off x="464670" y="317790"/>
            <a:ext cx="2652705" cy="400110"/>
          </a:xfrm>
          <a:prstGeom prst="rect">
            <a:avLst/>
          </a:prstGeom>
          <a:noFill/>
        </p:spPr>
        <p:txBody>
          <a:bodyPr wrap="square">
            <a:spAutoFit/>
          </a:bodyPr>
          <a:lstStyle/>
          <a:p>
            <a:r>
              <a:rPr lang="en-US" sz="2000" b="1" dirty="0"/>
              <a:t>Model predictions</a:t>
            </a:r>
          </a:p>
        </p:txBody>
      </p:sp>
      <p:sp>
        <p:nvSpPr>
          <p:cNvPr id="5" name="TextBox 4">
            <a:extLst>
              <a:ext uri="{FF2B5EF4-FFF2-40B4-BE49-F238E27FC236}">
                <a16:creationId xmlns:a16="http://schemas.microsoft.com/office/drawing/2014/main" id="{41C5A684-35D4-C454-4C77-2B52B89FA011}"/>
              </a:ext>
            </a:extLst>
          </p:cNvPr>
          <p:cNvSpPr txBox="1"/>
          <p:nvPr/>
        </p:nvSpPr>
        <p:spPr>
          <a:xfrm>
            <a:off x="464670" y="824094"/>
            <a:ext cx="10203330" cy="1877437"/>
          </a:xfrm>
          <a:prstGeom prst="rect">
            <a:avLst/>
          </a:prstGeom>
          <a:noFill/>
        </p:spPr>
        <p:txBody>
          <a:bodyPr wrap="square">
            <a:spAutoFit/>
          </a:bodyPr>
          <a:lstStyle/>
          <a:p>
            <a:r>
              <a:rPr lang="en-US" dirty="0"/>
              <a:t>The primary measures of interest were:</a:t>
            </a:r>
          </a:p>
          <a:p>
            <a:endParaRPr lang="en-US" sz="800" dirty="0"/>
          </a:p>
          <a:p>
            <a:pPr marL="538163" indent="-342900">
              <a:buAutoNum type="arabicParenBoth"/>
            </a:pPr>
            <a:r>
              <a:rPr lang="en-US" dirty="0"/>
              <a:t>Response accuracy, </a:t>
            </a:r>
          </a:p>
          <a:p>
            <a:pPr marL="538163" indent="-342900">
              <a:buAutoNum type="arabicParenBoth"/>
            </a:pPr>
            <a:r>
              <a:rPr lang="en-US" dirty="0"/>
              <a:t>The rate of Partial Muscle Activation (PMA) during the delay, i.e., the number of PMA per second,</a:t>
            </a:r>
          </a:p>
          <a:p>
            <a:pPr marL="538163" indent="-342900">
              <a:buAutoNum type="arabicParenBoth"/>
            </a:pPr>
            <a:r>
              <a:rPr lang="en-US" dirty="0"/>
              <a:t>Premotor time (PMT: latency between RS and the onset of muscle activation), </a:t>
            </a:r>
          </a:p>
          <a:p>
            <a:pPr marL="538163" indent="-342900">
              <a:buAutoNum type="arabicParenBoth"/>
            </a:pPr>
            <a:r>
              <a:rPr lang="en-US" dirty="0"/>
              <a:t>The slope of muscle activation </a:t>
            </a:r>
          </a:p>
          <a:p>
            <a:pPr marL="538163" indent="-342900">
              <a:buAutoNum type="arabicParenBoth"/>
            </a:pPr>
            <a:r>
              <a:rPr lang="en-US" dirty="0"/>
              <a:t>Motor time (MT: latency between the onset of muscle activation and the response)</a:t>
            </a:r>
            <a:endParaRPr lang="fr-FR" dirty="0"/>
          </a:p>
        </p:txBody>
      </p:sp>
      <p:pic>
        <p:nvPicPr>
          <p:cNvPr id="26" name="Picture 25">
            <a:extLst>
              <a:ext uri="{FF2B5EF4-FFF2-40B4-BE49-F238E27FC236}">
                <a16:creationId xmlns:a16="http://schemas.microsoft.com/office/drawing/2014/main" id="{87B97F42-95D3-2341-6409-E6B2217EC7F0}"/>
              </a:ext>
            </a:extLst>
          </p:cNvPr>
          <p:cNvPicPr>
            <a:picLocks noChangeAspect="1"/>
          </p:cNvPicPr>
          <p:nvPr/>
        </p:nvPicPr>
        <p:blipFill>
          <a:blip r:embed="rId3"/>
          <a:srcRect l="849"/>
          <a:stretch/>
        </p:blipFill>
        <p:spPr>
          <a:xfrm>
            <a:off x="1791022" y="2960460"/>
            <a:ext cx="8395302" cy="3897540"/>
          </a:xfrm>
          <a:prstGeom prst="rect">
            <a:avLst/>
          </a:prstGeom>
        </p:spPr>
      </p:pic>
    </p:spTree>
    <p:extLst>
      <p:ext uri="{BB962C8B-B14F-4D97-AF65-F5344CB8AC3E}">
        <p14:creationId xmlns:p14="http://schemas.microsoft.com/office/powerpoint/2010/main" val="3791276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811C7-5C3D-28FA-73BC-F3C41D98110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D7502C3-ABF3-FE15-0E52-4B1A4F51B9E8}"/>
              </a:ext>
            </a:extLst>
          </p:cNvPr>
          <p:cNvSpPr txBox="1"/>
          <p:nvPr/>
        </p:nvSpPr>
        <p:spPr>
          <a:xfrm>
            <a:off x="491912" y="1100702"/>
            <a:ext cx="6142858" cy="2492990"/>
          </a:xfrm>
          <a:prstGeom prst="rect">
            <a:avLst/>
          </a:prstGeom>
          <a:noFill/>
        </p:spPr>
        <p:txBody>
          <a:bodyPr wrap="square">
            <a:spAutoFit/>
          </a:bodyPr>
          <a:lstStyle/>
          <a:p>
            <a:pPr marL="285750" indent="-285750">
              <a:buFont typeface="Arial" panose="020B0604020202020204" pitchFamily="34" charset="0"/>
              <a:buChar char="•"/>
            </a:pPr>
            <a:r>
              <a:rPr lang="en-US" sz="1800" dirty="0"/>
              <a:t>A reduction in stimulus duration should increase the proportion of trials in which trajectories motor preparation do not reach the internal threshold.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800" dirty="0"/>
              <a:t>Consequently, the average level of sustained activity at the motor preparation level during the delay should decrease as stimulus duration decreases, leading to three predictions: </a:t>
            </a:r>
          </a:p>
          <a:p>
            <a:pPr marL="630238" lvl="1" indent="-252413">
              <a:buFont typeface="+mj-lt"/>
              <a:buAutoNum type="arabicPeriod"/>
            </a:pPr>
            <a:endParaRPr lang="en-US" dirty="0"/>
          </a:p>
          <a:p>
            <a:pPr marL="377825" lvl="1"/>
            <a:endParaRPr lang="fr-FR" dirty="0"/>
          </a:p>
        </p:txBody>
      </p:sp>
      <p:sp>
        <p:nvSpPr>
          <p:cNvPr id="2" name="TextBox 1">
            <a:extLst>
              <a:ext uri="{FF2B5EF4-FFF2-40B4-BE49-F238E27FC236}">
                <a16:creationId xmlns:a16="http://schemas.microsoft.com/office/drawing/2014/main" id="{6EB6C3F8-4C51-99DD-E11E-8BF4E32CC05B}"/>
              </a:ext>
            </a:extLst>
          </p:cNvPr>
          <p:cNvSpPr txBox="1"/>
          <p:nvPr/>
        </p:nvSpPr>
        <p:spPr>
          <a:xfrm>
            <a:off x="464670" y="317790"/>
            <a:ext cx="2652705" cy="400110"/>
          </a:xfrm>
          <a:prstGeom prst="rect">
            <a:avLst/>
          </a:prstGeom>
          <a:noFill/>
        </p:spPr>
        <p:txBody>
          <a:bodyPr wrap="square">
            <a:spAutoFit/>
          </a:bodyPr>
          <a:lstStyle/>
          <a:p>
            <a:r>
              <a:rPr lang="en-US" sz="2000" b="1" dirty="0"/>
              <a:t>Model predictions</a:t>
            </a:r>
          </a:p>
        </p:txBody>
      </p:sp>
    </p:spTree>
    <p:extLst>
      <p:ext uri="{BB962C8B-B14F-4D97-AF65-F5344CB8AC3E}">
        <p14:creationId xmlns:p14="http://schemas.microsoft.com/office/powerpoint/2010/main" val="2801029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4DD1F-2F7C-93A7-05EA-8BFCF923403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CE88FD-F231-32C2-5D55-C141ADF764BD}"/>
              </a:ext>
            </a:extLst>
          </p:cNvPr>
          <p:cNvSpPr txBox="1"/>
          <p:nvPr/>
        </p:nvSpPr>
        <p:spPr>
          <a:xfrm>
            <a:off x="491912" y="1100702"/>
            <a:ext cx="6142858" cy="3508653"/>
          </a:xfrm>
          <a:prstGeom prst="rect">
            <a:avLst/>
          </a:prstGeom>
          <a:noFill/>
        </p:spPr>
        <p:txBody>
          <a:bodyPr wrap="square">
            <a:spAutoFit/>
          </a:bodyPr>
          <a:lstStyle/>
          <a:p>
            <a:pPr marL="285750" indent="-285750">
              <a:buFont typeface="Arial" panose="020B0604020202020204" pitchFamily="34" charset="0"/>
              <a:buChar char="•"/>
            </a:pPr>
            <a:r>
              <a:rPr lang="en-US" sz="1800" dirty="0"/>
              <a:t>A reduction in stimulus duration should increase the proportion of trials in which trajectories motor preparation do not reach the internal threshold.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800" dirty="0"/>
              <a:t>Consequently, the average level of sustained activity at the motor preparation level during the delay should decrease as stimulus duration decreases, leading to three predictions: </a:t>
            </a:r>
          </a:p>
          <a:p>
            <a:pPr marL="285750" indent="-285750">
              <a:buFont typeface="Arial" panose="020B0604020202020204" pitchFamily="34" charset="0"/>
              <a:buChar char="•"/>
            </a:pPr>
            <a:endParaRPr lang="en-US" sz="1200" dirty="0"/>
          </a:p>
          <a:p>
            <a:pPr marL="630238" lvl="1" indent="-252413">
              <a:buFont typeface="+mj-lt"/>
              <a:buAutoNum type="arabicPeriod"/>
            </a:pPr>
            <a:r>
              <a:rPr lang="en-US" b="1" dirty="0"/>
              <a:t>Accuracy</a:t>
            </a:r>
            <a:r>
              <a:rPr lang="en-US" dirty="0"/>
              <a:t> should decrease as stimulus duration decreases at the intermediate coherence level (due to floor and ceiling effects). </a:t>
            </a:r>
            <a:endParaRPr lang="en-US" sz="1200" dirty="0"/>
          </a:p>
          <a:p>
            <a:pPr marL="630238" lvl="1" indent="-252413">
              <a:buFont typeface="+mj-lt"/>
              <a:buAutoNum type="arabicPeriod"/>
            </a:pPr>
            <a:endParaRPr lang="en-US" dirty="0"/>
          </a:p>
          <a:p>
            <a:pPr marL="377825" lvl="1"/>
            <a:endParaRPr lang="fr-FR" dirty="0"/>
          </a:p>
        </p:txBody>
      </p:sp>
      <p:pic>
        <p:nvPicPr>
          <p:cNvPr id="22" name="Image 7">
            <a:extLst>
              <a:ext uri="{FF2B5EF4-FFF2-40B4-BE49-F238E27FC236}">
                <a16:creationId xmlns:a16="http://schemas.microsoft.com/office/drawing/2014/main" id="{F9911377-8BAB-7446-E285-CCA779620AEC}"/>
              </a:ext>
            </a:extLst>
          </p:cNvPr>
          <p:cNvPicPr>
            <a:picLocks noChangeAspect="1"/>
          </p:cNvPicPr>
          <p:nvPr/>
        </p:nvPicPr>
        <p:blipFill>
          <a:blip r:embed="rId2" cstate="print">
            <a:extLst>
              <a:ext uri="{28A0092B-C50C-407E-A947-70E740481C1C}">
                <a14:useLocalDpi xmlns:a14="http://schemas.microsoft.com/office/drawing/2010/main" val="0"/>
              </a:ext>
            </a:extLst>
          </a:blip>
          <a:srcRect l="2097" t="36154" r="73032" b="39677"/>
          <a:stretch/>
        </p:blipFill>
        <p:spPr>
          <a:xfrm>
            <a:off x="6784777" y="517845"/>
            <a:ext cx="2472218" cy="2399418"/>
          </a:xfrm>
          <a:prstGeom prst="rect">
            <a:avLst/>
          </a:prstGeom>
        </p:spPr>
      </p:pic>
      <p:pic>
        <p:nvPicPr>
          <p:cNvPr id="12" name="Image 7">
            <a:extLst>
              <a:ext uri="{FF2B5EF4-FFF2-40B4-BE49-F238E27FC236}">
                <a16:creationId xmlns:a16="http://schemas.microsoft.com/office/drawing/2014/main" id="{04BDAF9C-0B67-195F-9535-C1A1860ECCB9}"/>
              </a:ext>
            </a:extLst>
          </p:cNvPr>
          <p:cNvPicPr>
            <a:picLocks noChangeAspect="1"/>
          </p:cNvPicPr>
          <p:nvPr/>
        </p:nvPicPr>
        <p:blipFill>
          <a:blip r:embed="rId2" cstate="print">
            <a:extLst>
              <a:ext uri="{28A0092B-C50C-407E-A947-70E740481C1C}">
                <a14:useLocalDpi xmlns:a14="http://schemas.microsoft.com/office/drawing/2010/main" val="0"/>
              </a:ext>
            </a:extLst>
          </a:blip>
          <a:srcRect l="7875" t="26639" r="76963" b="64047"/>
          <a:stretch/>
        </p:blipFill>
        <p:spPr>
          <a:xfrm>
            <a:off x="8626065" y="2989616"/>
            <a:ext cx="1507162" cy="924655"/>
          </a:xfrm>
          <a:prstGeom prst="rect">
            <a:avLst/>
          </a:prstGeom>
        </p:spPr>
      </p:pic>
      <p:pic>
        <p:nvPicPr>
          <p:cNvPr id="3" name="Graphic 2" descr="Badge Cross with solid fill">
            <a:extLst>
              <a:ext uri="{FF2B5EF4-FFF2-40B4-BE49-F238E27FC236}">
                <a16:creationId xmlns:a16="http://schemas.microsoft.com/office/drawing/2014/main" id="{C730B037-E9BB-5E9D-B9A4-96AE9828A6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6108413"/>
            <a:ext cx="749587" cy="749587"/>
          </a:xfrm>
          <a:prstGeom prst="rect">
            <a:avLst/>
          </a:prstGeom>
        </p:spPr>
      </p:pic>
      <p:pic>
        <p:nvPicPr>
          <p:cNvPr id="4" name="Graphic 3" descr="Badge Tick1 with solid fill">
            <a:extLst>
              <a:ext uri="{FF2B5EF4-FFF2-40B4-BE49-F238E27FC236}">
                <a16:creationId xmlns:a16="http://schemas.microsoft.com/office/drawing/2014/main" id="{6BB397D6-178B-602B-C7D5-8DAE129617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90665" y="1568707"/>
            <a:ext cx="836253" cy="836253"/>
          </a:xfrm>
          <a:prstGeom prst="rect">
            <a:avLst/>
          </a:prstGeom>
        </p:spPr>
      </p:pic>
      <p:sp>
        <p:nvSpPr>
          <p:cNvPr id="6" name="TextBox 5">
            <a:extLst>
              <a:ext uri="{FF2B5EF4-FFF2-40B4-BE49-F238E27FC236}">
                <a16:creationId xmlns:a16="http://schemas.microsoft.com/office/drawing/2014/main" id="{FFC941BD-214D-2509-8A69-7A50D9D598D5}"/>
              </a:ext>
            </a:extLst>
          </p:cNvPr>
          <p:cNvSpPr txBox="1"/>
          <p:nvPr/>
        </p:nvSpPr>
        <p:spPr>
          <a:xfrm>
            <a:off x="464670" y="317790"/>
            <a:ext cx="2652705" cy="400110"/>
          </a:xfrm>
          <a:prstGeom prst="rect">
            <a:avLst/>
          </a:prstGeom>
          <a:noFill/>
        </p:spPr>
        <p:txBody>
          <a:bodyPr wrap="square">
            <a:spAutoFit/>
          </a:bodyPr>
          <a:lstStyle/>
          <a:p>
            <a:r>
              <a:rPr lang="en-US" sz="2000" b="1" dirty="0"/>
              <a:t>Model predictions</a:t>
            </a:r>
          </a:p>
        </p:txBody>
      </p:sp>
    </p:spTree>
    <p:extLst>
      <p:ext uri="{BB962C8B-B14F-4D97-AF65-F5344CB8AC3E}">
        <p14:creationId xmlns:p14="http://schemas.microsoft.com/office/powerpoint/2010/main" val="3470373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5002F-BE69-E1B1-B066-B378883B520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08D77C-1933-A2DE-EB60-5D7A6F523681}"/>
              </a:ext>
            </a:extLst>
          </p:cNvPr>
          <p:cNvSpPr txBox="1"/>
          <p:nvPr/>
        </p:nvSpPr>
        <p:spPr>
          <a:xfrm>
            <a:off x="491912" y="1100702"/>
            <a:ext cx="6142858" cy="5170646"/>
          </a:xfrm>
          <a:prstGeom prst="rect">
            <a:avLst/>
          </a:prstGeom>
          <a:noFill/>
        </p:spPr>
        <p:txBody>
          <a:bodyPr wrap="square">
            <a:spAutoFit/>
          </a:bodyPr>
          <a:lstStyle/>
          <a:p>
            <a:pPr marL="285750" indent="-285750">
              <a:buFont typeface="Arial" panose="020B0604020202020204" pitchFamily="34" charset="0"/>
              <a:buChar char="•"/>
            </a:pPr>
            <a:r>
              <a:rPr lang="en-US" sz="1800" dirty="0"/>
              <a:t>A reduction in stimulus duration should increase the proportion of trials in which trajectories motor preparation do not reach the internal threshold.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800" dirty="0"/>
              <a:t>Consequently, the average level of sustained activity at the motor preparation level during the delay should decrease as stimulus duration decreases, leading to three predictions: </a:t>
            </a:r>
          </a:p>
          <a:p>
            <a:pPr marL="285750" indent="-285750">
              <a:buFont typeface="Arial" panose="020B0604020202020204" pitchFamily="34" charset="0"/>
              <a:buChar char="•"/>
            </a:pPr>
            <a:endParaRPr lang="en-US" sz="1200" dirty="0"/>
          </a:p>
          <a:p>
            <a:pPr marL="630238" lvl="1" indent="-252413">
              <a:buFont typeface="+mj-lt"/>
              <a:buAutoNum type="arabicPeriod"/>
            </a:pPr>
            <a:r>
              <a:rPr lang="en-US" b="1" dirty="0"/>
              <a:t>Accuracy</a:t>
            </a:r>
            <a:r>
              <a:rPr lang="en-US" dirty="0"/>
              <a:t> should decrease as stimulus duration decreases at the intermediate coherence level (due to floor and ceiling effects). </a:t>
            </a:r>
            <a:endParaRPr lang="en-US" sz="1200" dirty="0"/>
          </a:p>
          <a:p>
            <a:pPr marL="630238" lvl="1" indent="-252413">
              <a:buFont typeface="+mj-lt"/>
              <a:buAutoNum type="arabicPeriod"/>
            </a:pPr>
            <a:endParaRPr lang="en-US" dirty="0"/>
          </a:p>
          <a:p>
            <a:pPr marL="630238" lvl="1" indent="-252413">
              <a:buFont typeface="+mj-lt"/>
              <a:buAutoNum type="arabicPeriod"/>
            </a:pPr>
            <a:r>
              <a:rPr lang="en-US" b="1" dirty="0"/>
              <a:t>Mean PMT </a:t>
            </a:r>
            <a:r>
              <a:rPr lang="en-US" dirty="0"/>
              <a:t>should increase as stimulus duration decreases, because the starting point for the second phase of evidence accumulation is located father away from the gate on average. For the same reason, mean PMT should decrease when coherence increases. </a:t>
            </a:r>
          </a:p>
          <a:p>
            <a:pPr marL="630238" lvl="1" indent="-252413">
              <a:buFont typeface="+mj-lt"/>
              <a:buAutoNum type="arabicPeriod"/>
            </a:pPr>
            <a:endParaRPr lang="en-US" dirty="0"/>
          </a:p>
          <a:p>
            <a:pPr marL="377825" lvl="1"/>
            <a:endParaRPr lang="fr-FR" dirty="0"/>
          </a:p>
        </p:txBody>
      </p:sp>
      <p:pic>
        <p:nvPicPr>
          <p:cNvPr id="22" name="Image 7">
            <a:extLst>
              <a:ext uri="{FF2B5EF4-FFF2-40B4-BE49-F238E27FC236}">
                <a16:creationId xmlns:a16="http://schemas.microsoft.com/office/drawing/2014/main" id="{D835E051-1636-06F3-278E-42E668745E82}"/>
              </a:ext>
            </a:extLst>
          </p:cNvPr>
          <p:cNvPicPr>
            <a:picLocks noChangeAspect="1"/>
          </p:cNvPicPr>
          <p:nvPr/>
        </p:nvPicPr>
        <p:blipFill>
          <a:blip r:embed="rId2" cstate="print">
            <a:extLst>
              <a:ext uri="{28A0092B-C50C-407E-A947-70E740481C1C}">
                <a14:useLocalDpi xmlns:a14="http://schemas.microsoft.com/office/drawing/2010/main" val="0"/>
              </a:ext>
            </a:extLst>
          </a:blip>
          <a:srcRect l="2097" t="36154" r="73032" b="39677"/>
          <a:stretch/>
        </p:blipFill>
        <p:spPr>
          <a:xfrm>
            <a:off x="6784777" y="517845"/>
            <a:ext cx="2472218" cy="2399418"/>
          </a:xfrm>
          <a:prstGeom prst="rect">
            <a:avLst/>
          </a:prstGeom>
        </p:spPr>
      </p:pic>
      <p:pic>
        <p:nvPicPr>
          <p:cNvPr id="4" name="Image 7">
            <a:extLst>
              <a:ext uri="{FF2B5EF4-FFF2-40B4-BE49-F238E27FC236}">
                <a16:creationId xmlns:a16="http://schemas.microsoft.com/office/drawing/2014/main" id="{C7FCC3A3-4358-1B2F-F190-0BDA58F40CC1}"/>
              </a:ext>
            </a:extLst>
          </p:cNvPr>
          <p:cNvPicPr>
            <a:picLocks noChangeAspect="1"/>
          </p:cNvPicPr>
          <p:nvPr/>
        </p:nvPicPr>
        <p:blipFill>
          <a:blip r:embed="rId2" cstate="print">
            <a:extLst>
              <a:ext uri="{28A0092B-C50C-407E-A947-70E740481C1C}">
                <a14:useLocalDpi xmlns:a14="http://schemas.microsoft.com/office/drawing/2010/main" val="0"/>
              </a:ext>
            </a:extLst>
          </a:blip>
          <a:srcRect l="50220" t="36154" r="26186" b="39677"/>
          <a:stretch/>
        </p:blipFill>
        <p:spPr>
          <a:xfrm>
            <a:off x="9549242" y="517845"/>
            <a:ext cx="2345295" cy="2399418"/>
          </a:xfrm>
          <a:prstGeom prst="rect">
            <a:avLst/>
          </a:prstGeom>
        </p:spPr>
      </p:pic>
      <p:sp>
        <p:nvSpPr>
          <p:cNvPr id="8" name="TextBox 7">
            <a:extLst>
              <a:ext uri="{FF2B5EF4-FFF2-40B4-BE49-F238E27FC236}">
                <a16:creationId xmlns:a16="http://schemas.microsoft.com/office/drawing/2014/main" id="{C26971AE-601B-26CE-2569-E6F84EF7EA53}"/>
              </a:ext>
            </a:extLst>
          </p:cNvPr>
          <p:cNvSpPr txBox="1"/>
          <p:nvPr/>
        </p:nvSpPr>
        <p:spPr>
          <a:xfrm>
            <a:off x="464670" y="317790"/>
            <a:ext cx="5539890" cy="400110"/>
          </a:xfrm>
          <a:prstGeom prst="rect">
            <a:avLst/>
          </a:prstGeom>
          <a:noFill/>
        </p:spPr>
        <p:txBody>
          <a:bodyPr wrap="square">
            <a:spAutoFit/>
          </a:bodyPr>
          <a:lstStyle/>
          <a:p>
            <a:r>
              <a:rPr lang="en-US" sz="2000" b="1" dirty="0"/>
              <a:t>Model predictions</a:t>
            </a:r>
          </a:p>
        </p:txBody>
      </p:sp>
      <p:pic>
        <p:nvPicPr>
          <p:cNvPr id="12" name="Image 7">
            <a:extLst>
              <a:ext uri="{FF2B5EF4-FFF2-40B4-BE49-F238E27FC236}">
                <a16:creationId xmlns:a16="http://schemas.microsoft.com/office/drawing/2014/main" id="{B49AFFDF-CEDD-B072-9BA5-30D83345E01B}"/>
              </a:ext>
            </a:extLst>
          </p:cNvPr>
          <p:cNvPicPr>
            <a:picLocks noChangeAspect="1"/>
          </p:cNvPicPr>
          <p:nvPr/>
        </p:nvPicPr>
        <p:blipFill>
          <a:blip r:embed="rId2" cstate="print">
            <a:extLst>
              <a:ext uri="{28A0092B-C50C-407E-A947-70E740481C1C}">
                <a14:useLocalDpi xmlns:a14="http://schemas.microsoft.com/office/drawing/2010/main" val="0"/>
              </a:ext>
            </a:extLst>
          </a:blip>
          <a:srcRect l="7875" t="26639" r="76963" b="64047"/>
          <a:stretch/>
        </p:blipFill>
        <p:spPr>
          <a:xfrm>
            <a:off x="8626065" y="2989616"/>
            <a:ext cx="1507162" cy="924655"/>
          </a:xfrm>
          <a:prstGeom prst="rect">
            <a:avLst/>
          </a:prstGeom>
        </p:spPr>
      </p:pic>
      <p:pic>
        <p:nvPicPr>
          <p:cNvPr id="13" name="Graphic 12" descr="Badge Tick1 with solid fill">
            <a:extLst>
              <a:ext uri="{FF2B5EF4-FFF2-40B4-BE49-F238E27FC236}">
                <a16:creationId xmlns:a16="http://schemas.microsoft.com/office/drawing/2014/main" id="{257D5BC9-C43F-FEA2-4493-49A800D8ECD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98131" y="317790"/>
            <a:ext cx="836253" cy="836253"/>
          </a:xfrm>
          <a:prstGeom prst="rect">
            <a:avLst/>
          </a:prstGeom>
        </p:spPr>
      </p:pic>
      <p:pic>
        <p:nvPicPr>
          <p:cNvPr id="14" name="Graphic 13" descr="Badge Tick1 with solid fill">
            <a:extLst>
              <a:ext uri="{FF2B5EF4-FFF2-40B4-BE49-F238E27FC236}">
                <a16:creationId xmlns:a16="http://schemas.microsoft.com/office/drawing/2014/main" id="{7B31D2EA-FD63-1C1A-592D-3754F56D013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90665" y="1568707"/>
            <a:ext cx="836253" cy="836253"/>
          </a:xfrm>
          <a:prstGeom prst="rect">
            <a:avLst/>
          </a:prstGeom>
        </p:spPr>
      </p:pic>
    </p:spTree>
    <p:extLst>
      <p:ext uri="{BB962C8B-B14F-4D97-AF65-F5344CB8AC3E}">
        <p14:creationId xmlns:p14="http://schemas.microsoft.com/office/powerpoint/2010/main" val="3404984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883D8-A773-CAAF-BC67-9ECBF0C235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DE328D7-C62C-790E-1E64-F484DECC3836}"/>
              </a:ext>
            </a:extLst>
          </p:cNvPr>
          <p:cNvSpPr txBox="1"/>
          <p:nvPr/>
        </p:nvSpPr>
        <p:spPr>
          <a:xfrm>
            <a:off x="464670" y="801417"/>
            <a:ext cx="6142858" cy="6278642"/>
          </a:xfrm>
          <a:prstGeom prst="rect">
            <a:avLst/>
          </a:prstGeom>
          <a:noFill/>
        </p:spPr>
        <p:txBody>
          <a:bodyPr wrap="square">
            <a:spAutoFit/>
          </a:bodyPr>
          <a:lstStyle/>
          <a:p>
            <a:pPr marL="285750" indent="-285750">
              <a:buFont typeface="Arial" panose="020B0604020202020204" pitchFamily="34" charset="0"/>
              <a:buChar char="•"/>
            </a:pPr>
            <a:r>
              <a:rPr lang="en-US" sz="1800" dirty="0"/>
              <a:t>A reduction in stimulus duration should increase the proportion of trials in which trajectories motor preparation do not reach the internal threshold.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800" dirty="0"/>
              <a:t>Consequently, the average level of sustained activity at the motor preparation level during the delay should decrease as stimulus duration decreases, leading to three predictions: </a:t>
            </a:r>
          </a:p>
          <a:p>
            <a:pPr marL="285750" indent="-285750">
              <a:buFont typeface="Arial" panose="020B0604020202020204" pitchFamily="34" charset="0"/>
              <a:buChar char="•"/>
            </a:pPr>
            <a:endParaRPr lang="en-US" sz="1200" dirty="0"/>
          </a:p>
          <a:p>
            <a:pPr marL="630238" lvl="1" indent="-252413">
              <a:buFont typeface="+mj-lt"/>
              <a:buAutoNum type="arabicPeriod"/>
            </a:pPr>
            <a:r>
              <a:rPr lang="en-US" b="1" dirty="0"/>
              <a:t>Accuracy</a:t>
            </a:r>
            <a:r>
              <a:rPr lang="en-US" dirty="0"/>
              <a:t> should decrease as stimulus duration decreases at the intermediate coherence level (due to floor and ceiling effects). </a:t>
            </a:r>
            <a:endParaRPr lang="en-US" sz="1200" dirty="0"/>
          </a:p>
          <a:p>
            <a:pPr marL="630238" lvl="1" indent="-252413">
              <a:buFont typeface="+mj-lt"/>
              <a:buAutoNum type="arabicPeriod"/>
            </a:pPr>
            <a:endParaRPr lang="en-US" dirty="0"/>
          </a:p>
          <a:p>
            <a:pPr marL="630238" lvl="1" indent="-252413">
              <a:buFont typeface="+mj-lt"/>
              <a:buAutoNum type="arabicPeriod"/>
            </a:pPr>
            <a:r>
              <a:rPr lang="en-US" b="1" dirty="0"/>
              <a:t>Mean PMT </a:t>
            </a:r>
            <a:r>
              <a:rPr lang="en-US" dirty="0"/>
              <a:t>should increase as stimulus duration decreases, because the starting point for the second phase of evidence accumulation is located father away from the gate on average. For the same reason, mean PMT should decrease when coherence increases. </a:t>
            </a:r>
          </a:p>
          <a:p>
            <a:pPr marL="630238" lvl="1" indent="-252413">
              <a:buFont typeface="+mj-lt"/>
              <a:buAutoNum type="arabicPeriod"/>
            </a:pPr>
            <a:endParaRPr lang="en-US" dirty="0"/>
          </a:p>
          <a:p>
            <a:pPr marL="630238" lvl="1" indent="-252413">
              <a:buFont typeface="+mj-lt"/>
              <a:buAutoNum type="arabicPeriod"/>
            </a:pPr>
            <a:r>
              <a:rPr lang="en-US" b="1" dirty="0"/>
              <a:t>The rate of Partial Muscle Activation (PMA) </a:t>
            </a:r>
            <a:r>
              <a:rPr lang="en-US" dirty="0"/>
              <a:t>in the EMG channel associated with the response during the delay should increase as stimulus duration increases. It should also increase as motion coherence increases.</a:t>
            </a:r>
          </a:p>
          <a:p>
            <a:pPr marL="377825" lvl="1"/>
            <a:endParaRPr lang="fr-FR" dirty="0"/>
          </a:p>
        </p:txBody>
      </p:sp>
      <p:pic>
        <p:nvPicPr>
          <p:cNvPr id="22" name="Image 7">
            <a:extLst>
              <a:ext uri="{FF2B5EF4-FFF2-40B4-BE49-F238E27FC236}">
                <a16:creationId xmlns:a16="http://schemas.microsoft.com/office/drawing/2014/main" id="{F12662DC-6165-3D93-998C-0F8C7D2A779D}"/>
              </a:ext>
            </a:extLst>
          </p:cNvPr>
          <p:cNvPicPr>
            <a:picLocks noChangeAspect="1"/>
          </p:cNvPicPr>
          <p:nvPr/>
        </p:nvPicPr>
        <p:blipFill>
          <a:blip r:embed="rId3" cstate="print">
            <a:extLst>
              <a:ext uri="{28A0092B-C50C-407E-A947-70E740481C1C}">
                <a14:useLocalDpi xmlns:a14="http://schemas.microsoft.com/office/drawing/2010/main" val="0"/>
              </a:ext>
            </a:extLst>
          </a:blip>
          <a:srcRect l="2097" t="36154" r="73032" b="39677"/>
          <a:stretch/>
        </p:blipFill>
        <p:spPr>
          <a:xfrm>
            <a:off x="6784777" y="517845"/>
            <a:ext cx="2472218" cy="2399418"/>
          </a:xfrm>
          <a:prstGeom prst="rect">
            <a:avLst/>
          </a:prstGeom>
        </p:spPr>
      </p:pic>
      <p:pic>
        <p:nvPicPr>
          <p:cNvPr id="4" name="Image 7">
            <a:extLst>
              <a:ext uri="{FF2B5EF4-FFF2-40B4-BE49-F238E27FC236}">
                <a16:creationId xmlns:a16="http://schemas.microsoft.com/office/drawing/2014/main" id="{EB5F1AC3-0B8B-0F0A-0AF1-7A50F1D8ADD6}"/>
              </a:ext>
            </a:extLst>
          </p:cNvPr>
          <p:cNvPicPr>
            <a:picLocks noChangeAspect="1"/>
          </p:cNvPicPr>
          <p:nvPr/>
        </p:nvPicPr>
        <p:blipFill>
          <a:blip r:embed="rId3" cstate="print">
            <a:extLst>
              <a:ext uri="{28A0092B-C50C-407E-A947-70E740481C1C}">
                <a14:useLocalDpi xmlns:a14="http://schemas.microsoft.com/office/drawing/2010/main" val="0"/>
              </a:ext>
            </a:extLst>
          </a:blip>
          <a:srcRect l="50220" t="36154" r="26186" b="39677"/>
          <a:stretch/>
        </p:blipFill>
        <p:spPr>
          <a:xfrm>
            <a:off x="9549242" y="517845"/>
            <a:ext cx="2345295" cy="2399418"/>
          </a:xfrm>
          <a:prstGeom prst="rect">
            <a:avLst/>
          </a:prstGeom>
        </p:spPr>
      </p:pic>
      <p:grpSp>
        <p:nvGrpSpPr>
          <p:cNvPr id="7" name="Group 6">
            <a:extLst>
              <a:ext uri="{FF2B5EF4-FFF2-40B4-BE49-F238E27FC236}">
                <a16:creationId xmlns:a16="http://schemas.microsoft.com/office/drawing/2014/main" id="{0FEC66A7-AFE6-743D-023F-427C6F5BB2FB}"/>
              </a:ext>
            </a:extLst>
          </p:cNvPr>
          <p:cNvGrpSpPr/>
          <p:nvPr/>
        </p:nvGrpSpPr>
        <p:grpSpPr>
          <a:xfrm>
            <a:off x="6977858" y="3940738"/>
            <a:ext cx="2508056" cy="2525940"/>
            <a:chOff x="7804986" y="3778358"/>
            <a:chExt cx="2508056" cy="2525940"/>
          </a:xfrm>
        </p:grpSpPr>
        <p:pic>
          <p:nvPicPr>
            <p:cNvPr id="23" name="Image 5">
              <a:extLst>
                <a:ext uri="{FF2B5EF4-FFF2-40B4-BE49-F238E27FC236}">
                  <a16:creationId xmlns:a16="http://schemas.microsoft.com/office/drawing/2014/main" id="{D195A3BA-FFDF-D576-2884-CA4C813911C4}"/>
                </a:ext>
              </a:extLst>
            </p:cNvPr>
            <p:cNvPicPr>
              <a:picLocks noChangeAspect="1"/>
            </p:cNvPicPr>
            <p:nvPr/>
          </p:nvPicPr>
          <p:blipFill>
            <a:blip r:embed="rId4" cstate="print">
              <a:extLst>
                <a:ext uri="{28A0092B-C50C-407E-A947-70E740481C1C}">
                  <a14:useLocalDpi xmlns:a14="http://schemas.microsoft.com/office/drawing/2010/main" val="0"/>
                </a:ext>
              </a:extLst>
            </a:blip>
            <a:srcRect l="55965" t="31661" r="22525" b="40959"/>
            <a:stretch/>
          </p:blipFill>
          <p:spPr bwMode="auto">
            <a:xfrm>
              <a:off x="8376801" y="3869023"/>
              <a:ext cx="1936241" cy="2435275"/>
            </a:xfrm>
            <a:prstGeom prst="rect">
              <a:avLst/>
            </a:prstGeom>
            <a:noFill/>
            <a:ln>
              <a:noFill/>
            </a:ln>
          </p:spPr>
        </p:pic>
        <p:pic>
          <p:nvPicPr>
            <p:cNvPr id="6" name="Image 5">
              <a:extLst>
                <a:ext uri="{FF2B5EF4-FFF2-40B4-BE49-F238E27FC236}">
                  <a16:creationId xmlns:a16="http://schemas.microsoft.com/office/drawing/2014/main" id="{A21EFD8A-EEED-0909-96EC-F7DCC637AED6}"/>
                </a:ext>
              </a:extLst>
            </p:cNvPr>
            <p:cNvPicPr>
              <a:picLocks noChangeAspect="1"/>
            </p:cNvPicPr>
            <p:nvPr/>
          </p:nvPicPr>
          <p:blipFill>
            <a:blip r:embed="rId4" cstate="print">
              <a:extLst>
                <a:ext uri="{28A0092B-C50C-407E-A947-70E740481C1C}">
                  <a14:useLocalDpi xmlns:a14="http://schemas.microsoft.com/office/drawing/2010/main" val="0"/>
                </a:ext>
              </a:extLst>
            </a:blip>
            <a:srcRect l="28935" t="31661" r="65591" b="40959"/>
            <a:stretch/>
          </p:blipFill>
          <p:spPr bwMode="auto">
            <a:xfrm>
              <a:off x="7804986" y="3778358"/>
              <a:ext cx="492760" cy="2435275"/>
            </a:xfrm>
            <a:prstGeom prst="rect">
              <a:avLst/>
            </a:prstGeom>
            <a:noFill/>
            <a:ln>
              <a:noFill/>
            </a:ln>
          </p:spPr>
        </p:pic>
      </p:grpSp>
      <p:pic>
        <p:nvPicPr>
          <p:cNvPr id="12" name="Image 7">
            <a:extLst>
              <a:ext uri="{FF2B5EF4-FFF2-40B4-BE49-F238E27FC236}">
                <a16:creationId xmlns:a16="http://schemas.microsoft.com/office/drawing/2014/main" id="{7B9F232F-A70F-F312-EAC5-D95FA395E341}"/>
              </a:ext>
            </a:extLst>
          </p:cNvPr>
          <p:cNvPicPr>
            <a:picLocks noChangeAspect="1"/>
          </p:cNvPicPr>
          <p:nvPr/>
        </p:nvPicPr>
        <p:blipFill>
          <a:blip r:embed="rId3" cstate="print">
            <a:extLst>
              <a:ext uri="{28A0092B-C50C-407E-A947-70E740481C1C}">
                <a14:useLocalDpi xmlns:a14="http://schemas.microsoft.com/office/drawing/2010/main" val="0"/>
              </a:ext>
            </a:extLst>
          </a:blip>
          <a:srcRect l="7875" t="26639" r="76963" b="64047"/>
          <a:stretch/>
        </p:blipFill>
        <p:spPr>
          <a:xfrm>
            <a:off x="8626065" y="2989616"/>
            <a:ext cx="1507162" cy="924655"/>
          </a:xfrm>
          <a:prstGeom prst="rect">
            <a:avLst/>
          </a:prstGeom>
        </p:spPr>
      </p:pic>
      <p:pic>
        <p:nvPicPr>
          <p:cNvPr id="2" name="Graphic 1" descr="Badge Tick1 with solid fill">
            <a:extLst>
              <a:ext uri="{FF2B5EF4-FFF2-40B4-BE49-F238E27FC236}">
                <a16:creationId xmlns:a16="http://schemas.microsoft.com/office/drawing/2014/main" id="{C4EB64A9-6D64-B81D-BAED-3960DA79B22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728716" y="4192158"/>
            <a:ext cx="836253" cy="836253"/>
          </a:xfrm>
          <a:prstGeom prst="rect">
            <a:avLst/>
          </a:prstGeom>
        </p:spPr>
      </p:pic>
      <p:pic>
        <p:nvPicPr>
          <p:cNvPr id="3" name="Image 7">
            <a:extLst>
              <a:ext uri="{FF2B5EF4-FFF2-40B4-BE49-F238E27FC236}">
                <a16:creationId xmlns:a16="http://schemas.microsoft.com/office/drawing/2014/main" id="{32AD4BA4-6810-826B-85BE-71B07C3DB900}"/>
              </a:ext>
            </a:extLst>
          </p:cNvPr>
          <p:cNvPicPr>
            <a:picLocks noChangeAspect="1"/>
          </p:cNvPicPr>
          <p:nvPr/>
        </p:nvPicPr>
        <p:blipFill>
          <a:blip r:embed="rId3" cstate="print">
            <a:extLst>
              <a:ext uri="{28A0092B-C50C-407E-A947-70E740481C1C}">
                <a14:useLocalDpi xmlns:a14="http://schemas.microsoft.com/office/drawing/2010/main" val="0"/>
              </a:ext>
            </a:extLst>
          </a:blip>
          <a:srcRect l="2097" t="36154" r="73032" b="39677"/>
          <a:stretch/>
        </p:blipFill>
        <p:spPr>
          <a:xfrm>
            <a:off x="6784777" y="517845"/>
            <a:ext cx="2472218" cy="2399418"/>
          </a:xfrm>
          <a:prstGeom prst="rect">
            <a:avLst/>
          </a:prstGeom>
        </p:spPr>
      </p:pic>
      <p:pic>
        <p:nvPicPr>
          <p:cNvPr id="9" name="Graphic 8" descr="Badge Tick1 with solid fill">
            <a:extLst>
              <a:ext uri="{FF2B5EF4-FFF2-40B4-BE49-F238E27FC236}">
                <a16:creationId xmlns:a16="http://schemas.microsoft.com/office/drawing/2014/main" id="{BB28A600-0F71-8514-FB4D-5435EA35F58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98131" y="317790"/>
            <a:ext cx="836253" cy="836253"/>
          </a:xfrm>
          <a:prstGeom prst="rect">
            <a:avLst/>
          </a:prstGeom>
        </p:spPr>
      </p:pic>
      <p:pic>
        <p:nvPicPr>
          <p:cNvPr id="10" name="Graphic 9" descr="Badge Tick1 with solid fill">
            <a:extLst>
              <a:ext uri="{FF2B5EF4-FFF2-40B4-BE49-F238E27FC236}">
                <a16:creationId xmlns:a16="http://schemas.microsoft.com/office/drawing/2014/main" id="{7D0A00F4-D6B9-0265-916C-3C713CC64ED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90665" y="1568707"/>
            <a:ext cx="836253" cy="836253"/>
          </a:xfrm>
          <a:prstGeom prst="rect">
            <a:avLst/>
          </a:prstGeom>
        </p:spPr>
      </p:pic>
      <p:pic>
        <p:nvPicPr>
          <p:cNvPr id="11" name="Image 5">
            <a:extLst>
              <a:ext uri="{FF2B5EF4-FFF2-40B4-BE49-F238E27FC236}">
                <a16:creationId xmlns:a16="http://schemas.microsoft.com/office/drawing/2014/main" id="{0B241C1C-8631-4790-C980-99D947E4BF02}"/>
              </a:ext>
            </a:extLst>
          </p:cNvPr>
          <p:cNvPicPr>
            <a:picLocks noChangeAspect="1"/>
          </p:cNvPicPr>
          <p:nvPr/>
        </p:nvPicPr>
        <p:blipFill>
          <a:blip r:embed="rId4" cstate="print">
            <a:extLst>
              <a:ext uri="{28A0092B-C50C-407E-A947-70E740481C1C}">
                <a14:useLocalDpi xmlns:a14="http://schemas.microsoft.com/office/drawing/2010/main" val="0"/>
              </a:ext>
            </a:extLst>
          </a:blip>
          <a:srcRect l="58575" t="85463" r="19137" b="-511"/>
          <a:stretch/>
        </p:blipFill>
        <p:spPr bwMode="auto">
          <a:xfrm>
            <a:off x="9896778" y="4736591"/>
            <a:ext cx="1536358" cy="1024898"/>
          </a:xfrm>
          <a:prstGeom prst="rect">
            <a:avLst/>
          </a:prstGeom>
          <a:noFill/>
          <a:ln>
            <a:noFill/>
          </a:ln>
        </p:spPr>
      </p:pic>
      <p:sp>
        <p:nvSpPr>
          <p:cNvPr id="13" name="TextBox 12">
            <a:extLst>
              <a:ext uri="{FF2B5EF4-FFF2-40B4-BE49-F238E27FC236}">
                <a16:creationId xmlns:a16="http://schemas.microsoft.com/office/drawing/2014/main" id="{E4A8ED2A-B129-A49C-FE2A-638096873E52}"/>
              </a:ext>
            </a:extLst>
          </p:cNvPr>
          <p:cNvSpPr txBox="1"/>
          <p:nvPr/>
        </p:nvSpPr>
        <p:spPr>
          <a:xfrm>
            <a:off x="464670" y="317790"/>
            <a:ext cx="2652705" cy="400110"/>
          </a:xfrm>
          <a:prstGeom prst="rect">
            <a:avLst/>
          </a:prstGeom>
          <a:noFill/>
        </p:spPr>
        <p:txBody>
          <a:bodyPr wrap="square">
            <a:spAutoFit/>
          </a:bodyPr>
          <a:lstStyle/>
          <a:p>
            <a:r>
              <a:rPr lang="en-US" sz="2000" b="1" dirty="0"/>
              <a:t>Model predictions</a:t>
            </a:r>
          </a:p>
        </p:txBody>
      </p:sp>
    </p:spTree>
    <p:extLst>
      <p:ext uri="{BB962C8B-B14F-4D97-AF65-F5344CB8AC3E}">
        <p14:creationId xmlns:p14="http://schemas.microsoft.com/office/powerpoint/2010/main" val="1662826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62E72D-0089-B6DD-9CB1-46F3DCFF4D3B}"/>
              </a:ext>
            </a:extLst>
          </p:cNvPr>
          <p:cNvSpPr txBox="1"/>
          <p:nvPr/>
        </p:nvSpPr>
        <p:spPr>
          <a:xfrm>
            <a:off x="623333" y="881505"/>
            <a:ext cx="10696177" cy="2939266"/>
          </a:xfrm>
          <a:prstGeom prst="rect">
            <a:avLst/>
          </a:prstGeom>
          <a:noFill/>
        </p:spPr>
        <p:txBody>
          <a:bodyPr wrap="square">
            <a:spAutoFit/>
          </a:bodyPr>
          <a:lstStyle/>
          <a:p>
            <a:r>
              <a:rPr lang="en-US" sz="1800" b="1" dirty="0">
                <a:effectLst/>
                <a:latin typeface="Times New Roman" panose="02020603050405020304" pitchFamily="18" charset="0"/>
                <a:ea typeface="Calibri" panose="020F0502020204030204" pitchFamily="34" charset="0"/>
              </a:rPr>
              <a:t>4.  The mean MT </a:t>
            </a:r>
            <a:r>
              <a:rPr lang="en-US" sz="1800" dirty="0">
                <a:effectLst/>
                <a:latin typeface="Times New Roman" panose="02020603050405020304" pitchFamily="18" charset="0"/>
                <a:ea typeface="Calibri" panose="020F0502020204030204" pitchFamily="34" charset="0"/>
              </a:rPr>
              <a:t>and</a:t>
            </a:r>
            <a:r>
              <a:rPr lang="en-US" sz="1800" b="1" dirty="0">
                <a:effectLst/>
                <a:latin typeface="Times New Roman" panose="02020603050405020304" pitchFamily="18" charset="0"/>
                <a:ea typeface="Calibri" panose="020F0502020204030204" pitchFamily="34" charset="0"/>
              </a:rPr>
              <a:t> the slope of muscle activation </a:t>
            </a:r>
            <a:r>
              <a:rPr lang="en-US" dirty="0"/>
              <a:t>should not be modulated by coherence and stimulus duration, because the activation of the muscle leading to the response is driven by evidence sampled from the RS.</a:t>
            </a:r>
            <a:endParaRPr lang="en-US" sz="1800" b="1" dirty="0">
              <a:effectLst/>
              <a:latin typeface="Times New Roman" panose="02020603050405020304" pitchFamily="18" charset="0"/>
              <a:ea typeface="Calibri" panose="020F0502020204030204" pitchFamily="34" charset="0"/>
            </a:endParaRPr>
          </a:p>
          <a:p>
            <a:endParaRPr lang="en-US" b="1" dirty="0">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r>
              <a:rPr lang="en-US" dirty="0">
                <a:solidFill>
                  <a:srgbClr val="C00000"/>
                </a:solidFill>
                <a:latin typeface="Times New Roman" panose="02020603050405020304" pitchFamily="18" charset="0"/>
                <a:ea typeface="Calibri" panose="020F0502020204030204" pitchFamily="34" charset="0"/>
              </a:rPr>
              <a:t>Empirical results showed that t</a:t>
            </a:r>
            <a:r>
              <a:rPr lang="en-US" sz="1800" dirty="0">
                <a:solidFill>
                  <a:srgbClr val="C00000"/>
                </a:solidFill>
                <a:effectLst/>
                <a:latin typeface="Times New Roman" panose="02020603050405020304" pitchFamily="18" charset="0"/>
                <a:ea typeface="Calibri" panose="020F0502020204030204" pitchFamily="34" charset="0"/>
              </a:rPr>
              <a:t>he </a:t>
            </a:r>
            <a:r>
              <a:rPr lang="en-US" sz="1800" b="1" dirty="0">
                <a:solidFill>
                  <a:srgbClr val="C00000"/>
                </a:solidFill>
                <a:effectLst/>
                <a:latin typeface="Times New Roman" panose="02020603050405020304" pitchFamily="18" charset="0"/>
                <a:ea typeface="Calibri" panose="020F0502020204030204" pitchFamily="34" charset="0"/>
              </a:rPr>
              <a:t>slope of muscle activation decreased as motion coherence decreased</a:t>
            </a:r>
            <a:r>
              <a:rPr lang="en-US" sz="1800" dirty="0">
                <a:solidFill>
                  <a:srgbClr val="C00000"/>
                </a:solidFill>
                <a:effectLst/>
                <a:latin typeface="Times New Roman" panose="02020603050405020304" pitchFamily="18" charset="0"/>
                <a:ea typeface="Calibri" panose="020F0502020204030204" pitchFamily="34" charset="0"/>
              </a:rPr>
              <a:t>, but the amplitude of this </a:t>
            </a:r>
            <a:r>
              <a:rPr lang="en-US" sz="1800" b="1" dirty="0">
                <a:solidFill>
                  <a:srgbClr val="C00000"/>
                </a:solidFill>
                <a:effectLst/>
                <a:latin typeface="Times New Roman" panose="02020603050405020304" pitchFamily="18" charset="0"/>
                <a:ea typeface="Calibri" panose="020F0502020204030204" pitchFamily="34" charset="0"/>
              </a:rPr>
              <a:t>effect was too small to produce a reliable modulation of mean MT</a:t>
            </a:r>
            <a:r>
              <a:rPr lang="en-US" sz="1800" dirty="0">
                <a:solidFill>
                  <a:srgbClr val="C00000"/>
                </a:solidFill>
                <a:effectLst/>
                <a:latin typeface="Times New Roman" panose="02020603050405020304" pitchFamily="18" charset="0"/>
                <a:ea typeface="Calibri" panose="020F0502020204030204" pitchFamily="34" charset="0"/>
              </a:rPr>
              <a:t>. </a:t>
            </a:r>
          </a:p>
          <a:p>
            <a:pPr marL="285750" indent="-285750">
              <a:buFont typeface="Arial" panose="020B0604020202020204" pitchFamily="34" charset="0"/>
              <a:buChar char="•"/>
            </a:pPr>
            <a:endParaRPr lang="en-US" dirty="0">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These findings suggest that the rate of evidence accumulation in phase 2 is determined by two sources of evidence: </a:t>
            </a:r>
          </a:p>
          <a:p>
            <a:pPr marL="285750" indent="-285750">
              <a:buFont typeface="Arial" panose="020B0604020202020204" pitchFamily="34" charset="0"/>
              <a:buChar char="•"/>
            </a:pPr>
            <a:endParaRPr lang="en-US" sz="500" dirty="0">
              <a:latin typeface="Times New Roman" panose="02020603050405020304" pitchFamily="18" charset="0"/>
              <a:ea typeface="Calibri" panose="020F0502020204030204" pitchFamily="34" charset="0"/>
            </a:endParaRPr>
          </a:p>
          <a:p>
            <a:pPr marL="800100" lvl="1" indent="-342900">
              <a:buFont typeface="+mj-lt"/>
              <a:buAutoNum type="arabicPeriod"/>
            </a:pPr>
            <a:r>
              <a:rPr lang="en-US" dirty="0">
                <a:effectLst/>
                <a:latin typeface="Times New Roman" panose="02020603050405020304" pitchFamily="18" charset="0"/>
                <a:ea typeface="Calibri" panose="020F0502020204030204" pitchFamily="34" charset="0"/>
              </a:rPr>
              <a:t>Evidence sampled from the RS </a:t>
            </a:r>
          </a:p>
          <a:p>
            <a:pPr marL="800100" lvl="1" indent="-342900">
              <a:buFont typeface="+mj-lt"/>
              <a:buAutoNum type="arabicPeriod"/>
            </a:pPr>
            <a:r>
              <a:rPr lang="en-US" dirty="0">
                <a:latin typeface="Times New Roman" panose="02020603050405020304" pitchFamily="18" charset="0"/>
                <a:ea typeface="Calibri" panose="020F0502020204030204" pitchFamily="34" charset="0"/>
              </a:rPr>
              <a:t>E</a:t>
            </a:r>
            <a:r>
              <a:rPr lang="en-US" dirty="0">
                <a:effectLst/>
                <a:latin typeface="Times New Roman" panose="02020603050405020304" pitchFamily="18" charset="0"/>
                <a:ea typeface="Calibri" panose="020F0502020204030204" pitchFamily="34" charset="0"/>
              </a:rPr>
              <a:t>vidence from the motion stimulus retrieved from memory</a:t>
            </a:r>
            <a:r>
              <a:rPr lang="en-US" dirty="0">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to a much lesser extent)</a:t>
            </a:r>
            <a:endParaRPr lang="fr-FR" dirty="0"/>
          </a:p>
        </p:txBody>
      </p:sp>
      <p:pic>
        <p:nvPicPr>
          <p:cNvPr id="4" name="Image 7">
            <a:extLst>
              <a:ext uri="{FF2B5EF4-FFF2-40B4-BE49-F238E27FC236}">
                <a16:creationId xmlns:a16="http://schemas.microsoft.com/office/drawing/2014/main" id="{F1715399-E42B-8E8B-75F6-4EE914884559}"/>
              </a:ext>
            </a:extLst>
          </p:cNvPr>
          <p:cNvPicPr>
            <a:picLocks noChangeAspect="1"/>
          </p:cNvPicPr>
          <p:nvPr/>
        </p:nvPicPr>
        <p:blipFill>
          <a:blip r:embed="rId2" cstate="print">
            <a:extLst>
              <a:ext uri="{28A0092B-C50C-407E-A947-70E740481C1C}">
                <a14:useLocalDpi xmlns:a14="http://schemas.microsoft.com/office/drawing/2010/main" val="0"/>
              </a:ext>
            </a:extLst>
          </a:blip>
          <a:srcRect l="73341" t="36154" r="1042" b="39677"/>
          <a:stretch/>
        </p:blipFill>
        <p:spPr>
          <a:xfrm>
            <a:off x="1146728" y="4283595"/>
            <a:ext cx="2449755" cy="2308324"/>
          </a:xfrm>
          <a:prstGeom prst="rect">
            <a:avLst/>
          </a:prstGeom>
        </p:spPr>
      </p:pic>
      <p:pic>
        <p:nvPicPr>
          <p:cNvPr id="5" name="Image 7">
            <a:extLst>
              <a:ext uri="{FF2B5EF4-FFF2-40B4-BE49-F238E27FC236}">
                <a16:creationId xmlns:a16="http://schemas.microsoft.com/office/drawing/2014/main" id="{B166B3EE-8135-3BF3-0A2F-C66101199C53}"/>
              </a:ext>
            </a:extLst>
          </p:cNvPr>
          <p:cNvPicPr>
            <a:picLocks noChangeAspect="1"/>
          </p:cNvPicPr>
          <p:nvPr/>
        </p:nvPicPr>
        <p:blipFill>
          <a:blip r:embed="rId2" cstate="print">
            <a:extLst>
              <a:ext uri="{28A0092B-C50C-407E-A947-70E740481C1C}">
                <a14:useLocalDpi xmlns:a14="http://schemas.microsoft.com/office/drawing/2010/main" val="0"/>
              </a:ext>
            </a:extLst>
          </a:blip>
          <a:srcRect l="7875" t="26639" r="76963" b="64047"/>
          <a:stretch/>
        </p:blipFill>
        <p:spPr>
          <a:xfrm>
            <a:off x="290146" y="5777964"/>
            <a:ext cx="1068338" cy="655433"/>
          </a:xfrm>
          <a:prstGeom prst="rect">
            <a:avLst/>
          </a:prstGeom>
        </p:spPr>
      </p:pic>
      <p:sp>
        <p:nvSpPr>
          <p:cNvPr id="7" name="TextBox 6">
            <a:extLst>
              <a:ext uri="{FF2B5EF4-FFF2-40B4-BE49-F238E27FC236}">
                <a16:creationId xmlns:a16="http://schemas.microsoft.com/office/drawing/2014/main" id="{17F33A2F-FFD7-45AA-00C5-1084CDFC41E3}"/>
              </a:ext>
            </a:extLst>
          </p:cNvPr>
          <p:cNvSpPr txBox="1"/>
          <p:nvPr/>
        </p:nvSpPr>
        <p:spPr>
          <a:xfrm>
            <a:off x="464670" y="317790"/>
            <a:ext cx="5539890" cy="400110"/>
          </a:xfrm>
          <a:prstGeom prst="rect">
            <a:avLst/>
          </a:prstGeom>
          <a:noFill/>
        </p:spPr>
        <p:txBody>
          <a:bodyPr wrap="square">
            <a:spAutoFit/>
          </a:bodyPr>
          <a:lstStyle/>
          <a:p>
            <a:r>
              <a:rPr lang="en-US" sz="2000" b="1" dirty="0"/>
              <a:t>Model Predictions</a:t>
            </a:r>
          </a:p>
        </p:txBody>
      </p:sp>
      <p:pic>
        <p:nvPicPr>
          <p:cNvPr id="8" name="Image 7">
            <a:extLst>
              <a:ext uri="{FF2B5EF4-FFF2-40B4-BE49-F238E27FC236}">
                <a16:creationId xmlns:a16="http://schemas.microsoft.com/office/drawing/2014/main" id="{2E5752DC-2FF5-4059-6B8F-9FC87323CDD3}"/>
              </a:ext>
            </a:extLst>
          </p:cNvPr>
          <p:cNvPicPr>
            <a:picLocks noChangeAspect="1"/>
          </p:cNvPicPr>
          <p:nvPr/>
        </p:nvPicPr>
        <p:blipFill>
          <a:blip r:embed="rId2" cstate="print">
            <a:extLst>
              <a:ext uri="{28A0092B-C50C-407E-A947-70E740481C1C}">
                <a14:useLocalDpi xmlns:a14="http://schemas.microsoft.com/office/drawing/2010/main" val="0"/>
              </a:ext>
            </a:extLst>
          </a:blip>
          <a:srcRect l="2296" t="71207" r="-238" b="149"/>
          <a:stretch/>
        </p:blipFill>
        <p:spPr>
          <a:xfrm>
            <a:off x="3596483" y="4161055"/>
            <a:ext cx="7891017" cy="2246745"/>
          </a:xfrm>
          <a:prstGeom prst="rect">
            <a:avLst/>
          </a:prstGeom>
        </p:spPr>
      </p:pic>
      <p:pic>
        <p:nvPicPr>
          <p:cNvPr id="9" name="Image 7">
            <a:extLst>
              <a:ext uri="{FF2B5EF4-FFF2-40B4-BE49-F238E27FC236}">
                <a16:creationId xmlns:a16="http://schemas.microsoft.com/office/drawing/2014/main" id="{51FB24D5-7076-BC70-46A9-FFB7DF381EDD}"/>
              </a:ext>
            </a:extLst>
          </p:cNvPr>
          <p:cNvPicPr>
            <a:picLocks noChangeAspect="1"/>
          </p:cNvPicPr>
          <p:nvPr/>
        </p:nvPicPr>
        <p:blipFill>
          <a:blip r:embed="rId2" cstate="print">
            <a:extLst>
              <a:ext uri="{28A0092B-C50C-407E-A947-70E740481C1C}">
                <a14:useLocalDpi xmlns:a14="http://schemas.microsoft.com/office/drawing/2010/main" val="0"/>
              </a:ext>
            </a:extLst>
          </a:blip>
          <a:srcRect l="8241" t="60563" r="80788" b="28508"/>
          <a:stretch/>
        </p:blipFill>
        <p:spPr>
          <a:xfrm>
            <a:off x="10516870" y="3347501"/>
            <a:ext cx="883920" cy="857250"/>
          </a:xfrm>
          <a:prstGeom prst="rect">
            <a:avLst/>
          </a:prstGeom>
        </p:spPr>
      </p:pic>
    </p:spTree>
    <p:extLst>
      <p:ext uri="{BB962C8B-B14F-4D97-AF65-F5344CB8AC3E}">
        <p14:creationId xmlns:p14="http://schemas.microsoft.com/office/powerpoint/2010/main" val="432313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C2C8A-4729-AB7D-35DD-A8EA95929ED8}"/>
            </a:ext>
          </a:extLst>
        </p:cNvPr>
        <p:cNvGrpSpPr/>
        <p:nvPr/>
      </p:nvGrpSpPr>
      <p:grpSpPr>
        <a:xfrm>
          <a:off x="0" y="0"/>
          <a:ext cx="0" cy="0"/>
          <a:chOff x="0" y="0"/>
          <a:chExt cx="0" cy="0"/>
        </a:xfrm>
      </p:grpSpPr>
      <p:sp>
        <p:nvSpPr>
          <p:cNvPr id="8" name="Text Placeholder 6">
            <a:extLst>
              <a:ext uri="{FF2B5EF4-FFF2-40B4-BE49-F238E27FC236}">
                <a16:creationId xmlns:a16="http://schemas.microsoft.com/office/drawing/2014/main" id="{789EC21C-8D85-D374-E0E1-EF5065572AC9}"/>
              </a:ext>
            </a:extLst>
          </p:cNvPr>
          <p:cNvSpPr txBox="1">
            <a:spLocks/>
          </p:cNvSpPr>
          <p:nvPr/>
        </p:nvSpPr>
        <p:spPr>
          <a:xfrm>
            <a:off x="500160" y="315016"/>
            <a:ext cx="3607206" cy="301555"/>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sz="2000" dirty="0">
                <a:latin typeface="Times New Roman" panose="02020603050405020304" pitchFamily="18" charset="0"/>
                <a:ea typeface="Calibri" panose="020F0502020204030204" pitchFamily="34" charset="0"/>
              </a:rPr>
              <a:t>Current research</a:t>
            </a:r>
            <a:endParaRPr lang="fr-FR" sz="2000" i="1" dirty="0"/>
          </a:p>
        </p:txBody>
      </p:sp>
      <p:sp>
        <p:nvSpPr>
          <p:cNvPr id="2" name="TextBox 1">
            <a:extLst>
              <a:ext uri="{FF2B5EF4-FFF2-40B4-BE49-F238E27FC236}">
                <a16:creationId xmlns:a16="http://schemas.microsoft.com/office/drawing/2014/main" id="{050A20B9-50CF-0DC0-54A7-FEE3B58AF335}"/>
              </a:ext>
            </a:extLst>
          </p:cNvPr>
          <p:cNvSpPr txBox="1"/>
          <p:nvPr/>
        </p:nvSpPr>
        <p:spPr>
          <a:xfrm>
            <a:off x="500160" y="823986"/>
            <a:ext cx="11432760" cy="1384995"/>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ea typeface="Calibri" panose="020F0502020204030204" pitchFamily="34" charset="0"/>
              </a:rPr>
              <a:t>We have conducted </a:t>
            </a:r>
            <a:r>
              <a:rPr lang="en-US" b="1" dirty="0">
                <a:latin typeface="Times New Roman" panose="02020603050405020304" pitchFamily="18" charset="0"/>
                <a:ea typeface="Calibri" panose="020F0502020204030204" pitchFamily="34" charset="0"/>
              </a:rPr>
              <a:t>a similar experiment combining EMG and EEG </a:t>
            </a:r>
            <a:r>
              <a:rPr lang="en-US" dirty="0">
                <a:latin typeface="Times New Roman" panose="02020603050405020304" pitchFamily="18" charset="0"/>
                <a:ea typeface="Calibri" panose="020F0502020204030204" pitchFamily="34" charset="0"/>
              </a:rPr>
              <a:t>with 2 levels of stimulus duration (300ms vs 2s) and 3 coherence levels (0%, 12%, 50%). The delay was fixed to 3s. </a:t>
            </a:r>
            <a:r>
              <a:rPr lang="en-US" sz="1200" dirty="0">
                <a:latin typeface="Times New Roman" panose="02020603050405020304" pitchFamily="18" charset="0"/>
                <a:ea typeface="Calibri" panose="020F0502020204030204" pitchFamily="34" charset="0"/>
              </a:rPr>
              <a:t>(</a:t>
            </a:r>
            <a:r>
              <a:rPr lang="en-US" sz="1200" dirty="0"/>
              <a:t>21 subjects: 5 men; mean age = 20.08, range 18-24)</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dirty="0"/>
              <a:t>In this experiment, the response signal was the change in the color of the fixation cross (from blue to yellow).</a:t>
            </a:r>
          </a:p>
          <a:p>
            <a:pPr marL="285750" indent="-285750">
              <a:buFont typeface="Arial" panose="020B0604020202020204" pitchFamily="34" charset="0"/>
              <a:buChar char="•"/>
            </a:pPr>
            <a:endParaRPr lang="fr-FR" dirty="0"/>
          </a:p>
        </p:txBody>
      </p:sp>
      <p:pic>
        <p:nvPicPr>
          <p:cNvPr id="10" name="Picture 9">
            <a:extLst>
              <a:ext uri="{FF2B5EF4-FFF2-40B4-BE49-F238E27FC236}">
                <a16:creationId xmlns:a16="http://schemas.microsoft.com/office/drawing/2014/main" id="{29A2A53A-1AF3-34F8-193E-D5D3537C5F45}"/>
              </a:ext>
            </a:extLst>
          </p:cNvPr>
          <p:cNvPicPr>
            <a:picLocks noChangeAspect="1"/>
          </p:cNvPicPr>
          <p:nvPr/>
        </p:nvPicPr>
        <p:blipFill>
          <a:blip r:embed="rId2"/>
          <a:stretch>
            <a:fillRect/>
          </a:stretch>
        </p:blipFill>
        <p:spPr>
          <a:xfrm>
            <a:off x="1714254" y="2220500"/>
            <a:ext cx="9004572" cy="3468925"/>
          </a:xfrm>
          <a:prstGeom prst="rect">
            <a:avLst/>
          </a:prstGeom>
        </p:spPr>
      </p:pic>
      <p:sp>
        <p:nvSpPr>
          <p:cNvPr id="11" name="TextBox 10">
            <a:extLst>
              <a:ext uri="{FF2B5EF4-FFF2-40B4-BE49-F238E27FC236}">
                <a16:creationId xmlns:a16="http://schemas.microsoft.com/office/drawing/2014/main" id="{AAFC7841-A578-2771-6409-30FEE33439D1}"/>
              </a:ext>
            </a:extLst>
          </p:cNvPr>
          <p:cNvSpPr txBox="1"/>
          <p:nvPr/>
        </p:nvSpPr>
        <p:spPr>
          <a:xfrm>
            <a:off x="252678" y="4781484"/>
            <a:ext cx="6138695" cy="2062103"/>
          </a:xfrm>
          <a:prstGeom prst="rect">
            <a:avLst/>
          </a:prstGeom>
          <a:noFill/>
        </p:spPr>
        <p:txBody>
          <a:bodyPr wrap="square">
            <a:spAutoFit/>
          </a:bodyPr>
          <a:lstStyle/>
          <a:p>
            <a:pPr marL="357188" lvl="1" indent="-285750"/>
            <a:r>
              <a:rPr lang="en-US" sz="1600" dirty="0"/>
              <a:t>960 trials (</a:t>
            </a:r>
            <a:r>
              <a:rPr lang="en-US" sz="1600" b="1" dirty="0"/>
              <a:t>160/condition</a:t>
            </a:r>
            <a:r>
              <a:rPr lang="en-US" sz="1600" dirty="0"/>
              <a:t>)</a:t>
            </a:r>
          </a:p>
          <a:p>
            <a:pPr marL="357188" lvl="1" indent="-285750"/>
            <a:endParaRPr lang="en-US" sz="1600" dirty="0"/>
          </a:p>
          <a:p>
            <a:pPr marL="357188" lvl="1" indent="-285750"/>
            <a:r>
              <a:rPr lang="en-US" sz="1600" b="1" dirty="0">
                <a:solidFill>
                  <a:srgbClr val="C00000"/>
                </a:solidFill>
              </a:rPr>
              <a:t>Goal of the experiment:</a:t>
            </a:r>
          </a:p>
          <a:p>
            <a:pPr marL="357188" lvl="1" indent="-285750">
              <a:buFontTx/>
              <a:buChar char="-"/>
            </a:pPr>
            <a:r>
              <a:rPr lang="en-US" sz="1600" dirty="0">
                <a:solidFill>
                  <a:srgbClr val="C00000"/>
                </a:solidFill>
              </a:rPr>
              <a:t>Test model predictions at the motor preparation level.</a:t>
            </a:r>
          </a:p>
          <a:p>
            <a:pPr marL="357188" lvl="1" indent="-285750">
              <a:buFontTx/>
              <a:buChar char="-"/>
            </a:pPr>
            <a:r>
              <a:rPr lang="en-US" sz="1600" dirty="0">
                <a:solidFill>
                  <a:srgbClr val="C00000"/>
                </a:solidFill>
              </a:rPr>
              <a:t>We hypothesized that activity in the mu-beta band over the motor cortex (but not the LRP) should reflect model dynamics (Rogge et al., 2022, Neuroimage).</a:t>
            </a:r>
          </a:p>
          <a:p>
            <a:pPr marL="357188" lvl="1" indent="-285750"/>
            <a:endParaRPr lang="en-US" sz="1600" dirty="0"/>
          </a:p>
        </p:txBody>
      </p:sp>
    </p:spTree>
    <p:extLst>
      <p:ext uri="{BB962C8B-B14F-4D97-AF65-F5344CB8AC3E}">
        <p14:creationId xmlns:p14="http://schemas.microsoft.com/office/powerpoint/2010/main" val="1593155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F3639-E158-9C10-9383-974D94F4A03A}"/>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024ADA62-20A3-4358-86E5-0E7BCE1EC2DB}"/>
              </a:ext>
            </a:extLst>
          </p:cNvPr>
          <p:cNvSpPr txBox="1"/>
          <p:nvPr/>
        </p:nvSpPr>
        <p:spPr>
          <a:xfrm>
            <a:off x="976512" y="1482818"/>
            <a:ext cx="4120110" cy="338554"/>
          </a:xfrm>
          <a:prstGeom prst="rect">
            <a:avLst/>
          </a:prstGeom>
          <a:noFill/>
        </p:spPr>
        <p:txBody>
          <a:bodyPr wrap="square" rtlCol="0">
            <a:spAutoFit/>
          </a:bodyPr>
          <a:lstStyle/>
          <a:p>
            <a:pPr algn="ctr"/>
            <a:r>
              <a:rPr lang="fr-FR" sz="1600" dirty="0" err="1"/>
              <a:t>Current</a:t>
            </a:r>
            <a:r>
              <a:rPr lang="fr-FR" sz="1600" dirty="0"/>
              <a:t> EEG + EMG </a:t>
            </a:r>
            <a:r>
              <a:rPr lang="fr-FR" sz="1600" dirty="0" err="1"/>
              <a:t>experiment</a:t>
            </a:r>
            <a:r>
              <a:rPr lang="fr-FR" sz="1600" dirty="0"/>
              <a:t> </a:t>
            </a:r>
          </a:p>
        </p:txBody>
      </p:sp>
      <p:pic>
        <p:nvPicPr>
          <p:cNvPr id="62" name="Image 5">
            <a:extLst>
              <a:ext uri="{FF2B5EF4-FFF2-40B4-BE49-F238E27FC236}">
                <a16:creationId xmlns:a16="http://schemas.microsoft.com/office/drawing/2014/main" id="{B3B73EC5-D20C-B726-E302-10F3D82055E4}"/>
              </a:ext>
            </a:extLst>
          </p:cNvPr>
          <p:cNvPicPr>
            <a:picLocks noChangeAspect="1"/>
          </p:cNvPicPr>
          <p:nvPr/>
        </p:nvPicPr>
        <p:blipFill>
          <a:blip r:embed="rId2" cstate="print">
            <a:extLst>
              <a:ext uri="{28A0092B-C50C-407E-A947-70E740481C1C}">
                <a14:useLocalDpi xmlns:a14="http://schemas.microsoft.com/office/drawing/2010/main" val="0"/>
              </a:ext>
            </a:extLst>
          </a:blip>
          <a:srcRect l="59518" t="85463" r="19487" b="-511"/>
          <a:stretch/>
        </p:blipFill>
        <p:spPr bwMode="auto">
          <a:xfrm>
            <a:off x="5398942" y="4531543"/>
            <a:ext cx="1545417" cy="1094405"/>
          </a:xfrm>
          <a:prstGeom prst="rect">
            <a:avLst/>
          </a:prstGeom>
          <a:noFill/>
          <a:ln>
            <a:noFill/>
          </a:ln>
        </p:spPr>
      </p:pic>
      <p:pic>
        <p:nvPicPr>
          <p:cNvPr id="63" name="Image 5">
            <a:extLst>
              <a:ext uri="{FF2B5EF4-FFF2-40B4-BE49-F238E27FC236}">
                <a16:creationId xmlns:a16="http://schemas.microsoft.com/office/drawing/2014/main" id="{63E6E4D0-C679-64A8-D772-8CE01967698A}"/>
              </a:ext>
            </a:extLst>
          </p:cNvPr>
          <p:cNvPicPr>
            <a:picLocks noChangeAspect="1"/>
          </p:cNvPicPr>
          <p:nvPr/>
        </p:nvPicPr>
        <p:blipFill>
          <a:blip r:embed="rId2" cstate="print">
            <a:extLst>
              <a:ext uri="{28A0092B-C50C-407E-A947-70E740481C1C}">
                <a14:useLocalDpi xmlns:a14="http://schemas.microsoft.com/office/drawing/2010/main" val="0"/>
              </a:ext>
            </a:extLst>
          </a:blip>
          <a:srcRect l="43252" t="85463" r="40392" b="-511"/>
          <a:stretch/>
        </p:blipFill>
        <p:spPr bwMode="auto">
          <a:xfrm>
            <a:off x="5421802" y="2971200"/>
            <a:ext cx="1545417" cy="1404799"/>
          </a:xfrm>
          <a:prstGeom prst="rect">
            <a:avLst/>
          </a:prstGeom>
          <a:noFill/>
          <a:ln>
            <a:noFill/>
          </a:ln>
        </p:spPr>
      </p:pic>
      <p:pic>
        <p:nvPicPr>
          <p:cNvPr id="64" name="Picture 63">
            <a:extLst>
              <a:ext uri="{FF2B5EF4-FFF2-40B4-BE49-F238E27FC236}">
                <a16:creationId xmlns:a16="http://schemas.microsoft.com/office/drawing/2014/main" id="{31CC8C0A-B8F4-6A7C-4565-C27F26F81770}"/>
              </a:ext>
            </a:extLst>
          </p:cNvPr>
          <p:cNvPicPr>
            <a:picLocks noChangeAspect="1"/>
          </p:cNvPicPr>
          <p:nvPr/>
        </p:nvPicPr>
        <p:blipFill>
          <a:blip r:embed="rId3"/>
          <a:srcRect l="1334" t="1288" r="1596" b="1751"/>
          <a:stretch/>
        </p:blipFill>
        <p:spPr>
          <a:xfrm>
            <a:off x="7045959" y="1870262"/>
            <a:ext cx="4542988" cy="4762500"/>
          </a:xfrm>
          <a:prstGeom prst="rect">
            <a:avLst/>
          </a:prstGeom>
        </p:spPr>
      </p:pic>
      <p:pic>
        <p:nvPicPr>
          <p:cNvPr id="65" name="Picture 64">
            <a:extLst>
              <a:ext uri="{FF2B5EF4-FFF2-40B4-BE49-F238E27FC236}">
                <a16:creationId xmlns:a16="http://schemas.microsoft.com/office/drawing/2014/main" id="{21A5BA8C-74AC-C00B-7B20-3C7B5DBC1B29}"/>
              </a:ext>
            </a:extLst>
          </p:cNvPr>
          <p:cNvPicPr>
            <a:picLocks noChangeAspect="1"/>
          </p:cNvPicPr>
          <p:nvPr/>
        </p:nvPicPr>
        <p:blipFill>
          <a:blip r:embed="rId4"/>
          <a:srcRect l="1573" t="1288" r="2526" b="1751"/>
          <a:stretch/>
        </p:blipFill>
        <p:spPr>
          <a:xfrm>
            <a:off x="792478" y="1870262"/>
            <a:ext cx="4488181" cy="4762500"/>
          </a:xfrm>
          <a:prstGeom prst="rect">
            <a:avLst/>
          </a:prstGeom>
        </p:spPr>
      </p:pic>
      <p:sp>
        <p:nvSpPr>
          <p:cNvPr id="66" name="TextBox 65">
            <a:extLst>
              <a:ext uri="{FF2B5EF4-FFF2-40B4-BE49-F238E27FC236}">
                <a16:creationId xmlns:a16="http://schemas.microsoft.com/office/drawing/2014/main" id="{3ABB8835-BF68-CD96-D38D-43ABC387ECD3}"/>
              </a:ext>
            </a:extLst>
          </p:cNvPr>
          <p:cNvSpPr txBox="1"/>
          <p:nvPr/>
        </p:nvSpPr>
        <p:spPr>
          <a:xfrm>
            <a:off x="7256938" y="1482818"/>
            <a:ext cx="4296439" cy="338554"/>
          </a:xfrm>
          <a:prstGeom prst="rect">
            <a:avLst/>
          </a:prstGeom>
          <a:noFill/>
        </p:spPr>
        <p:txBody>
          <a:bodyPr wrap="square" rtlCol="0">
            <a:spAutoFit/>
          </a:bodyPr>
          <a:lstStyle/>
          <a:p>
            <a:pPr algn="ctr"/>
            <a:r>
              <a:rPr lang="fr-FR" sz="1600" dirty="0" err="1"/>
              <a:t>Previous</a:t>
            </a:r>
            <a:r>
              <a:rPr lang="fr-FR" sz="1600" dirty="0"/>
              <a:t> </a:t>
            </a:r>
            <a:r>
              <a:rPr lang="fr-FR" sz="1600" dirty="0" err="1"/>
              <a:t>similar</a:t>
            </a:r>
            <a:r>
              <a:rPr lang="fr-FR" sz="1600" dirty="0"/>
              <a:t> EMG </a:t>
            </a:r>
            <a:r>
              <a:rPr lang="fr-FR" sz="1600" dirty="0" err="1"/>
              <a:t>experiment</a:t>
            </a:r>
            <a:r>
              <a:rPr lang="fr-FR" sz="1600" dirty="0"/>
              <a:t> </a:t>
            </a:r>
          </a:p>
        </p:txBody>
      </p:sp>
      <p:sp>
        <p:nvSpPr>
          <p:cNvPr id="68" name="TextBox 67">
            <a:extLst>
              <a:ext uri="{FF2B5EF4-FFF2-40B4-BE49-F238E27FC236}">
                <a16:creationId xmlns:a16="http://schemas.microsoft.com/office/drawing/2014/main" id="{27B5ADAD-A8C4-6409-2B48-935AE60D895C}"/>
              </a:ext>
            </a:extLst>
          </p:cNvPr>
          <p:cNvSpPr txBox="1"/>
          <p:nvPr/>
        </p:nvSpPr>
        <p:spPr>
          <a:xfrm>
            <a:off x="669274" y="561787"/>
            <a:ext cx="11050471" cy="646331"/>
          </a:xfrm>
          <a:prstGeom prst="rect">
            <a:avLst/>
          </a:prstGeom>
          <a:noFill/>
        </p:spPr>
        <p:txBody>
          <a:bodyPr wrap="square" rtlCol="0">
            <a:spAutoFit/>
          </a:bodyPr>
          <a:lstStyle/>
          <a:p>
            <a:pPr marL="285750" indent="-285750">
              <a:buFont typeface="Arial" panose="020B0604020202020204" pitchFamily="34" charset="0"/>
              <a:buChar char="•"/>
            </a:pPr>
            <a:r>
              <a:rPr lang="en-US" dirty="0"/>
              <a:t>We found similar behavioral and EMG results, with the exception that the EMG slopes were not significantly modulated by motion coherence. </a:t>
            </a:r>
            <a:endParaRPr lang="fr-FR" dirty="0"/>
          </a:p>
        </p:txBody>
      </p:sp>
      <p:sp>
        <p:nvSpPr>
          <p:cNvPr id="69" name="Rectangle: Rounded Corners 68">
            <a:extLst>
              <a:ext uri="{FF2B5EF4-FFF2-40B4-BE49-F238E27FC236}">
                <a16:creationId xmlns:a16="http://schemas.microsoft.com/office/drawing/2014/main" id="{1621C982-B728-7A10-5841-29D55D0AE9BD}"/>
              </a:ext>
            </a:extLst>
          </p:cNvPr>
          <p:cNvSpPr/>
          <p:nvPr/>
        </p:nvSpPr>
        <p:spPr>
          <a:xfrm>
            <a:off x="638623" y="1433928"/>
            <a:ext cx="4795889" cy="5198834"/>
          </a:xfrm>
          <a:prstGeom prst="roundRect">
            <a:avLst>
              <a:gd name="adj" fmla="val 2617"/>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Rounded Corners 69">
            <a:extLst>
              <a:ext uri="{FF2B5EF4-FFF2-40B4-BE49-F238E27FC236}">
                <a16:creationId xmlns:a16="http://schemas.microsoft.com/office/drawing/2014/main" id="{94501BA6-EAC6-9249-4D90-731D4AC66866}"/>
              </a:ext>
            </a:extLst>
          </p:cNvPr>
          <p:cNvSpPr/>
          <p:nvPr/>
        </p:nvSpPr>
        <p:spPr>
          <a:xfrm>
            <a:off x="6947254" y="1433928"/>
            <a:ext cx="4795889" cy="5198834"/>
          </a:xfrm>
          <a:prstGeom prst="roundRect">
            <a:avLst>
              <a:gd name="adj" fmla="val 2617"/>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Title 1">
            <a:extLst>
              <a:ext uri="{FF2B5EF4-FFF2-40B4-BE49-F238E27FC236}">
                <a16:creationId xmlns:a16="http://schemas.microsoft.com/office/drawing/2014/main" id="{131F98AE-2E5C-194E-7561-CF94546D5571}"/>
              </a:ext>
            </a:extLst>
          </p:cNvPr>
          <p:cNvSpPr txBox="1">
            <a:spLocks/>
          </p:cNvSpPr>
          <p:nvPr/>
        </p:nvSpPr>
        <p:spPr>
          <a:xfrm>
            <a:off x="58366" y="95141"/>
            <a:ext cx="7723762" cy="360078"/>
          </a:xfrm>
          <a:prstGeom prst="rect">
            <a:avLst/>
          </a:prstGeom>
          <a:noFill/>
          <a:ln>
            <a:noFill/>
          </a:ln>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t>  EMG and behavioral results</a:t>
            </a:r>
            <a:endParaRPr lang="fr-FR" sz="1800" dirty="0"/>
          </a:p>
        </p:txBody>
      </p:sp>
    </p:spTree>
    <p:extLst>
      <p:ext uri="{BB962C8B-B14F-4D97-AF65-F5344CB8AC3E}">
        <p14:creationId xmlns:p14="http://schemas.microsoft.com/office/powerpoint/2010/main" val="414024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0EEF5-7F56-EA88-A4DB-876ED031ACB1}"/>
              </a:ext>
            </a:extLst>
          </p:cNvPr>
          <p:cNvSpPr txBox="1">
            <a:spLocks/>
          </p:cNvSpPr>
          <p:nvPr/>
        </p:nvSpPr>
        <p:spPr>
          <a:xfrm>
            <a:off x="58366" y="95141"/>
            <a:ext cx="6539658" cy="360078"/>
          </a:xfrm>
          <a:prstGeom prst="rect">
            <a:avLst/>
          </a:prstGeom>
          <a:noFill/>
          <a:ln>
            <a:noFill/>
          </a:ln>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t>  EEG Preprocessing: </a:t>
            </a:r>
            <a:r>
              <a:rPr lang="en-US" sz="1800" dirty="0"/>
              <a:t>ICA to remove eye movement artifacts</a:t>
            </a:r>
            <a:endParaRPr lang="fr-FR" sz="1800" dirty="0"/>
          </a:p>
        </p:txBody>
      </p:sp>
      <p:sp>
        <p:nvSpPr>
          <p:cNvPr id="5" name="TextBox 4">
            <a:extLst>
              <a:ext uri="{FF2B5EF4-FFF2-40B4-BE49-F238E27FC236}">
                <a16:creationId xmlns:a16="http://schemas.microsoft.com/office/drawing/2014/main" id="{A8FE60A3-7096-4D5F-0824-BFF661EA2FE9}"/>
              </a:ext>
            </a:extLst>
          </p:cNvPr>
          <p:cNvSpPr txBox="1"/>
          <p:nvPr/>
        </p:nvSpPr>
        <p:spPr>
          <a:xfrm>
            <a:off x="572141" y="781980"/>
            <a:ext cx="1117178" cy="307777"/>
          </a:xfrm>
          <a:prstGeom prst="rect">
            <a:avLst/>
          </a:prstGeom>
          <a:noFill/>
        </p:spPr>
        <p:txBody>
          <a:bodyPr wrap="square">
            <a:spAutoFit/>
          </a:bodyPr>
          <a:lstStyle/>
          <a:p>
            <a:pPr algn="ctr"/>
            <a:r>
              <a:rPr lang="en-US" sz="1400" b="1" dirty="0"/>
              <a:t>Raw signal</a:t>
            </a:r>
            <a:endParaRPr lang="fr-FR" sz="1400" b="1" dirty="0"/>
          </a:p>
        </p:txBody>
      </p:sp>
      <p:sp>
        <p:nvSpPr>
          <p:cNvPr id="6" name="TextBox 5">
            <a:extLst>
              <a:ext uri="{FF2B5EF4-FFF2-40B4-BE49-F238E27FC236}">
                <a16:creationId xmlns:a16="http://schemas.microsoft.com/office/drawing/2014/main" id="{D7518C1F-63CF-B1CB-9874-00CD20F8934B}"/>
              </a:ext>
            </a:extLst>
          </p:cNvPr>
          <p:cNvSpPr txBox="1"/>
          <p:nvPr/>
        </p:nvSpPr>
        <p:spPr>
          <a:xfrm>
            <a:off x="2362385" y="669383"/>
            <a:ext cx="1260190" cy="469359"/>
          </a:xfrm>
          <a:prstGeom prst="rect">
            <a:avLst/>
          </a:prstGeom>
          <a:noFill/>
        </p:spPr>
        <p:txBody>
          <a:bodyPr wrap="square">
            <a:spAutoFit/>
          </a:bodyPr>
          <a:lstStyle/>
          <a:p>
            <a:pPr algn="ctr"/>
            <a:r>
              <a:rPr lang="en-US" sz="1400" b="1" dirty="0">
                <a:solidFill>
                  <a:schemeClr val="accent4"/>
                </a:solidFill>
              </a:rPr>
              <a:t>Filter signal </a:t>
            </a:r>
            <a:r>
              <a:rPr lang="en-US" sz="1050" dirty="0"/>
              <a:t>(0.1 - 40Hz) </a:t>
            </a:r>
            <a:endParaRPr lang="fr-FR" sz="1400" dirty="0"/>
          </a:p>
        </p:txBody>
      </p:sp>
      <p:sp>
        <p:nvSpPr>
          <p:cNvPr id="7" name="TextBox 6">
            <a:extLst>
              <a:ext uri="{FF2B5EF4-FFF2-40B4-BE49-F238E27FC236}">
                <a16:creationId xmlns:a16="http://schemas.microsoft.com/office/drawing/2014/main" id="{0C591234-4ACA-480A-593B-E4E2742AD5B1}"/>
              </a:ext>
            </a:extLst>
          </p:cNvPr>
          <p:cNvSpPr txBox="1"/>
          <p:nvPr/>
        </p:nvSpPr>
        <p:spPr>
          <a:xfrm>
            <a:off x="4490749" y="1198900"/>
            <a:ext cx="1462579" cy="430887"/>
          </a:xfrm>
          <a:prstGeom prst="rect">
            <a:avLst/>
          </a:prstGeom>
          <a:noFill/>
        </p:spPr>
        <p:txBody>
          <a:bodyPr wrap="square">
            <a:spAutoFit/>
          </a:bodyPr>
          <a:lstStyle/>
          <a:p>
            <a:pPr algn="ctr"/>
            <a:r>
              <a:rPr lang="en-US" sz="1050" i="1" dirty="0"/>
              <a:t>Filter signal 1 Hz and compute ICA on epoch</a:t>
            </a:r>
            <a:endParaRPr lang="fr-FR" sz="1050" i="1" dirty="0"/>
          </a:p>
        </p:txBody>
      </p:sp>
      <p:pic>
        <p:nvPicPr>
          <p:cNvPr id="11" name="Picture 10">
            <a:extLst>
              <a:ext uri="{FF2B5EF4-FFF2-40B4-BE49-F238E27FC236}">
                <a16:creationId xmlns:a16="http://schemas.microsoft.com/office/drawing/2014/main" id="{0D23DE79-2E16-DF22-2138-D638F5731D92}"/>
              </a:ext>
            </a:extLst>
          </p:cNvPr>
          <p:cNvPicPr>
            <a:picLocks noChangeAspect="1"/>
          </p:cNvPicPr>
          <p:nvPr/>
        </p:nvPicPr>
        <p:blipFill>
          <a:blip r:embed="rId3"/>
          <a:stretch>
            <a:fillRect/>
          </a:stretch>
        </p:blipFill>
        <p:spPr>
          <a:xfrm>
            <a:off x="2245875" y="1149400"/>
            <a:ext cx="1493210" cy="5394040"/>
          </a:xfrm>
          <a:prstGeom prst="rect">
            <a:avLst/>
          </a:prstGeom>
          <a:ln w="19050">
            <a:solidFill>
              <a:schemeClr val="accent4"/>
            </a:solidFill>
          </a:ln>
        </p:spPr>
      </p:pic>
      <p:pic>
        <p:nvPicPr>
          <p:cNvPr id="13" name="Picture 12">
            <a:extLst>
              <a:ext uri="{FF2B5EF4-FFF2-40B4-BE49-F238E27FC236}">
                <a16:creationId xmlns:a16="http://schemas.microsoft.com/office/drawing/2014/main" id="{4315F163-783C-0E53-0F37-6B09B1F7745B}"/>
              </a:ext>
            </a:extLst>
          </p:cNvPr>
          <p:cNvPicPr>
            <a:picLocks noChangeAspect="1"/>
          </p:cNvPicPr>
          <p:nvPr/>
        </p:nvPicPr>
        <p:blipFill>
          <a:blip r:embed="rId4"/>
          <a:stretch>
            <a:fillRect/>
          </a:stretch>
        </p:blipFill>
        <p:spPr>
          <a:xfrm>
            <a:off x="417808" y="1149400"/>
            <a:ext cx="1513260" cy="5394040"/>
          </a:xfrm>
          <a:prstGeom prst="rect">
            <a:avLst/>
          </a:prstGeom>
          <a:ln>
            <a:solidFill>
              <a:schemeClr val="tx1"/>
            </a:solidFill>
          </a:ln>
        </p:spPr>
      </p:pic>
      <p:pic>
        <p:nvPicPr>
          <p:cNvPr id="15" name="Picture 14">
            <a:extLst>
              <a:ext uri="{FF2B5EF4-FFF2-40B4-BE49-F238E27FC236}">
                <a16:creationId xmlns:a16="http://schemas.microsoft.com/office/drawing/2014/main" id="{50070FC8-3FD4-1482-F06B-BF4DD56B1C8A}"/>
              </a:ext>
            </a:extLst>
          </p:cNvPr>
          <p:cNvPicPr>
            <a:picLocks noChangeAspect="1"/>
          </p:cNvPicPr>
          <p:nvPr/>
        </p:nvPicPr>
        <p:blipFill>
          <a:blip r:embed="rId5"/>
          <a:stretch>
            <a:fillRect/>
          </a:stretch>
        </p:blipFill>
        <p:spPr>
          <a:xfrm>
            <a:off x="4599964" y="1701089"/>
            <a:ext cx="1231527" cy="4385342"/>
          </a:xfrm>
          <a:prstGeom prst="rect">
            <a:avLst/>
          </a:prstGeom>
          <a:ln>
            <a:solidFill>
              <a:schemeClr val="tx1"/>
            </a:solidFill>
          </a:ln>
        </p:spPr>
      </p:pic>
      <p:pic>
        <p:nvPicPr>
          <p:cNvPr id="17" name="Picture 16">
            <a:extLst>
              <a:ext uri="{FF2B5EF4-FFF2-40B4-BE49-F238E27FC236}">
                <a16:creationId xmlns:a16="http://schemas.microsoft.com/office/drawing/2014/main" id="{3BD8F0DB-1893-584A-E1DC-413D6A06781C}"/>
              </a:ext>
            </a:extLst>
          </p:cNvPr>
          <p:cNvPicPr>
            <a:picLocks noChangeAspect="1"/>
          </p:cNvPicPr>
          <p:nvPr/>
        </p:nvPicPr>
        <p:blipFill>
          <a:blip r:embed="rId6"/>
          <a:stretch>
            <a:fillRect/>
          </a:stretch>
        </p:blipFill>
        <p:spPr>
          <a:xfrm>
            <a:off x="8442496" y="1274514"/>
            <a:ext cx="1433314" cy="5382340"/>
          </a:xfrm>
          <a:prstGeom prst="rect">
            <a:avLst/>
          </a:prstGeom>
          <a:ln w="12700">
            <a:solidFill>
              <a:schemeClr val="accent2"/>
            </a:solidFill>
          </a:ln>
        </p:spPr>
      </p:pic>
      <p:sp>
        <p:nvSpPr>
          <p:cNvPr id="18" name="TextBox 17">
            <a:extLst>
              <a:ext uri="{FF2B5EF4-FFF2-40B4-BE49-F238E27FC236}">
                <a16:creationId xmlns:a16="http://schemas.microsoft.com/office/drawing/2014/main" id="{633A4261-AF98-D2DC-0FE6-2082FA639A3B}"/>
              </a:ext>
            </a:extLst>
          </p:cNvPr>
          <p:cNvSpPr txBox="1"/>
          <p:nvPr/>
        </p:nvSpPr>
        <p:spPr>
          <a:xfrm>
            <a:off x="8421121" y="695759"/>
            <a:ext cx="1513260" cy="523220"/>
          </a:xfrm>
          <a:prstGeom prst="rect">
            <a:avLst/>
          </a:prstGeom>
          <a:noFill/>
        </p:spPr>
        <p:txBody>
          <a:bodyPr wrap="square">
            <a:spAutoFit/>
          </a:bodyPr>
          <a:lstStyle/>
          <a:p>
            <a:pPr algn="ctr"/>
            <a:r>
              <a:rPr lang="en-US" sz="1400" b="1" dirty="0">
                <a:solidFill>
                  <a:schemeClr val="accent2"/>
                </a:solidFill>
              </a:rPr>
              <a:t>Epoch No ICA</a:t>
            </a:r>
          </a:p>
          <a:p>
            <a:pPr algn="ctr"/>
            <a:r>
              <a:rPr lang="en-US" sz="1400" dirty="0"/>
              <a:t> </a:t>
            </a:r>
            <a:r>
              <a:rPr lang="en-US" sz="1050" dirty="0"/>
              <a:t>(0.1 - 40Hz filter)</a:t>
            </a:r>
            <a:endParaRPr lang="en-US" sz="1400" dirty="0"/>
          </a:p>
        </p:txBody>
      </p:sp>
      <p:sp>
        <p:nvSpPr>
          <p:cNvPr id="19" name="TextBox 18">
            <a:extLst>
              <a:ext uri="{FF2B5EF4-FFF2-40B4-BE49-F238E27FC236}">
                <a16:creationId xmlns:a16="http://schemas.microsoft.com/office/drawing/2014/main" id="{1F3EEEAF-AAF5-88F7-4C63-DC9B1FCCA5A4}"/>
              </a:ext>
            </a:extLst>
          </p:cNvPr>
          <p:cNvSpPr txBox="1"/>
          <p:nvPr/>
        </p:nvSpPr>
        <p:spPr>
          <a:xfrm>
            <a:off x="10189212" y="671907"/>
            <a:ext cx="1513260" cy="523220"/>
          </a:xfrm>
          <a:prstGeom prst="rect">
            <a:avLst/>
          </a:prstGeom>
          <a:noFill/>
        </p:spPr>
        <p:txBody>
          <a:bodyPr wrap="square">
            <a:spAutoFit/>
          </a:bodyPr>
          <a:lstStyle/>
          <a:p>
            <a:pPr algn="ctr"/>
            <a:r>
              <a:rPr lang="en-US" sz="1400" b="1" dirty="0">
                <a:solidFill>
                  <a:schemeClr val="accent6"/>
                </a:solidFill>
              </a:rPr>
              <a:t>Epoch ICA</a:t>
            </a:r>
          </a:p>
          <a:p>
            <a:pPr algn="ctr"/>
            <a:r>
              <a:rPr lang="en-US" sz="1400" dirty="0"/>
              <a:t> </a:t>
            </a:r>
            <a:r>
              <a:rPr lang="en-US" sz="1050" dirty="0"/>
              <a:t>(0.1 - 40Hz filter)</a:t>
            </a:r>
            <a:endParaRPr lang="en-US" sz="1400" dirty="0"/>
          </a:p>
        </p:txBody>
      </p:sp>
      <p:sp>
        <p:nvSpPr>
          <p:cNvPr id="20" name="TextBox 19">
            <a:extLst>
              <a:ext uri="{FF2B5EF4-FFF2-40B4-BE49-F238E27FC236}">
                <a16:creationId xmlns:a16="http://schemas.microsoft.com/office/drawing/2014/main" id="{3A791AC6-F6C2-4B13-0CFF-DF9C8E9B37B3}"/>
              </a:ext>
            </a:extLst>
          </p:cNvPr>
          <p:cNvSpPr txBox="1"/>
          <p:nvPr/>
        </p:nvSpPr>
        <p:spPr>
          <a:xfrm>
            <a:off x="6133138" y="1218979"/>
            <a:ext cx="1416905" cy="415498"/>
          </a:xfrm>
          <a:prstGeom prst="rect">
            <a:avLst/>
          </a:prstGeom>
          <a:noFill/>
        </p:spPr>
        <p:txBody>
          <a:bodyPr wrap="square">
            <a:spAutoFit/>
          </a:bodyPr>
          <a:lstStyle/>
          <a:p>
            <a:pPr algn="ctr"/>
            <a:r>
              <a:rPr lang="en-US" sz="1050" i="1" dirty="0"/>
              <a:t>Select ICs components</a:t>
            </a:r>
          </a:p>
          <a:p>
            <a:pPr algn="ctr"/>
            <a:r>
              <a:rPr lang="en-US" sz="1050" i="1" dirty="0"/>
              <a:t>of interest </a:t>
            </a:r>
          </a:p>
        </p:txBody>
      </p:sp>
      <p:grpSp>
        <p:nvGrpSpPr>
          <p:cNvPr id="44" name="Group 43">
            <a:extLst>
              <a:ext uri="{FF2B5EF4-FFF2-40B4-BE49-F238E27FC236}">
                <a16:creationId xmlns:a16="http://schemas.microsoft.com/office/drawing/2014/main" id="{8FC94735-6EE0-373D-F90D-9465D149D541}"/>
              </a:ext>
            </a:extLst>
          </p:cNvPr>
          <p:cNvGrpSpPr/>
          <p:nvPr/>
        </p:nvGrpSpPr>
        <p:grpSpPr>
          <a:xfrm>
            <a:off x="6223520" y="1663008"/>
            <a:ext cx="1231527" cy="4423423"/>
            <a:chOff x="8076068" y="1094660"/>
            <a:chExt cx="1486460" cy="5382340"/>
          </a:xfrm>
        </p:grpSpPr>
        <p:pic>
          <p:nvPicPr>
            <p:cNvPr id="24" name="Picture 23">
              <a:extLst>
                <a:ext uri="{FF2B5EF4-FFF2-40B4-BE49-F238E27FC236}">
                  <a16:creationId xmlns:a16="http://schemas.microsoft.com/office/drawing/2014/main" id="{7E660237-134E-DC92-B813-98CDD52CD1C3}"/>
                </a:ext>
              </a:extLst>
            </p:cNvPr>
            <p:cNvPicPr>
              <a:picLocks noChangeAspect="1"/>
            </p:cNvPicPr>
            <p:nvPr/>
          </p:nvPicPr>
          <p:blipFill>
            <a:blip r:embed="rId7"/>
            <a:stretch>
              <a:fillRect/>
            </a:stretch>
          </p:blipFill>
          <p:spPr>
            <a:xfrm>
              <a:off x="8076069" y="1094660"/>
              <a:ext cx="1486459" cy="5382340"/>
            </a:xfrm>
            <a:prstGeom prst="rect">
              <a:avLst/>
            </a:prstGeom>
            <a:ln>
              <a:solidFill>
                <a:schemeClr val="tx1"/>
              </a:solidFill>
            </a:ln>
          </p:spPr>
        </p:pic>
        <p:sp>
          <p:nvSpPr>
            <p:cNvPr id="25" name="Rectangle 24">
              <a:extLst>
                <a:ext uri="{FF2B5EF4-FFF2-40B4-BE49-F238E27FC236}">
                  <a16:creationId xmlns:a16="http://schemas.microsoft.com/office/drawing/2014/main" id="{AF3CE757-0BAC-F5D7-A0C1-499580FA3E1A}"/>
                </a:ext>
              </a:extLst>
            </p:cNvPr>
            <p:cNvSpPr/>
            <p:nvPr/>
          </p:nvSpPr>
          <p:spPr>
            <a:xfrm>
              <a:off x="8076069" y="1155700"/>
              <a:ext cx="1486459" cy="196850"/>
            </a:xfrm>
            <a:prstGeom prst="rect">
              <a:avLst/>
            </a:prstGeom>
            <a:solidFill>
              <a:srgbClr val="FF0000">
                <a:alpha val="10196"/>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77C5DD68-A0ED-4FE0-FB4E-8D7D3F705F97}"/>
                </a:ext>
              </a:extLst>
            </p:cNvPr>
            <p:cNvSpPr/>
            <p:nvPr/>
          </p:nvSpPr>
          <p:spPr>
            <a:xfrm>
              <a:off x="8076068" y="6020687"/>
              <a:ext cx="1486459" cy="196850"/>
            </a:xfrm>
            <a:prstGeom prst="rect">
              <a:avLst/>
            </a:prstGeom>
            <a:solidFill>
              <a:srgbClr val="FF0000">
                <a:alpha val="10196"/>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28" name="Straight Arrow Connector 27">
            <a:extLst>
              <a:ext uri="{FF2B5EF4-FFF2-40B4-BE49-F238E27FC236}">
                <a16:creationId xmlns:a16="http://schemas.microsoft.com/office/drawing/2014/main" id="{1BBBD888-09AD-9EF1-3F56-7FC55FFE4E4B}"/>
              </a:ext>
            </a:extLst>
          </p:cNvPr>
          <p:cNvCxnSpPr>
            <a:cxnSpLocks/>
          </p:cNvCxnSpPr>
          <p:nvPr/>
        </p:nvCxnSpPr>
        <p:spPr>
          <a:xfrm flipH="1">
            <a:off x="9000221" y="3761718"/>
            <a:ext cx="190500" cy="18821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37" name="Graphic 36" descr="Play with solid fill">
            <a:extLst>
              <a:ext uri="{FF2B5EF4-FFF2-40B4-BE49-F238E27FC236}">
                <a16:creationId xmlns:a16="http://schemas.microsoft.com/office/drawing/2014/main" id="{A1CA8046-17D8-630C-BD0F-843FA157515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14398" y="3672229"/>
            <a:ext cx="360079" cy="360079"/>
          </a:xfrm>
          <a:prstGeom prst="rect">
            <a:avLst/>
          </a:prstGeom>
        </p:spPr>
      </p:pic>
      <p:pic>
        <p:nvPicPr>
          <p:cNvPr id="39" name="Graphic 38" descr="Play with solid fill">
            <a:extLst>
              <a:ext uri="{FF2B5EF4-FFF2-40B4-BE49-F238E27FC236}">
                <a16:creationId xmlns:a16="http://schemas.microsoft.com/office/drawing/2014/main" id="{9D145A23-2772-85CB-E351-324E3D2BA88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09187" y="3815879"/>
            <a:ext cx="360079" cy="360079"/>
          </a:xfrm>
          <a:prstGeom prst="rect">
            <a:avLst/>
          </a:prstGeom>
        </p:spPr>
      </p:pic>
      <p:pic>
        <p:nvPicPr>
          <p:cNvPr id="41" name="Picture 40">
            <a:extLst>
              <a:ext uri="{FF2B5EF4-FFF2-40B4-BE49-F238E27FC236}">
                <a16:creationId xmlns:a16="http://schemas.microsoft.com/office/drawing/2014/main" id="{D862C495-94E9-4985-2536-268458D6899E}"/>
              </a:ext>
            </a:extLst>
          </p:cNvPr>
          <p:cNvPicPr>
            <a:picLocks noChangeAspect="1"/>
          </p:cNvPicPr>
          <p:nvPr/>
        </p:nvPicPr>
        <p:blipFill>
          <a:blip r:embed="rId10"/>
          <a:stretch>
            <a:fillRect/>
          </a:stretch>
        </p:blipFill>
        <p:spPr>
          <a:xfrm>
            <a:off x="10243811" y="1252125"/>
            <a:ext cx="1433314" cy="5409766"/>
          </a:xfrm>
          <a:prstGeom prst="rect">
            <a:avLst/>
          </a:prstGeom>
          <a:ln w="12700">
            <a:solidFill>
              <a:schemeClr val="accent6"/>
            </a:solidFill>
          </a:ln>
        </p:spPr>
      </p:pic>
      <p:pic>
        <p:nvPicPr>
          <p:cNvPr id="46" name="Graphic 45" descr="Back with solid fill">
            <a:extLst>
              <a:ext uri="{FF2B5EF4-FFF2-40B4-BE49-F238E27FC236}">
                <a16:creationId xmlns:a16="http://schemas.microsoft.com/office/drawing/2014/main" id="{55B79C8F-A8A3-A0AE-CF1D-FE02819ED66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38842" y="2688337"/>
            <a:ext cx="635063" cy="635063"/>
          </a:xfrm>
          <a:prstGeom prst="rect">
            <a:avLst/>
          </a:prstGeom>
        </p:spPr>
      </p:pic>
      <p:sp>
        <p:nvSpPr>
          <p:cNvPr id="8" name="Rectangle 7">
            <a:extLst>
              <a:ext uri="{FF2B5EF4-FFF2-40B4-BE49-F238E27FC236}">
                <a16:creationId xmlns:a16="http://schemas.microsoft.com/office/drawing/2014/main" id="{70B14E57-9B43-0301-8095-968DDCE3EEA6}"/>
              </a:ext>
            </a:extLst>
          </p:cNvPr>
          <p:cNvSpPr/>
          <p:nvPr/>
        </p:nvSpPr>
        <p:spPr>
          <a:xfrm>
            <a:off x="4453979" y="1142978"/>
            <a:ext cx="3139686" cy="505259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extBox 8">
            <a:extLst>
              <a:ext uri="{FF2B5EF4-FFF2-40B4-BE49-F238E27FC236}">
                <a16:creationId xmlns:a16="http://schemas.microsoft.com/office/drawing/2014/main" id="{8FB4E10B-BCA4-0C9A-8B8E-127EC0392AA7}"/>
              </a:ext>
            </a:extLst>
          </p:cNvPr>
          <p:cNvSpPr txBox="1"/>
          <p:nvPr/>
        </p:nvSpPr>
        <p:spPr>
          <a:xfrm>
            <a:off x="4932409" y="749555"/>
            <a:ext cx="2103531" cy="307777"/>
          </a:xfrm>
          <a:prstGeom prst="rect">
            <a:avLst/>
          </a:prstGeom>
          <a:noFill/>
        </p:spPr>
        <p:txBody>
          <a:bodyPr wrap="square">
            <a:spAutoFit/>
          </a:bodyPr>
          <a:lstStyle/>
          <a:p>
            <a:pPr algn="ctr"/>
            <a:r>
              <a:rPr lang="en-US" sz="1400" b="1" dirty="0">
                <a:solidFill>
                  <a:srgbClr val="C00000"/>
                </a:solidFill>
              </a:rPr>
              <a:t>Apply ICA on Epochs </a:t>
            </a:r>
            <a:endParaRPr lang="fr-FR" sz="1400" dirty="0">
              <a:solidFill>
                <a:srgbClr val="C00000"/>
              </a:solidFill>
            </a:endParaRPr>
          </a:p>
        </p:txBody>
      </p:sp>
      <p:cxnSp>
        <p:nvCxnSpPr>
          <p:cNvPr id="10" name="Straight Arrow Connector 9">
            <a:extLst>
              <a:ext uri="{FF2B5EF4-FFF2-40B4-BE49-F238E27FC236}">
                <a16:creationId xmlns:a16="http://schemas.microsoft.com/office/drawing/2014/main" id="{3DCEB42A-862F-BF1F-FEAA-4064250EBAE2}"/>
              </a:ext>
            </a:extLst>
          </p:cNvPr>
          <p:cNvCxnSpPr>
            <a:cxnSpLocks/>
          </p:cNvCxnSpPr>
          <p:nvPr/>
        </p:nvCxnSpPr>
        <p:spPr>
          <a:xfrm flipH="1">
            <a:off x="10755342" y="3757470"/>
            <a:ext cx="190500" cy="18821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DFB7602D-83B5-EF81-1C1B-4B4231A07D97}"/>
              </a:ext>
            </a:extLst>
          </p:cNvPr>
          <p:cNvSpPr txBox="1"/>
          <p:nvPr/>
        </p:nvSpPr>
        <p:spPr>
          <a:xfrm>
            <a:off x="8506189" y="6145740"/>
            <a:ext cx="1343124" cy="461665"/>
          </a:xfrm>
          <a:prstGeom prst="rect">
            <a:avLst/>
          </a:prstGeom>
          <a:solidFill>
            <a:schemeClr val="bg1"/>
          </a:solidFill>
          <a:ln>
            <a:solidFill>
              <a:schemeClr val="accent2"/>
            </a:solidFill>
          </a:ln>
        </p:spPr>
        <p:txBody>
          <a:bodyPr wrap="square">
            <a:spAutoFit/>
          </a:bodyPr>
          <a:lstStyle/>
          <a:p>
            <a:pPr algn="ctr"/>
            <a:r>
              <a:rPr lang="da-DK" sz="1200" b="1" dirty="0">
                <a:highlight>
                  <a:srgbClr val="FFFFFF"/>
                </a:highlight>
              </a:rPr>
              <a:t>Before ICA : </a:t>
            </a:r>
          </a:p>
          <a:p>
            <a:pPr algn="ctr"/>
            <a:r>
              <a:rPr lang="da-DK" sz="1200" b="1" dirty="0">
                <a:solidFill>
                  <a:schemeClr val="accent2"/>
                </a:solidFill>
                <a:highlight>
                  <a:srgbClr val="FFFFFF"/>
                </a:highlight>
              </a:rPr>
              <a:t>57.7%</a:t>
            </a:r>
            <a:r>
              <a:rPr lang="da-DK" sz="1200" b="1" dirty="0">
                <a:highlight>
                  <a:srgbClr val="FFFFFF"/>
                </a:highlight>
              </a:rPr>
              <a:t> </a:t>
            </a:r>
            <a:r>
              <a:rPr lang="da-DK" sz="1200" dirty="0">
                <a:highlight>
                  <a:srgbClr val="FFFFFF"/>
                </a:highlight>
              </a:rPr>
              <a:t>valid trials</a:t>
            </a:r>
            <a:endParaRPr lang="fr-FR" sz="1200" dirty="0"/>
          </a:p>
        </p:txBody>
      </p:sp>
      <p:sp>
        <p:nvSpPr>
          <p:cNvPr id="27" name="TextBox 26">
            <a:extLst>
              <a:ext uri="{FF2B5EF4-FFF2-40B4-BE49-F238E27FC236}">
                <a16:creationId xmlns:a16="http://schemas.microsoft.com/office/drawing/2014/main" id="{659F14D1-9F68-13D2-8178-D7AE8EA9A85D}"/>
              </a:ext>
            </a:extLst>
          </p:cNvPr>
          <p:cNvSpPr txBox="1"/>
          <p:nvPr/>
        </p:nvSpPr>
        <p:spPr>
          <a:xfrm>
            <a:off x="10301691" y="6162764"/>
            <a:ext cx="1339075" cy="461665"/>
          </a:xfrm>
          <a:prstGeom prst="rect">
            <a:avLst/>
          </a:prstGeom>
          <a:solidFill>
            <a:schemeClr val="bg1"/>
          </a:solidFill>
          <a:ln>
            <a:solidFill>
              <a:schemeClr val="accent6"/>
            </a:solidFill>
          </a:ln>
        </p:spPr>
        <p:txBody>
          <a:bodyPr wrap="square">
            <a:spAutoFit/>
          </a:bodyPr>
          <a:lstStyle/>
          <a:p>
            <a:pPr algn="ctr"/>
            <a:r>
              <a:rPr lang="da-DK" sz="1200" b="1" dirty="0">
                <a:highlight>
                  <a:srgbClr val="FFFFFF"/>
                </a:highlight>
              </a:rPr>
              <a:t>After ICA :</a:t>
            </a:r>
          </a:p>
          <a:p>
            <a:pPr algn="ctr"/>
            <a:r>
              <a:rPr lang="da-DK" sz="1200" b="1" dirty="0">
                <a:highlight>
                  <a:srgbClr val="FFFFFF"/>
                </a:highlight>
              </a:rPr>
              <a:t> </a:t>
            </a:r>
            <a:r>
              <a:rPr lang="da-DK" sz="1200" b="1" dirty="0">
                <a:solidFill>
                  <a:schemeClr val="accent6"/>
                </a:solidFill>
                <a:highlight>
                  <a:srgbClr val="FFFFFF"/>
                </a:highlight>
              </a:rPr>
              <a:t>92.6%</a:t>
            </a:r>
            <a:r>
              <a:rPr lang="da-DK" sz="1200" dirty="0">
                <a:highlight>
                  <a:srgbClr val="FFFFFF"/>
                </a:highlight>
              </a:rPr>
              <a:t> valid trials</a:t>
            </a:r>
            <a:endParaRPr lang="fr-FR" sz="1200" dirty="0"/>
          </a:p>
        </p:txBody>
      </p:sp>
      <p:sp>
        <p:nvSpPr>
          <p:cNvPr id="3" name="TextBox 2">
            <a:extLst>
              <a:ext uri="{FF2B5EF4-FFF2-40B4-BE49-F238E27FC236}">
                <a16:creationId xmlns:a16="http://schemas.microsoft.com/office/drawing/2014/main" id="{F01C4C3E-7360-F819-68AD-B6587E346ABE}"/>
              </a:ext>
            </a:extLst>
          </p:cNvPr>
          <p:cNvSpPr txBox="1"/>
          <p:nvPr/>
        </p:nvSpPr>
        <p:spPr>
          <a:xfrm>
            <a:off x="9566426" y="79682"/>
            <a:ext cx="2568332" cy="307777"/>
          </a:xfrm>
          <a:prstGeom prst="rect">
            <a:avLst/>
          </a:prstGeom>
          <a:noFill/>
        </p:spPr>
        <p:txBody>
          <a:bodyPr wrap="none" rtlCol="0">
            <a:spAutoFit/>
          </a:bodyPr>
          <a:lstStyle/>
          <a:p>
            <a:r>
              <a:rPr lang="fr-FR" sz="1400" dirty="0"/>
              <a:t>64 </a:t>
            </a:r>
            <a:r>
              <a:rPr lang="fr-FR" sz="1400" dirty="0" err="1"/>
              <a:t>eeg</a:t>
            </a:r>
            <a:r>
              <a:rPr lang="fr-FR" sz="1400" dirty="0"/>
              <a:t> channels, </a:t>
            </a:r>
            <a:r>
              <a:rPr lang="fr-FR" sz="1400" dirty="0" err="1"/>
              <a:t>Biosemi</a:t>
            </a:r>
            <a:r>
              <a:rPr lang="fr-FR" sz="1400" dirty="0"/>
              <a:t> system</a:t>
            </a:r>
          </a:p>
        </p:txBody>
      </p:sp>
    </p:spTree>
    <p:extLst>
      <p:ext uri="{BB962C8B-B14F-4D97-AF65-F5344CB8AC3E}">
        <p14:creationId xmlns:p14="http://schemas.microsoft.com/office/powerpoint/2010/main" val="3997049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AD92A-75E4-58EF-5AC7-D1C0C4F47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99700-02FE-C5B6-E381-81E47E49B754}"/>
              </a:ext>
            </a:extLst>
          </p:cNvPr>
          <p:cNvSpPr txBox="1">
            <a:spLocks/>
          </p:cNvSpPr>
          <p:nvPr/>
        </p:nvSpPr>
        <p:spPr>
          <a:xfrm>
            <a:off x="58366" y="95141"/>
            <a:ext cx="7723762" cy="360078"/>
          </a:xfrm>
          <a:prstGeom prst="rect">
            <a:avLst/>
          </a:prstGeom>
          <a:noFill/>
          <a:ln>
            <a:noFill/>
          </a:ln>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t>  EEG Preprocessing: </a:t>
            </a:r>
            <a:r>
              <a:rPr lang="en-US" sz="1800" dirty="0"/>
              <a:t>Current source density (CSD)</a:t>
            </a:r>
            <a:endParaRPr lang="fr-FR" sz="1800" dirty="0"/>
          </a:p>
        </p:txBody>
      </p:sp>
      <p:cxnSp>
        <p:nvCxnSpPr>
          <p:cNvPr id="45" name="Straight Connector 44">
            <a:extLst>
              <a:ext uri="{FF2B5EF4-FFF2-40B4-BE49-F238E27FC236}">
                <a16:creationId xmlns:a16="http://schemas.microsoft.com/office/drawing/2014/main" id="{D0B40386-6C4B-9DBA-8A2F-6594B09CB334}"/>
              </a:ext>
            </a:extLst>
          </p:cNvPr>
          <p:cNvCxnSpPr/>
          <p:nvPr/>
        </p:nvCxnSpPr>
        <p:spPr>
          <a:xfrm>
            <a:off x="6318250" y="1257300"/>
            <a:ext cx="0" cy="5295900"/>
          </a:xfrm>
          <a:prstGeom prst="line">
            <a:avLst/>
          </a:prstGeom>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2B46AEE7-C237-1B18-D737-20A41DC9A67D}"/>
              </a:ext>
            </a:extLst>
          </p:cNvPr>
          <p:cNvSpPr txBox="1"/>
          <p:nvPr/>
        </p:nvSpPr>
        <p:spPr>
          <a:xfrm>
            <a:off x="4046427" y="952920"/>
            <a:ext cx="1682884" cy="276999"/>
          </a:xfrm>
          <a:prstGeom prst="rect">
            <a:avLst/>
          </a:prstGeom>
          <a:noFill/>
        </p:spPr>
        <p:txBody>
          <a:bodyPr wrap="square">
            <a:spAutoFit/>
          </a:bodyPr>
          <a:lstStyle/>
          <a:p>
            <a:pPr algn="ctr"/>
            <a:r>
              <a:rPr lang="fr-FR" sz="1200" b="1" dirty="0"/>
              <a:t>Stimulus time-</a:t>
            </a:r>
            <a:r>
              <a:rPr lang="fr-FR" sz="1200" b="1" dirty="0" err="1"/>
              <a:t>locked</a:t>
            </a:r>
            <a:endParaRPr lang="fr-FR" sz="1200" b="1" dirty="0"/>
          </a:p>
        </p:txBody>
      </p:sp>
      <p:sp>
        <p:nvSpPr>
          <p:cNvPr id="55" name="TextBox 54">
            <a:extLst>
              <a:ext uri="{FF2B5EF4-FFF2-40B4-BE49-F238E27FC236}">
                <a16:creationId xmlns:a16="http://schemas.microsoft.com/office/drawing/2014/main" id="{9EAE71E0-D1E8-711D-8858-3E43113424B6}"/>
              </a:ext>
            </a:extLst>
          </p:cNvPr>
          <p:cNvSpPr txBox="1"/>
          <p:nvPr/>
        </p:nvSpPr>
        <p:spPr>
          <a:xfrm>
            <a:off x="8043654" y="952919"/>
            <a:ext cx="1682884" cy="276999"/>
          </a:xfrm>
          <a:prstGeom prst="rect">
            <a:avLst/>
          </a:prstGeom>
          <a:noFill/>
        </p:spPr>
        <p:txBody>
          <a:bodyPr wrap="square">
            <a:spAutoFit/>
          </a:bodyPr>
          <a:lstStyle/>
          <a:p>
            <a:pPr algn="ctr"/>
            <a:r>
              <a:rPr lang="fr-FR" sz="1200" b="1" dirty="0"/>
              <a:t>Response time-</a:t>
            </a:r>
            <a:r>
              <a:rPr lang="fr-FR" sz="1200" b="1" dirty="0" err="1"/>
              <a:t>locked</a:t>
            </a:r>
            <a:endParaRPr lang="fr-FR" sz="1200" b="1" dirty="0"/>
          </a:p>
        </p:txBody>
      </p:sp>
      <p:cxnSp>
        <p:nvCxnSpPr>
          <p:cNvPr id="47" name="Straight Connector 46">
            <a:extLst>
              <a:ext uri="{FF2B5EF4-FFF2-40B4-BE49-F238E27FC236}">
                <a16:creationId xmlns:a16="http://schemas.microsoft.com/office/drawing/2014/main" id="{0B9F0351-4985-DAF3-BDE7-D8D99EE06C9F}"/>
              </a:ext>
            </a:extLst>
          </p:cNvPr>
          <p:cNvCxnSpPr>
            <a:cxnSpLocks/>
          </p:cNvCxnSpPr>
          <p:nvPr/>
        </p:nvCxnSpPr>
        <p:spPr>
          <a:xfrm>
            <a:off x="3920247" y="3824370"/>
            <a:ext cx="7391400" cy="0"/>
          </a:xfrm>
          <a:prstGeom prst="line">
            <a:avLst/>
          </a:prstGeom>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7E64A397-E43B-2440-5A8B-34182F807282}"/>
              </a:ext>
            </a:extLst>
          </p:cNvPr>
          <p:cNvSpPr txBox="1"/>
          <p:nvPr/>
        </p:nvSpPr>
        <p:spPr>
          <a:xfrm>
            <a:off x="1632030" y="4964193"/>
            <a:ext cx="2099048" cy="707886"/>
          </a:xfrm>
          <a:prstGeom prst="rect">
            <a:avLst/>
          </a:prstGeom>
          <a:noFill/>
        </p:spPr>
        <p:txBody>
          <a:bodyPr wrap="square" rtlCol="0">
            <a:spAutoFit/>
          </a:bodyPr>
          <a:lstStyle/>
          <a:p>
            <a:pPr algn="r"/>
            <a:r>
              <a:rPr lang="fr-FR" sz="1600" dirty="0" err="1"/>
              <a:t>Stiffness</a:t>
            </a:r>
            <a:r>
              <a:rPr lang="fr-FR" sz="1600" dirty="0"/>
              <a:t> = 3</a:t>
            </a:r>
          </a:p>
          <a:p>
            <a:pPr algn="r"/>
            <a:r>
              <a:rPr lang="fr-FR" sz="1200" dirty="0"/>
              <a:t>(spatial </a:t>
            </a:r>
            <a:r>
              <a:rPr lang="fr-FR" sz="1200" dirty="0" err="1"/>
              <a:t>resolution</a:t>
            </a:r>
            <a:r>
              <a:rPr lang="fr-FR" sz="1200" dirty="0"/>
              <a:t> </a:t>
            </a:r>
            <a:r>
              <a:rPr lang="fr-FR" sz="1200" dirty="0" err="1"/>
              <a:t>increases</a:t>
            </a:r>
            <a:r>
              <a:rPr lang="fr-FR" sz="1200" dirty="0"/>
              <a:t>, </a:t>
            </a:r>
          </a:p>
          <a:p>
            <a:pPr algn="r"/>
            <a:r>
              <a:rPr lang="fr-FR" sz="1200" dirty="0"/>
              <a:t>but more </a:t>
            </a:r>
            <a:r>
              <a:rPr lang="fr-FR" sz="1200" dirty="0" err="1"/>
              <a:t>noisy</a:t>
            </a:r>
            <a:r>
              <a:rPr lang="fr-FR" sz="1200" dirty="0"/>
              <a:t>)</a:t>
            </a:r>
          </a:p>
        </p:txBody>
      </p:sp>
      <p:pic>
        <p:nvPicPr>
          <p:cNvPr id="57" name="Picture 56">
            <a:extLst>
              <a:ext uri="{FF2B5EF4-FFF2-40B4-BE49-F238E27FC236}">
                <a16:creationId xmlns:a16="http://schemas.microsoft.com/office/drawing/2014/main" id="{8D30DAB1-F16B-EF7F-F556-8BCBBB3610C2}"/>
              </a:ext>
            </a:extLst>
          </p:cNvPr>
          <p:cNvPicPr>
            <a:picLocks noChangeAspect="1"/>
          </p:cNvPicPr>
          <p:nvPr/>
        </p:nvPicPr>
        <p:blipFill>
          <a:blip r:embed="rId2"/>
          <a:stretch>
            <a:fillRect/>
          </a:stretch>
        </p:blipFill>
        <p:spPr>
          <a:xfrm>
            <a:off x="3852361" y="4183019"/>
            <a:ext cx="2266949" cy="1944380"/>
          </a:xfrm>
          <a:prstGeom prst="rect">
            <a:avLst/>
          </a:prstGeom>
        </p:spPr>
      </p:pic>
      <p:pic>
        <p:nvPicPr>
          <p:cNvPr id="58" name="Picture 57">
            <a:extLst>
              <a:ext uri="{FF2B5EF4-FFF2-40B4-BE49-F238E27FC236}">
                <a16:creationId xmlns:a16="http://schemas.microsoft.com/office/drawing/2014/main" id="{7D3C586C-08A3-BAC6-93C3-D7DE730FC6E0}"/>
              </a:ext>
            </a:extLst>
          </p:cNvPr>
          <p:cNvPicPr>
            <a:picLocks noChangeAspect="1"/>
          </p:cNvPicPr>
          <p:nvPr/>
        </p:nvPicPr>
        <p:blipFill>
          <a:blip r:embed="rId3"/>
          <a:stretch>
            <a:fillRect/>
          </a:stretch>
        </p:blipFill>
        <p:spPr>
          <a:xfrm>
            <a:off x="9193008" y="4234271"/>
            <a:ext cx="2293812" cy="1967419"/>
          </a:xfrm>
          <a:prstGeom prst="rect">
            <a:avLst/>
          </a:prstGeom>
        </p:spPr>
      </p:pic>
      <p:pic>
        <p:nvPicPr>
          <p:cNvPr id="60" name="Picture 59">
            <a:extLst>
              <a:ext uri="{FF2B5EF4-FFF2-40B4-BE49-F238E27FC236}">
                <a16:creationId xmlns:a16="http://schemas.microsoft.com/office/drawing/2014/main" id="{D28BF7C9-BF5B-5C8B-DD32-272304406E9A}"/>
              </a:ext>
            </a:extLst>
          </p:cNvPr>
          <p:cNvPicPr>
            <a:picLocks noChangeAspect="1"/>
          </p:cNvPicPr>
          <p:nvPr/>
        </p:nvPicPr>
        <p:blipFill>
          <a:blip r:embed="rId4"/>
          <a:stretch>
            <a:fillRect/>
          </a:stretch>
        </p:blipFill>
        <p:spPr>
          <a:xfrm>
            <a:off x="6620298" y="4253856"/>
            <a:ext cx="2306129" cy="1977984"/>
          </a:xfrm>
          <a:prstGeom prst="rect">
            <a:avLst/>
          </a:prstGeom>
        </p:spPr>
      </p:pic>
      <p:grpSp>
        <p:nvGrpSpPr>
          <p:cNvPr id="67" name="Group 66">
            <a:extLst>
              <a:ext uri="{FF2B5EF4-FFF2-40B4-BE49-F238E27FC236}">
                <a16:creationId xmlns:a16="http://schemas.microsoft.com/office/drawing/2014/main" id="{456A29E5-CB0E-267F-80E5-227AD545E107}"/>
              </a:ext>
            </a:extLst>
          </p:cNvPr>
          <p:cNvGrpSpPr/>
          <p:nvPr/>
        </p:nvGrpSpPr>
        <p:grpSpPr>
          <a:xfrm>
            <a:off x="2367290" y="1398978"/>
            <a:ext cx="9263442" cy="2138324"/>
            <a:chOff x="2347835" y="4096554"/>
            <a:chExt cx="9263442" cy="2138324"/>
          </a:xfrm>
        </p:grpSpPr>
        <p:sp>
          <p:nvSpPr>
            <p:cNvPr id="51" name="TextBox 50">
              <a:extLst>
                <a:ext uri="{FF2B5EF4-FFF2-40B4-BE49-F238E27FC236}">
                  <a16:creationId xmlns:a16="http://schemas.microsoft.com/office/drawing/2014/main" id="{872FB9A7-B1FD-5393-FBF5-E1106027EDD8}"/>
                </a:ext>
              </a:extLst>
            </p:cNvPr>
            <p:cNvSpPr txBox="1"/>
            <p:nvPr/>
          </p:nvSpPr>
          <p:spPr>
            <a:xfrm>
              <a:off x="2347835" y="4928885"/>
              <a:ext cx="1222899" cy="523220"/>
            </a:xfrm>
            <a:prstGeom prst="rect">
              <a:avLst/>
            </a:prstGeom>
            <a:noFill/>
          </p:spPr>
          <p:txBody>
            <a:bodyPr wrap="none" rtlCol="0">
              <a:spAutoFit/>
            </a:bodyPr>
            <a:lstStyle/>
            <a:p>
              <a:pPr algn="r"/>
              <a:r>
                <a:rPr lang="fr-FR" sz="1600" dirty="0" err="1"/>
                <a:t>Stiffness</a:t>
              </a:r>
              <a:r>
                <a:rPr lang="fr-FR" sz="1600" dirty="0"/>
                <a:t> = 4</a:t>
              </a:r>
            </a:p>
            <a:p>
              <a:pPr algn="r"/>
              <a:r>
                <a:rPr lang="fr-FR" sz="1200" dirty="0"/>
                <a:t>(default)</a:t>
              </a:r>
            </a:p>
          </p:txBody>
        </p:sp>
        <p:pic>
          <p:nvPicPr>
            <p:cNvPr id="56" name="Picture 55">
              <a:extLst>
                <a:ext uri="{FF2B5EF4-FFF2-40B4-BE49-F238E27FC236}">
                  <a16:creationId xmlns:a16="http://schemas.microsoft.com/office/drawing/2014/main" id="{A0E9BEB8-5C50-C595-EE82-6198F3B9069B}"/>
                </a:ext>
              </a:extLst>
            </p:cNvPr>
            <p:cNvPicPr>
              <a:picLocks noChangeAspect="1"/>
            </p:cNvPicPr>
            <p:nvPr/>
          </p:nvPicPr>
          <p:blipFill>
            <a:blip r:embed="rId5"/>
            <a:stretch>
              <a:fillRect/>
            </a:stretch>
          </p:blipFill>
          <p:spPr>
            <a:xfrm>
              <a:off x="3813299" y="4102904"/>
              <a:ext cx="2262385" cy="1955368"/>
            </a:xfrm>
            <a:prstGeom prst="rect">
              <a:avLst/>
            </a:prstGeom>
          </p:spPr>
        </p:pic>
        <p:pic>
          <p:nvPicPr>
            <p:cNvPr id="61" name="Picture 60">
              <a:extLst>
                <a:ext uri="{FF2B5EF4-FFF2-40B4-BE49-F238E27FC236}">
                  <a16:creationId xmlns:a16="http://schemas.microsoft.com/office/drawing/2014/main" id="{FC44E4C7-C65C-47C7-2B71-47F2E3B18E09}"/>
                </a:ext>
              </a:extLst>
            </p:cNvPr>
            <p:cNvPicPr>
              <a:picLocks noChangeAspect="1"/>
            </p:cNvPicPr>
            <p:nvPr/>
          </p:nvPicPr>
          <p:blipFill>
            <a:blip r:embed="rId6"/>
            <a:stretch>
              <a:fillRect/>
            </a:stretch>
          </p:blipFill>
          <p:spPr>
            <a:xfrm>
              <a:off x="9169697" y="4096554"/>
              <a:ext cx="2441580" cy="2094162"/>
            </a:xfrm>
            <a:prstGeom prst="rect">
              <a:avLst/>
            </a:prstGeom>
          </p:spPr>
        </p:pic>
        <p:pic>
          <p:nvPicPr>
            <p:cNvPr id="63" name="Picture 62">
              <a:extLst>
                <a:ext uri="{FF2B5EF4-FFF2-40B4-BE49-F238E27FC236}">
                  <a16:creationId xmlns:a16="http://schemas.microsoft.com/office/drawing/2014/main" id="{C6119626-B3A0-1831-1B40-DFD4DB6777BB}"/>
                </a:ext>
              </a:extLst>
            </p:cNvPr>
            <p:cNvPicPr>
              <a:picLocks noChangeAspect="1"/>
            </p:cNvPicPr>
            <p:nvPr/>
          </p:nvPicPr>
          <p:blipFill>
            <a:blip r:embed="rId7"/>
            <a:stretch>
              <a:fillRect/>
            </a:stretch>
          </p:blipFill>
          <p:spPr>
            <a:xfrm>
              <a:off x="6540502" y="4144061"/>
              <a:ext cx="2419101" cy="2090817"/>
            </a:xfrm>
            <a:prstGeom prst="rect">
              <a:avLst/>
            </a:prstGeom>
          </p:spPr>
        </p:pic>
      </p:grpSp>
      <p:sp>
        <p:nvSpPr>
          <p:cNvPr id="64" name="TextBox 63">
            <a:extLst>
              <a:ext uri="{FF2B5EF4-FFF2-40B4-BE49-F238E27FC236}">
                <a16:creationId xmlns:a16="http://schemas.microsoft.com/office/drawing/2014/main" id="{CFF38CFD-037F-E8D2-31F8-F8CF00B28FA8}"/>
              </a:ext>
            </a:extLst>
          </p:cNvPr>
          <p:cNvSpPr txBox="1"/>
          <p:nvPr/>
        </p:nvSpPr>
        <p:spPr>
          <a:xfrm>
            <a:off x="9231266" y="3639865"/>
            <a:ext cx="2255554" cy="276999"/>
          </a:xfrm>
          <a:prstGeom prst="rect">
            <a:avLst/>
          </a:prstGeom>
          <a:solidFill>
            <a:schemeClr val="bg1"/>
          </a:solidFill>
          <a:ln>
            <a:solidFill>
              <a:schemeClr val="tx1"/>
            </a:solidFill>
          </a:ln>
        </p:spPr>
        <p:txBody>
          <a:bodyPr wrap="none" rtlCol="0">
            <a:spAutoFit/>
          </a:bodyPr>
          <a:lstStyle/>
          <a:p>
            <a:r>
              <a:rPr lang="fr-FR" sz="1200" dirty="0"/>
              <a:t>Mu-beta (STFT, </a:t>
            </a:r>
            <a:r>
              <a:rPr lang="fr-FR" sz="1200" dirty="0" err="1"/>
              <a:t>window</a:t>
            </a:r>
            <a:r>
              <a:rPr lang="fr-FR" sz="1200" dirty="0"/>
              <a:t> 600 ms)</a:t>
            </a:r>
          </a:p>
        </p:txBody>
      </p:sp>
      <p:sp>
        <p:nvSpPr>
          <p:cNvPr id="65" name="TextBox 64">
            <a:extLst>
              <a:ext uri="{FF2B5EF4-FFF2-40B4-BE49-F238E27FC236}">
                <a16:creationId xmlns:a16="http://schemas.microsoft.com/office/drawing/2014/main" id="{6801B706-93BB-1A01-C16F-AE1EA845FDA1}"/>
              </a:ext>
            </a:extLst>
          </p:cNvPr>
          <p:cNvSpPr txBox="1"/>
          <p:nvPr/>
        </p:nvSpPr>
        <p:spPr>
          <a:xfrm>
            <a:off x="6654800" y="3686205"/>
            <a:ext cx="1909497" cy="276999"/>
          </a:xfrm>
          <a:prstGeom prst="rect">
            <a:avLst/>
          </a:prstGeom>
          <a:solidFill>
            <a:schemeClr val="bg1"/>
          </a:solidFill>
          <a:ln>
            <a:solidFill>
              <a:schemeClr val="tx1"/>
            </a:solidFill>
          </a:ln>
        </p:spPr>
        <p:txBody>
          <a:bodyPr wrap="none" rtlCol="0">
            <a:spAutoFit/>
          </a:bodyPr>
          <a:lstStyle/>
          <a:p>
            <a:r>
              <a:rPr lang="fr-FR" sz="1200" dirty="0"/>
              <a:t>LRP: right </a:t>
            </a:r>
            <a:r>
              <a:rPr lang="fr-FR" sz="1200" dirty="0" err="1"/>
              <a:t>press</a:t>
            </a:r>
            <a:r>
              <a:rPr lang="fr-FR" sz="1200" dirty="0"/>
              <a:t> – </a:t>
            </a:r>
            <a:r>
              <a:rPr lang="fr-FR" sz="1200" dirty="0" err="1"/>
              <a:t>left</a:t>
            </a:r>
            <a:r>
              <a:rPr lang="fr-FR" sz="1200" dirty="0"/>
              <a:t> </a:t>
            </a:r>
            <a:r>
              <a:rPr lang="fr-FR" sz="1200" dirty="0" err="1"/>
              <a:t>press</a:t>
            </a:r>
            <a:endParaRPr lang="fr-FR" sz="1200" dirty="0"/>
          </a:p>
        </p:txBody>
      </p:sp>
      <p:sp>
        <p:nvSpPr>
          <p:cNvPr id="66" name="TextBox 65">
            <a:extLst>
              <a:ext uri="{FF2B5EF4-FFF2-40B4-BE49-F238E27FC236}">
                <a16:creationId xmlns:a16="http://schemas.microsoft.com/office/drawing/2014/main" id="{F0F7DE45-E5CE-CCAF-9D6D-5F94657E2885}"/>
              </a:ext>
            </a:extLst>
          </p:cNvPr>
          <p:cNvSpPr txBox="1"/>
          <p:nvPr/>
        </p:nvSpPr>
        <p:spPr>
          <a:xfrm>
            <a:off x="4613207" y="3684200"/>
            <a:ext cx="457176" cy="276999"/>
          </a:xfrm>
          <a:prstGeom prst="rect">
            <a:avLst/>
          </a:prstGeom>
          <a:solidFill>
            <a:schemeClr val="bg1"/>
          </a:solidFill>
          <a:ln>
            <a:solidFill>
              <a:schemeClr val="tx1"/>
            </a:solidFill>
          </a:ln>
        </p:spPr>
        <p:txBody>
          <a:bodyPr wrap="none" rtlCol="0">
            <a:spAutoFit/>
          </a:bodyPr>
          <a:lstStyle/>
          <a:p>
            <a:r>
              <a:rPr lang="fr-FR" sz="1200" dirty="0"/>
              <a:t>CPP</a:t>
            </a:r>
          </a:p>
        </p:txBody>
      </p:sp>
      <p:sp>
        <p:nvSpPr>
          <p:cNvPr id="71" name="TextBox 70">
            <a:extLst>
              <a:ext uri="{FF2B5EF4-FFF2-40B4-BE49-F238E27FC236}">
                <a16:creationId xmlns:a16="http://schemas.microsoft.com/office/drawing/2014/main" id="{C1CFB603-F5F8-6903-DAD3-606C56C8C7C9}"/>
              </a:ext>
            </a:extLst>
          </p:cNvPr>
          <p:cNvSpPr txBox="1"/>
          <p:nvPr/>
        </p:nvSpPr>
        <p:spPr>
          <a:xfrm>
            <a:off x="187236" y="629753"/>
            <a:ext cx="3280385" cy="1200329"/>
          </a:xfrm>
          <a:prstGeom prst="rect">
            <a:avLst/>
          </a:prstGeom>
          <a:noFill/>
        </p:spPr>
        <p:txBody>
          <a:bodyPr wrap="none" rtlCol="0">
            <a:spAutoFit/>
          </a:bodyPr>
          <a:lstStyle/>
          <a:p>
            <a:r>
              <a:rPr lang="fr-FR" b="1" dirty="0"/>
              <a:t>Electrodes </a:t>
            </a:r>
            <a:r>
              <a:rPr lang="fr-FR" b="1" dirty="0" err="1"/>
              <a:t>used</a:t>
            </a:r>
            <a:r>
              <a:rPr lang="fr-FR" b="1" dirty="0"/>
              <a:t> for analyses:</a:t>
            </a:r>
          </a:p>
          <a:p>
            <a:pPr marL="449263" indent="-285750">
              <a:buFont typeface="Courier New" panose="02070309020205020404" pitchFamily="49" charset="0"/>
              <a:buChar char="o"/>
            </a:pPr>
            <a:r>
              <a:rPr lang="fr-FR" dirty="0"/>
              <a:t>C3/C4 for Mu-beta and LRP</a:t>
            </a:r>
          </a:p>
          <a:p>
            <a:pPr marL="449263" indent="-285750">
              <a:buFont typeface="Courier New" panose="02070309020205020404" pitchFamily="49" charset="0"/>
              <a:buChar char="o"/>
            </a:pPr>
            <a:r>
              <a:rPr lang="fr-FR" dirty="0"/>
              <a:t>Pz for CPP</a:t>
            </a:r>
          </a:p>
          <a:p>
            <a:pPr marL="449263" indent="-285750">
              <a:buFont typeface="Courier New" panose="02070309020205020404" pitchFamily="49" charset="0"/>
              <a:buChar char="o"/>
            </a:pPr>
            <a:endParaRPr lang="fr-FR" dirty="0"/>
          </a:p>
        </p:txBody>
      </p:sp>
      <p:sp>
        <p:nvSpPr>
          <p:cNvPr id="72" name="TextBox 71">
            <a:extLst>
              <a:ext uri="{FF2B5EF4-FFF2-40B4-BE49-F238E27FC236}">
                <a16:creationId xmlns:a16="http://schemas.microsoft.com/office/drawing/2014/main" id="{506D59CD-8F06-FAB7-79BF-23DCCCCB4A54}"/>
              </a:ext>
            </a:extLst>
          </p:cNvPr>
          <p:cNvSpPr txBox="1"/>
          <p:nvPr/>
        </p:nvSpPr>
        <p:spPr>
          <a:xfrm>
            <a:off x="136914" y="3443585"/>
            <a:ext cx="3852360" cy="923330"/>
          </a:xfrm>
          <a:prstGeom prst="rect">
            <a:avLst/>
          </a:prstGeom>
          <a:noFill/>
        </p:spPr>
        <p:txBody>
          <a:bodyPr wrap="square" rtlCol="0">
            <a:spAutoFit/>
          </a:bodyPr>
          <a:lstStyle/>
          <a:p>
            <a:pPr marL="163513"/>
            <a:r>
              <a:rPr lang="fr-FR" dirty="0">
                <a:solidFill>
                  <a:srgbClr val="C00000"/>
                </a:solidFill>
              </a:rPr>
              <a:t>The </a:t>
            </a:r>
            <a:r>
              <a:rPr lang="fr-FR" dirty="0" err="1">
                <a:solidFill>
                  <a:srgbClr val="C00000"/>
                </a:solidFill>
              </a:rPr>
              <a:t>stiffness</a:t>
            </a:r>
            <a:r>
              <a:rPr lang="fr-FR" dirty="0">
                <a:solidFill>
                  <a:srgbClr val="C00000"/>
                </a:solidFill>
              </a:rPr>
              <a:t> </a:t>
            </a:r>
            <a:r>
              <a:rPr lang="fr-FR" dirty="0" err="1">
                <a:solidFill>
                  <a:srgbClr val="C00000"/>
                </a:solidFill>
              </a:rPr>
              <a:t>parameter</a:t>
            </a:r>
            <a:r>
              <a:rPr lang="fr-FR" dirty="0">
                <a:solidFill>
                  <a:srgbClr val="C00000"/>
                </a:solidFill>
              </a:rPr>
              <a:t> of the CSD </a:t>
            </a:r>
            <a:r>
              <a:rPr lang="fr-FR" dirty="0" err="1">
                <a:solidFill>
                  <a:srgbClr val="C00000"/>
                </a:solidFill>
              </a:rPr>
              <a:t>increases</a:t>
            </a:r>
            <a:r>
              <a:rPr lang="fr-FR" dirty="0">
                <a:solidFill>
                  <a:srgbClr val="C00000"/>
                </a:solidFill>
              </a:rPr>
              <a:t> the spatial </a:t>
            </a:r>
            <a:r>
              <a:rPr lang="fr-FR" dirty="0" err="1">
                <a:solidFill>
                  <a:srgbClr val="C00000"/>
                </a:solidFill>
              </a:rPr>
              <a:t>resolution</a:t>
            </a:r>
            <a:r>
              <a:rPr lang="fr-FR" dirty="0">
                <a:solidFill>
                  <a:srgbClr val="C00000"/>
                </a:solidFill>
              </a:rPr>
              <a:t>, but </a:t>
            </a:r>
            <a:r>
              <a:rPr lang="fr-FR" dirty="0" err="1">
                <a:solidFill>
                  <a:srgbClr val="C00000"/>
                </a:solidFill>
              </a:rPr>
              <a:t>also</a:t>
            </a:r>
            <a:r>
              <a:rPr lang="fr-FR" dirty="0">
                <a:solidFill>
                  <a:srgbClr val="C00000"/>
                </a:solidFill>
              </a:rPr>
              <a:t> </a:t>
            </a:r>
            <a:r>
              <a:rPr lang="fr-FR" dirty="0" err="1">
                <a:solidFill>
                  <a:srgbClr val="C00000"/>
                </a:solidFill>
              </a:rPr>
              <a:t>increases</a:t>
            </a:r>
            <a:r>
              <a:rPr lang="fr-FR" dirty="0">
                <a:solidFill>
                  <a:srgbClr val="C00000"/>
                </a:solidFill>
              </a:rPr>
              <a:t> noise.</a:t>
            </a:r>
          </a:p>
        </p:txBody>
      </p:sp>
      <p:sp>
        <p:nvSpPr>
          <p:cNvPr id="73" name="Arrow: Down 72">
            <a:extLst>
              <a:ext uri="{FF2B5EF4-FFF2-40B4-BE49-F238E27FC236}">
                <a16:creationId xmlns:a16="http://schemas.microsoft.com/office/drawing/2014/main" id="{EEE5EC3A-D909-D7F1-53F7-4ECE0B525857}"/>
              </a:ext>
            </a:extLst>
          </p:cNvPr>
          <p:cNvSpPr/>
          <p:nvPr/>
        </p:nvSpPr>
        <p:spPr>
          <a:xfrm rot="19313380">
            <a:off x="1852157" y="4474078"/>
            <a:ext cx="284963" cy="597278"/>
          </a:xfrm>
          <a:prstGeom prst="downArrow">
            <a:avLst>
              <a:gd name="adj1" fmla="val 50000"/>
              <a:gd name="adj2" fmla="val 8969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Arrow: Down 73">
            <a:extLst>
              <a:ext uri="{FF2B5EF4-FFF2-40B4-BE49-F238E27FC236}">
                <a16:creationId xmlns:a16="http://schemas.microsoft.com/office/drawing/2014/main" id="{53B9EE93-59CC-160B-64C5-E4A168D97909}"/>
              </a:ext>
            </a:extLst>
          </p:cNvPr>
          <p:cNvSpPr/>
          <p:nvPr/>
        </p:nvSpPr>
        <p:spPr>
          <a:xfrm rot="13159984">
            <a:off x="1675117" y="2658868"/>
            <a:ext cx="284963" cy="597278"/>
          </a:xfrm>
          <a:prstGeom prst="downArrow">
            <a:avLst>
              <a:gd name="adj1" fmla="val 50000"/>
              <a:gd name="adj2" fmla="val 8969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12824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57BF16-CC53-F161-5D83-FDD2C2307F11}"/>
              </a:ext>
            </a:extLst>
          </p:cNvPr>
          <p:cNvSpPr txBox="1"/>
          <p:nvPr/>
        </p:nvSpPr>
        <p:spPr>
          <a:xfrm>
            <a:off x="627851" y="901273"/>
            <a:ext cx="8839531" cy="1384995"/>
          </a:xfrm>
          <a:prstGeom prst="rect">
            <a:avLst/>
          </a:prstGeom>
          <a:noFill/>
        </p:spPr>
        <p:txBody>
          <a:bodyPr wrap="square">
            <a:spAutoFit/>
          </a:bodyPr>
          <a:lstStyle/>
          <a:p>
            <a:r>
              <a:rPr lang="en-US" sz="1400" b="1" dirty="0"/>
              <a:t>STFT : </a:t>
            </a:r>
            <a:r>
              <a:rPr lang="en-US" sz="1400" dirty="0"/>
              <a:t>choose an appropriate windows </a:t>
            </a:r>
          </a:p>
          <a:p>
            <a:endParaRPr lang="en-US" sz="1400" dirty="0"/>
          </a:p>
          <a:p>
            <a:pPr marL="285750" indent="-285750">
              <a:buFont typeface="Arial" panose="020B0604020202020204" pitchFamily="34" charset="0"/>
              <a:buChar char="•"/>
            </a:pPr>
            <a:r>
              <a:rPr lang="en-US" sz="1400" dirty="0"/>
              <a:t>Rogge et al. (2022) distinguished alpha (8-12Hz) and beta (13-30Hz) motor preparation signal.</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To explore the alpha (8-12Hz) and beta (13-30Hz) in addition the classic mu-beta (8-30Hz), we choose a window of 600 ms to achieve a reasonable frequency resolution.</a:t>
            </a:r>
            <a:endParaRPr lang="fr-FR" sz="1400" dirty="0"/>
          </a:p>
        </p:txBody>
      </p:sp>
      <p:sp>
        <p:nvSpPr>
          <p:cNvPr id="14" name="TextBox 13">
            <a:extLst>
              <a:ext uri="{FF2B5EF4-FFF2-40B4-BE49-F238E27FC236}">
                <a16:creationId xmlns:a16="http://schemas.microsoft.com/office/drawing/2014/main" id="{86ABB132-514C-7C7B-C3C1-003AE887743C}"/>
              </a:ext>
            </a:extLst>
          </p:cNvPr>
          <p:cNvSpPr txBox="1"/>
          <p:nvPr/>
        </p:nvSpPr>
        <p:spPr>
          <a:xfrm>
            <a:off x="510784" y="269010"/>
            <a:ext cx="3472775" cy="369332"/>
          </a:xfrm>
          <a:prstGeom prst="rect">
            <a:avLst/>
          </a:prstGeom>
          <a:noFill/>
        </p:spPr>
        <p:txBody>
          <a:bodyPr wrap="square">
            <a:spAutoFit/>
          </a:bodyPr>
          <a:lstStyle/>
          <a:p>
            <a:r>
              <a:rPr lang="en-US" sz="1800" b="1" dirty="0"/>
              <a:t>Time-Frequency Analysis (TFA)</a:t>
            </a:r>
            <a:endParaRPr lang="fr-FR" dirty="0"/>
          </a:p>
        </p:txBody>
      </p:sp>
      <p:sp>
        <p:nvSpPr>
          <p:cNvPr id="25" name="Left Brace 24">
            <a:extLst>
              <a:ext uri="{FF2B5EF4-FFF2-40B4-BE49-F238E27FC236}">
                <a16:creationId xmlns:a16="http://schemas.microsoft.com/office/drawing/2014/main" id="{8951E1D0-5F6B-C4F5-40A3-AEDDC7A77254}"/>
              </a:ext>
            </a:extLst>
          </p:cNvPr>
          <p:cNvSpPr/>
          <p:nvPr/>
        </p:nvSpPr>
        <p:spPr>
          <a:xfrm>
            <a:off x="924217" y="5095469"/>
            <a:ext cx="110247" cy="45426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fr-FR"/>
          </a:p>
        </p:txBody>
      </p:sp>
      <p:sp>
        <p:nvSpPr>
          <p:cNvPr id="26" name="Left Brace 25">
            <a:extLst>
              <a:ext uri="{FF2B5EF4-FFF2-40B4-BE49-F238E27FC236}">
                <a16:creationId xmlns:a16="http://schemas.microsoft.com/office/drawing/2014/main" id="{17DF7008-F293-8499-C8F7-ABBAE4CD530D}"/>
              </a:ext>
            </a:extLst>
          </p:cNvPr>
          <p:cNvSpPr/>
          <p:nvPr/>
        </p:nvSpPr>
        <p:spPr>
          <a:xfrm>
            <a:off x="924218" y="3525389"/>
            <a:ext cx="110247" cy="152107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fr-FR"/>
          </a:p>
        </p:txBody>
      </p:sp>
      <p:sp>
        <p:nvSpPr>
          <p:cNvPr id="28" name="TextBox 27">
            <a:extLst>
              <a:ext uri="{FF2B5EF4-FFF2-40B4-BE49-F238E27FC236}">
                <a16:creationId xmlns:a16="http://schemas.microsoft.com/office/drawing/2014/main" id="{D8022C70-EF06-697F-CEA7-6C2E4AA86C08}"/>
              </a:ext>
            </a:extLst>
          </p:cNvPr>
          <p:cNvSpPr txBox="1"/>
          <p:nvPr/>
        </p:nvSpPr>
        <p:spPr>
          <a:xfrm>
            <a:off x="194415" y="5087849"/>
            <a:ext cx="661481" cy="400110"/>
          </a:xfrm>
          <a:prstGeom prst="rect">
            <a:avLst/>
          </a:prstGeom>
          <a:noFill/>
        </p:spPr>
        <p:txBody>
          <a:bodyPr wrap="square">
            <a:spAutoFit/>
          </a:bodyPr>
          <a:lstStyle/>
          <a:p>
            <a:r>
              <a:rPr lang="en-US" sz="1000" dirty="0"/>
              <a:t>Alpha </a:t>
            </a:r>
          </a:p>
          <a:p>
            <a:r>
              <a:rPr lang="en-US" sz="1000" dirty="0"/>
              <a:t>(8-12Hz) </a:t>
            </a:r>
            <a:endParaRPr lang="fr-FR" sz="1000" dirty="0"/>
          </a:p>
        </p:txBody>
      </p:sp>
      <p:sp>
        <p:nvSpPr>
          <p:cNvPr id="29" name="TextBox 28">
            <a:extLst>
              <a:ext uri="{FF2B5EF4-FFF2-40B4-BE49-F238E27FC236}">
                <a16:creationId xmlns:a16="http://schemas.microsoft.com/office/drawing/2014/main" id="{552412E0-C956-AB01-6CB1-DB1E8A9F4ADA}"/>
              </a:ext>
            </a:extLst>
          </p:cNvPr>
          <p:cNvSpPr txBox="1"/>
          <p:nvPr/>
        </p:nvSpPr>
        <p:spPr>
          <a:xfrm>
            <a:off x="161032" y="4085872"/>
            <a:ext cx="763185" cy="400110"/>
          </a:xfrm>
          <a:prstGeom prst="rect">
            <a:avLst/>
          </a:prstGeom>
          <a:noFill/>
        </p:spPr>
        <p:txBody>
          <a:bodyPr wrap="square">
            <a:spAutoFit/>
          </a:bodyPr>
          <a:lstStyle/>
          <a:p>
            <a:r>
              <a:rPr lang="en-US" sz="1000" dirty="0"/>
              <a:t>Beta </a:t>
            </a:r>
          </a:p>
          <a:p>
            <a:r>
              <a:rPr lang="en-US" sz="1000" dirty="0"/>
              <a:t>(13-30Hz) </a:t>
            </a:r>
            <a:endParaRPr lang="fr-FR" sz="1000" dirty="0"/>
          </a:p>
        </p:txBody>
      </p:sp>
      <p:grpSp>
        <p:nvGrpSpPr>
          <p:cNvPr id="32" name="Group 31">
            <a:extLst>
              <a:ext uri="{FF2B5EF4-FFF2-40B4-BE49-F238E27FC236}">
                <a16:creationId xmlns:a16="http://schemas.microsoft.com/office/drawing/2014/main" id="{A4AAEA5A-D4AA-27D6-C0C8-6FA0D8A83E14}"/>
              </a:ext>
            </a:extLst>
          </p:cNvPr>
          <p:cNvGrpSpPr/>
          <p:nvPr/>
        </p:nvGrpSpPr>
        <p:grpSpPr>
          <a:xfrm>
            <a:off x="1162183" y="3332999"/>
            <a:ext cx="10612952" cy="2429436"/>
            <a:chOff x="1323109" y="3913918"/>
            <a:chExt cx="10612952" cy="2429436"/>
          </a:xfrm>
        </p:grpSpPr>
        <p:pic>
          <p:nvPicPr>
            <p:cNvPr id="24" name="Picture 23">
              <a:extLst>
                <a:ext uri="{FF2B5EF4-FFF2-40B4-BE49-F238E27FC236}">
                  <a16:creationId xmlns:a16="http://schemas.microsoft.com/office/drawing/2014/main" id="{73E3E5BF-1916-29AC-26A7-A133307D3CB3}"/>
                </a:ext>
              </a:extLst>
            </p:cNvPr>
            <p:cNvPicPr>
              <a:picLocks noChangeAspect="1"/>
            </p:cNvPicPr>
            <p:nvPr/>
          </p:nvPicPr>
          <p:blipFill>
            <a:blip r:embed="rId2"/>
            <a:srcRect l="95962"/>
            <a:stretch/>
          </p:blipFill>
          <p:spPr>
            <a:xfrm>
              <a:off x="11504579" y="3913918"/>
              <a:ext cx="431482" cy="2429436"/>
            </a:xfrm>
            <a:prstGeom prst="rect">
              <a:avLst/>
            </a:prstGeom>
          </p:spPr>
        </p:pic>
        <p:pic>
          <p:nvPicPr>
            <p:cNvPr id="31" name="Picture 30">
              <a:extLst>
                <a:ext uri="{FF2B5EF4-FFF2-40B4-BE49-F238E27FC236}">
                  <a16:creationId xmlns:a16="http://schemas.microsoft.com/office/drawing/2014/main" id="{E67AF67B-4F26-09DD-3CCE-88081EA5C0E4}"/>
                </a:ext>
              </a:extLst>
            </p:cNvPr>
            <p:cNvPicPr>
              <a:picLocks noChangeAspect="1"/>
            </p:cNvPicPr>
            <p:nvPr/>
          </p:nvPicPr>
          <p:blipFill>
            <a:blip r:embed="rId3"/>
            <a:stretch>
              <a:fillRect/>
            </a:stretch>
          </p:blipFill>
          <p:spPr>
            <a:xfrm>
              <a:off x="1323109" y="3913918"/>
              <a:ext cx="10120785" cy="2396603"/>
            </a:xfrm>
            <a:prstGeom prst="rect">
              <a:avLst/>
            </a:prstGeom>
          </p:spPr>
        </p:pic>
      </p:grpSp>
      <p:sp>
        <p:nvSpPr>
          <p:cNvPr id="33" name="TextBox 32">
            <a:extLst>
              <a:ext uri="{FF2B5EF4-FFF2-40B4-BE49-F238E27FC236}">
                <a16:creationId xmlns:a16="http://schemas.microsoft.com/office/drawing/2014/main" id="{1DE67F56-F57F-4D96-FCB5-557A957B4D33}"/>
              </a:ext>
            </a:extLst>
          </p:cNvPr>
          <p:cNvSpPr txBox="1"/>
          <p:nvPr/>
        </p:nvSpPr>
        <p:spPr>
          <a:xfrm>
            <a:off x="2862614" y="3156284"/>
            <a:ext cx="6719922" cy="307777"/>
          </a:xfrm>
          <a:prstGeom prst="rect">
            <a:avLst/>
          </a:prstGeom>
          <a:solidFill>
            <a:schemeClr val="bg1"/>
          </a:solidFill>
        </p:spPr>
        <p:txBody>
          <a:bodyPr wrap="square">
            <a:spAutoFit/>
          </a:bodyPr>
          <a:lstStyle/>
          <a:p>
            <a:pPr algn="ctr"/>
            <a:r>
              <a:rPr lang="en-US" sz="1400" i="1" dirty="0">
                <a:sym typeface="Wingdings" panose="05000000000000000000" pitchFamily="2" charset="2"/>
              </a:rPr>
              <a:t>Spectrum Power Lateralization (8-30Hz), Contra- minus Ipsilateral on C4/C3</a:t>
            </a:r>
            <a:endParaRPr lang="fr-FR" sz="1400" i="1" dirty="0"/>
          </a:p>
        </p:txBody>
      </p:sp>
    </p:spTree>
    <p:extLst>
      <p:ext uri="{BB962C8B-B14F-4D97-AF65-F5344CB8AC3E}">
        <p14:creationId xmlns:p14="http://schemas.microsoft.com/office/powerpoint/2010/main" val="567922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A04748-80B8-9BC5-D656-A283F850EF44}"/>
              </a:ext>
            </a:extLst>
          </p:cNvPr>
          <p:cNvPicPr>
            <a:picLocks noChangeAspect="1"/>
          </p:cNvPicPr>
          <p:nvPr/>
        </p:nvPicPr>
        <p:blipFill>
          <a:blip r:embed="rId2"/>
          <a:srcRect b="71004"/>
          <a:stretch/>
        </p:blipFill>
        <p:spPr>
          <a:xfrm>
            <a:off x="196579" y="1217328"/>
            <a:ext cx="11798842" cy="3609196"/>
          </a:xfrm>
          <a:prstGeom prst="rect">
            <a:avLst/>
          </a:prstGeom>
        </p:spPr>
      </p:pic>
      <p:sp>
        <p:nvSpPr>
          <p:cNvPr id="3" name="TextBox 2">
            <a:extLst>
              <a:ext uri="{FF2B5EF4-FFF2-40B4-BE49-F238E27FC236}">
                <a16:creationId xmlns:a16="http://schemas.microsoft.com/office/drawing/2014/main" id="{9455DC53-F296-FA5A-8302-E1D2AB178DC8}"/>
              </a:ext>
            </a:extLst>
          </p:cNvPr>
          <p:cNvSpPr txBox="1"/>
          <p:nvPr/>
        </p:nvSpPr>
        <p:spPr>
          <a:xfrm>
            <a:off x="461914" y="328252"/>
            <a:ext cx="9612888" cy="369332"/>
          </a:xfrm>
          <a:prstGeom prst="rect">
            <a:avLst/>
          </a:prstGeom>
          <a:noFill/>
        </p:spPr>
        <p:txBody>
          <a:bodyPr wrap="none" rtlCol="0">
            <a:spAutoFit/>
          </a:bodyPr>
          <a:lstStyle/>
          <a:p>
            <a:r>
              <a:rPr lang="fr-FR" b="1" dirty="0"/>
              <a:t>Model </a:t>
            </a:r>
            <a:r>
              <a:rPr lang="fr-FR" b="1" dirty="0" err="1"/>
              <a:t>predictions</a:t>
            </a:r>
            <a:r>
              <a:rPr lang="fr-FR" b="1" dirty="0"/>
              <a:t> for the </a:t>
            </a:r>
            <a:r>
              <a:rPr lang="fr-FR" b="1" dirty="0" err="1"/>
              <a:t>effect</a:t>
            </a:r>
            <a:r>
              <a:rPr lang="fr-FR" b="1" dirty="0"/>
              <a:t> of stimulus duration </a:t>
            </a:r>
            <a:r>
              <a:rPr lang="fr-FR" dirty="0"/>
              <a:t>(</a:t>
            </a:r>
            <a:r>
              <a:rPr lang="fr-FR" dirty="0" err="1"/>
              <a:t>averaged</a:t>
            </a:r>
            <a:r>
              <a:rPr lang="fr-FR" dirty="0"/>
              <a:t> </a:t>
            </a:r>
            <a:r>
              <a:rPr lang="fr-FR" dirty="0" err="1"/>
              <a:t>across</a:t>
            </a:r>
            <a:r>
              <a:rPr lang="fr-FR" dirty="0"/>
              <a:t> motion coherence </a:t>
            </a:r>
            <a:r>
              <a:rPr lang="fr-FR" dirty="0" err="1"/>
              <a:t>levels</a:t>
            </a:r>
            <a:r>
              <a:rPr lang="fr-FR" dirty="0"/>
              <a:t>) </a:t>
            </a:r>
          </a:p>
        </p:txBody>
      </p:sp>
      <p:sp>
        <p:nvSpPr>
          <p:cNvPr id="5" name="Rectangle 4">
            <a:extLst>
              <a:ext uri="{FF2B5EF4-FFF2-40B4-BE49-F238E27FC236}">
                <a16:creationId xmlns:a16="http://schemas.microsoft.com/office/drawing/2014/main" id="{428E0A26-2B9D-F359-D953-494628EB090A}"/>
              </a:ext>
            </a:extLst>
          </p:cNvPr>
          <p:cNvSpPr/>
          <p:nvPr/>
        </p:nvSpPr>
        <p:spPr>
          <a:xfrm>
            <a:off x="6589336" y="1847654"/>
            <a:ext cx="678730" cy="1696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extBox 5">
            <a:extLst>
              <a:ext uri="{FF2B5EF4-FFF2-40B4-BE49-F238E27FC236}">
                <a16:creationId xmlns:a16="http://schemas.microsoft.com/office/drawing/2014/main" id="{02A496B1-879A-D6CA-C424-5B87FF405EBB}"/>
              </a:ext>
            </a:extLst>
          </p:cNvPr>
          <p:cNvSpPr txBox="1"/>
          <p:nvPr/>
        </p:nvSpPr>
        <p:spPr>
          <a:xfrm>
            <a:off x="8700940" y="2300140"/>
            <a:ext cx="494046" cy="307777"/>
          </a:xfrm>
          <a:prstGeom prst="rect">
            <a:avLst/>
          </a:prstGeom>
          <a:noFill/>
        </p:spPr>
        <p:txBody>
          <a:bodyPr wrap="none" rtlCol="0">
            <a:spAutoFit/>
          </a:bodyPr>
          <a:lstStyle/>
          <a:p>
            <a:r>
              <a:rPr lang="fr-FR" sz="1400" i="1" dirty="0" err="1">
                <a:solidFill>
                  <a:srgbClr val="C00000"/>
                </a:solidFill>
              </a:rPr>
              <a:t>gate</a:t>
            </a:r>
            <a:endParaRPr lang="fr-FR" sz="1400" i="1" dirty="0">
              <a:solidFill>
                <a:srgbClr val="C00000"/>
              </a:solidFill>
            </a:endParaRPr>
          </a:p>
        </p:txBody>
      </p:sp>
    </p:spTree>
    <p:extLst>
      <p:ext uri="{BB962C8B-B14F-4D97-AF65-F5344CB8AC3E}">
        <p14:creationId xmlns:p14="http://schemas.microsoft.com/office/powerpoint/2010/main" val="96620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1A4D-990A-F50D-587B-5A851557A844}"/>
            </a:ext>
          </a:extLst>
        </p:cNvPr>
        <p:cNvGrpSpPr/>
        <p:nvPr/>
      </p:nvGrpSpPr>
      <p:grpSpPr>
        <a:xfrm>
          <a:off x="0" y="0"/>
          <a:ext cx="0" cy="0"/>
          <a:chOff x="0" y="0"/>
          <a:chExt cx="0" cy="0"/>
        </a:xfrm>
      </p:grpSpPr>
      <p:pic>
        <p:nvPicPr>
          <p:cNvPr id="49" name="Picture 48">
            <a:extLst>
              <a:ext uri="{FF2B5EF4-FFF2-40B4-BE49-F238E27FC236}">
                <a16:creationId xmlns:a16="http://schemas.microsoft.com/office/drawing/2014/main" id="{DD3C0C2C-94A0-9F56-586E-648784E7E420}"/>
              </a:ext>
            </a:extLst>
          </p:cNvPr>
          <p:cNvPicPr>
            <a:picLocks noChangeAspect="1"/>
          </p:cNvPicPr>
          <p:nvPr/>
        </p:nvPicPr>
        <p:blipFill>
          <a:blip r:embed="rId2"/>
          <a:stretch>
            <a:fillRect/>
          </a:stretch>
        </p:blipFill>
        <p:spPr>
          <a:xfrm>
            <a:off x="90790" y="425475"/>
            <a:ext cx="6005209" cy="6335249"/>
          </a:xfrm>
          <a:prstGeom prst="rect">
            <a:avLst/>
          </a:prstGeom>
        </p:spPr>
      </p:pic>
      <p:sp>
        <p:nvSpPr>
          <p:cNvPr id="51" name="TextBox 50">
            <a:extLst>
              <a:ext uri="{FF2B5EF4-FFF2-40B4-BE49-F238E27FC236}">
                <a16:creationId xmlns:a16="http://schemas.microsoft.com/office/drawing/2014/main" id="{9D42D103-266A-875D-57EE-6DEB1BB01626}"/>
              </a:ext>
            </a:extLst>
          </p:cNvPr>
          <p:cNvSpPr txBox="1"/>
          <p:nvPr/>
        </p:nvSpPr>
        <p:spPr>
          <a:xfrm>
            <a:off x="2645194" y="97276"/>
            <a:ext cx="896399" cy="261610"/>
          </a:xfrm>
          <a:prstGeom prst="rect">
            <a:avLst/>
          </a:prstGeom>
          <a:noFill/>
        </p:spPr>
        <p:txBody>
          <a:bodyPr wrap="none" rtlCol="0">
            <a:spAutoFit/>
          </a:bodyPr>
          <a:lstStyle/>
          <a:p>
            <a:r>
              <a:rPr lang="fr-FR" sz="1100" dirty="0" err="1"/>
              <a:t>Stiffness</a:t>
            </a:r>
            <a:r>
              <a:rPr lang="fr-FR" sz="1100" dirty="0"/>
              <a:t> = 4</a:t>
            </a:r>
          </a:p>
        </p:txBody>
      </p:sp>
      <p:sp>
        <p:nvSpPr>
          <p:cNvPr id="52" name="TextBox 51">
            <a:extLst>
              <a:ext uri="{FF2B5EF4-FFF2-40B4-BE49-F238E27FC236}">
                <a16:creationId xmlns:a16="http://schemas.microsoft.com/office/drawing/2014/main" id="{EE721AC1-18A2-0719-97C2-1FD56B38F2C7}"/>
              </a:ext>
            </a:extLst>
          </p:cNvPr>
          <p:cNvSpPr txBox="1"/>
          <p:nvPr/>
        </p:nvSpPr>
        <p:spPr>
          <a:xfrm>
            <a:off x="8932504" y="97276"/>
            <a:ext cx="896399" cy="261610"/>
          </a:xfrm>
          <a:prstGeom prst="rect">
            <a:avLst/>
          </a:prstGeom>
          <a:noFill/>
        </p:spPr>
        <p:txBody>
          <a:bodyPr wrap="none" rtlCol="0">
            <a:spAutoFit/>
          </a:bodyPr>
          <a:lstStyle/>
          <a:p>
            <a:r>
              <a:rPr lang="fr-FR" sz="1100" dirty="0" err="1"/>
              <a:t>Stiffness</a:t>
            </a:r>
            <a:r>
              <a:rPr lang="fr-FR" sz="1100" dirty="0"/>
              <a:t> = 3</a:t>
            </a:r>
          </a:p>
        </p:txBody>
      </p:sp>
      <p:pic>
        <p:nvPicPr>
          <p:cNvPr id="54" name="Picture 53">
            <a:extLst>
              <a:ext uri="{FF2B5EF4-FFF2-40B4-BE49-F238E27FC236}">
                <a16:creationId xmlns:a16="http://schemas.microsoft.com/office/drawing/2014/main" id="{793CF25E-8314-2395-F15E-F17088BBD96A}"/>
              </a:ext>
            </a:extLst>
          </p:cNvPr>
          <p:cNvPicPr>
            <a:picLocks noChangeAspect="1"/>
          </p:cNvPicPr>
          <p:nvPr/>
        </p:nvPicPr>
        <p:blipFill>
          <a:blip r:embed="rId3"/>
          <a:stretch>
            <a:fillRect/>
          </a:stretch>
        </p:blipFill>
        <p:spPr>
          <a:xfrm>
            <a:off x="6136289" y="441080"/>
            <a:ext cx="5964921" cy="6373870"/>
          </a:xfrm>
          <a:prstGeom prst="rect">
            <a:avLst/>
          </a:prstGeom>
        </p:spPr>
      </p:pic>
      <p:sp>
        <p:nvSpPr>
          <p:cNvPr id="72" name="ZoneTexte 74">
            <a:extLst>
              <a:ext uri="{FF2B5EF4-FFF2-40B4-BE49-F238E27FC236}">
                <a16:creationId xmlns:a16="http://schemas.microsoft.com/office/drawing/2014/main" id="{FA4FC5CF-F61F-45C8-5D6F-07F7BB2C4804}"/>
              </a:ext>
            </a:extLst>
          </p:cNvPr>
          <p:cNvSpPr txBox="1"/>
          <p:nvPr/>
        </p:nvSpPr>
        <p:spPr>
          <a:xfrm rot="16200000">
            <a:off x="606561" y="6153702"/>
            <a:ext cx="403756" cy="153888"/>
          </a:xfrm>
          <a:prstGeom prst="rect">
            <a:avLst/>
          </a:prstGeom>
          <a:solidFill>
            <a:srgbClr val="F9F9F9"/>
          </a:solidFill>
        </p:spPr>
        <p:txBody>
          <a:bodyPr wrap="square" rtlCol="0">
            <a:spAutoFit/>
          </a:bodyPr>
          <a:lstStyle/>
          <a:p>
            <a:pPr algn="ctr"/>
            <a:r>
              <a:rPr lang="en-US" sz="400" dirty="0">
                <a:latin typeface="Times New Roman" panose="02020603050405020304" pitchFamily="18" charset="0"/>
                <a:cs typeface="Times New Roman" panose="02020603050405020304" pitchFamily="18" charset="0"/>
              </a:rPr>
              <a:t>AU</a:t>
            </a:r>
            <a:endParaRPr lang="en-US" sz="200" i="1" dirty="0">
              <a:latin typeface="Times New Roman" panose="02020603050405020304" pitchFamily="18" charset="0"/>
              <a:cs typeface="Times New Roman" panose="02020603050405020304" pitchFamily="18" charset="0"/>
            </a:endParaRPr>
          </a:p>
        </p:txBody>
      </p:sp>
      <p:sp>
        <p:nvSpPr>
          <p:cNvPr id="73" name="ZoneTexte 74">
            <a:extLst>
              <a:ext uri="{FF2B5EF4-FFF2-40B4-BE49-F238E27FC236}">
                <a16:creationId xmlns:a16="http://schemas.microsoft.com/office/drawing/2014/main" id="{C70DDB30-D817-B0F5-C02B-2D380476875D}"/>
              </a:ext>
            </a:extLst>
          </p:cNvPr>
          <p:cNvSpPr txBox="1"/>
          <p:nvPr/>
        </p:nvSpPr>
        <p:spPr>
          <a:xfrm rot="16200000">
            <a:off x="6659396" y="6251536"/>
            <a:ext cx="403756" cy="153888"/>
          </a:xfrm>
          <a:prstGeom prst="rect">
            <a:avLst/>
          </a:prstGeom>
          <a:solidFill>
            <a:srgbClr val="F9F8FE"/>
          </a:solidFill>
        </p:spPr>
        <p:txBody>
          <a:bodyPr wrap="square" rtlCol="0">
            <a:spAutoFit/>
          </a:bodyPr>
          <a:lstStyle/>
          <a:p>
            <a:pPr algn="ctr"/>
            <a:r>
              <a:rPr lang="en-US" sz="400" dirty="0">
                <a:latin typeface="Times New Roman" panose="02020603050405020304" pitchFamily="18" charset="0"/>
                <a:cs typeface="Times New Roman" panose="02020603050405020304" pitchFamily="18" charset="0"/>
              </a:rPr>
              <a:t>AU</a:t>
            </a:r>
            <a:endParaRPr lang="en-US" sz="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272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BC33A-5EB3-7C92-B664-5D98142267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8D8957-507B-3C87-E0D1-25F2EBBACFF8}"/>
              </a:ext>
            </a:extLst>
          </p:cNvPr>
          <p:cNvSpPr txBox="1"/>
          <p:nvPr/>
        </p:nvSpPr>
        <p:spPr>
          <a:xfrm>
            <a:off x="461914" y="328252"/>
            <a:ext cx="9264396" cy="369332"/>
          </a:xfrm>
          <a:prstGeom prst="rect">
            <a:avLst/>
          </a:prstGeom>
          <a:noFill/>
        </p:spPr>
        <p:txBody>
          <a:bodyPr wrap="none" rtlCol="0">
            <a:spAutoFit/>
          </a:bodyPr>
          <a:lstStyle/>
          <a:p>
            <a:r>
              <a:rPr lang="fr-FR" b="1" dirty="0"/>
              <a:t>Model </a:t>
            </a:r>
            <a:r>
              <a:rPr lang="fr-FR" b="1" dirty="0" err="1"/>
              <a:t>predictions</a:t>
            </a:r>
            <a:r>
              <a:rPr lang="fr-FR" b="1" dirty="0"/>
              <a:t> for the </a:t>
            </a:r>
            <a:r>
              <a:rPr lang="fr-FR" b="1" dirty="0" err="1"/>
              <a:t>effect</a:t>
            </a:r>
            <a:r>
              <a:rPr lang="fr-FR" b="1" dirty="0"/>
              <a:t> of motion coherence </a:t>
            </a:r>
            <a:r>
              <a:rPr lang="fr-FR" dirty="0"/>
              <a:t>(</a:t>
            </a:r>
            <a:r>
              <a:rPr lang="fr-FR" dirty="0" err="1"/>
              <a:t>averaged</a:t>
            </a:r>
            <a:r>
              <a:rPr lang="fr-FR" dirty="0"/>
              <a:t> </a:t>
            </a:r>
            <a:r>
              <a:rPr lang="fr-FR" dirty="0" err="1"/>
              <a:t>across</a:t>
            </a:r>
            <a:r>
              <a:rPr lang="fr-FR" dirty="0"/>
              <a:t> stimulus duration </a:t>
            </a:r>
            <a:r>
              <a:rPr lang="fr-FR" dirty="0" err="1"/>
              <a:t>levels</a:t>
            </a:r>
            <a:r>
              <a:rPr lang="fr-FR" dirty="0"/>
              <a:t>) </a:t>
            </a:r>
          </a:p>
        </p:txBody>
      </p:sp>
      <p:sp>
        <p:nvSpPr>
          <p:cNvPr id="5" name="Rectangle 4">
            <a:extLst>
              <a:ext uri="{FF2B5EF4-FFF2-40B4-BE49-F238E27FC236}">
                <a16:creationId xmlns:a16="http://schemas.microsoft.com/office/drawing/2014/main" id="{888B4D73-8313-69E7-4F0F-2310A9BC18DB}"/>
              </a:ext>
            </a:extLst>
          </p:cNvPr>
          <p:cNvSpPr/>
          <p:nvPr/>
        </p:nvSpPr>
        <p:spPr>
          <a:xfrm>
            <a:off x="6589336" y="1847654"/>
            <a:ext cx="678730" cy="1696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Picture 3">
            <a:extLst>
              <a:ext uri="{FF2B5EF4-FFF2-40B4-BE49-F238E27FC236}">
                <a16:creationId xmlns:a16="http://schemas.microsoft.com/office/drawing/2014/main" id="{C6F0E49B-3C87-8325-B5DE-05C25FB8EDF4}"/>
              </a:ext>
            </a:extLst>
          </p:cNvPr>
          <p:cNvPicPr>
            <a:picLocks noChangeAspect="1"/>
          </p:cNvPicPr>
          <p:nvPr/>
        </p:nvPicPr>
        <p:blipFill>
          <a:blip r:embed="rId2"/>
          <a:srcRect b="70219"/>
          <a:stretch/>
        </p:blipFill>
        <p:spPr>
          <a:xfrm>
            <a:off x="0" y="1357796"/>
            <a:ext cx="12122692" cy="3880954"/>
          </a:xfrm>
          <a:prstGeom prst="rect">
            <a:avLst/>
          </a:prstGeom>
        </p:spPr>
      </p:pic>
    </p:spTree>
    <p:extLst>
      <p:ext uri="{BB962C8B-B14F-4D97-AF65-F5344CB8AC3E}">
        <p14:creationId xmlns:p14="http://schemas.microsoft.com/office/powerpoint/2010/main" val="3069527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2C142D-DE25-3F72-F45D-318EB37B89BB}"/>
              </a:ext>
            </a:extLst>
          </p:cNvPr>
          <p:cNvSpPr txBox="1"/>
          <p:nvPr/>
        </p:nvSpPr>
        <p:spPr>
          <a:xfrm>
            <a:off x="2645194" y="38911"/>
            <a:ext cx="896399" cy="261610"/>
          </a:xfrm>
          <a:prstGeom prst="rect">
            <a:avLst/>
          </a:prstGeom>
          <a:noFill/>
        </p:spPr>
        <p:txBody>
          <a:bodyPr wrap="none" rtlCol="0">
            <a:spAutoFit/>
          </a:bodyPr>
          <a:lstStyle/>
          <a:p>
            <a:r>
              <a:rPr lang="fr-FR" sz="1100" dirty="0" err="1"/>
              <a:t>Stiffness</a:t>
            </a:r>
            <a:r>
              <a:rPr lang="fr-FR" sz="1100" dirty="0"/>
              <a:t> = 4</a:t>
            </a:r>
          </a:p>
        </p:txBody>
      </p:sp>
      <p:sp>
        <p:nvSpPr>
          <p:cNvPr id="5" name="TextBox 4">
            <a:extLst>
              <a:ext uri="{FF2B5EF4-FFF2-40B4-BE49-F238E27FC236}">
                <a16:creationId xmlns:a16="http://schemas.microsoft.com/office/drawing/2014/main" id="{1F2D2DDE-64EE-3260-A6B1-BD03957A8DAA}"/>
              </a:ext>
            </a:extLst>
          </p:cNvPr>
          <p:cNvSpPr txBox="1"/>
          <p:nvPr/>
        </p:nvSpPr>
        <p:spPr>
          <a:xfrm>
            <a:off x="8932504" y="38911"/>
            <a:ext cx="896399" cy="261610"/>
          </a:xfrm>
          <a:prstGeom prst="rect">
            <a:avLst/>
          </a:prstGeom>
          <a:noFill/>
        </p:spPr>
        <p:txBody>
          <a:bodyPr wrap="none" rtlCol="0">
            <a:spAutoFit/>
          </a:bodyPr>
          <a:lstStyle/>
          <a:p>
            <a:r>
              <a:rPr lang="fr-FR" sz="1100" dirty="0" err="1"/>
              <a:t>Stiffness</a:t>
            </a:r>
            <a:r>
              <a:rPr lang="fr-FR" sz="1100" dirty="0"/>
              <a:t> = 3</a:t>
            </a:r>
          </a:p>
        </p:txBody>
      </p:sp>
      <p:pic>
        <p:nvPicPr>
          <p:cNvPr id="8" name="Picture 7">
            <a:extLst>
              <a:ext uri="{FF2B5EF4-FFF2-40B4-BE49-F238E27FC236}">
                <a16:creationId xmlns:a16="http://schemas.microsoft.com/office/drawing/2014/main" id="{24108ABC-4758-C172-6155-98208CC80BD2}"/>
              </a:ext>
            </a:extLst>
          </p:cNvPr>
          <p:cNvPicPr>
            <a:picLocks noChangeAspect="1"/>
          </p:cNvPicPr>
          <p:nvPr/>
        </p:nvPicPr>
        <p:blipFill>
          <a:blip r:embed="rId2"/>
          <a:stretch>
            <a:fillRect/>
          </a:stretch>
        </p:blipFill>
        <p:spPr>
          <a:xfrm>
            <a:off x="-1" y="300520"/>
            <a:ext cx="6023403" cy="6475027"/>
          </a:xfrm>
          <a:prstGeom prst="rect">
            <a:avLst/>
          </a:prstGeom>
        </p:spPr>
      </p:pic>
      <p:pic>
        <p:nvPicPr>
          <p:cNvPr id="9" name="Picture 8">
            <a:extLst>
              <a:ext uri="{FF2B5EF4-FFF2-40B4-BE49-F238E27FC236}">
                <a16:creationId xmlns:a16="http://schemas.microsoft.com/office/drawing/2014/main" id="{68B71846-8BF3-9E0C-E69F-8A11BCD65285}"/>
              </a:ext>
            </a:extLst>
          </p:cNvPr>
          <p:cNvPicPr>
            <a:picLocks noChangeAspect="1"/>
          </p:cNvPicPr>
          <p:nvPr/>
        </p:nvPicPr>
        <p:blipFill>
          <a:blip r:embed="rId3"/>
          <a:stretch>
            <a:fillRect/>
          </a:stretch>
        </p:blipFill>
        <p:spPr>
          <a:xfrm>
            <a:off x="6096000" y="300520"/>
            <a:ext cx="6023403" cy="6489987"/>
          </a:xfrm>
          <a:prstGeom prst="rect">
            <a:avLst/>
          </a:prstGeom>
        </p:spPr>
      </p:pic>
      <p:sp>
        <p:nvSpPr>
          <p:cNvPr id="10" name="ZoneTexte 74">
            <a:extLst>
              <a:ext uri="{FF2B5EF4-FFF2-40B4-BE49-F238E27FC236}">
                <a16:creationId xmlns:a16="http://schemas.microsoft.com/office/drawing/2014/main" id="{61B86BC8-3123-6680-2AEA-DE3ED614433E}"/>
              </a:ext>
            </a:extLst>
          </p:cNvPr>
          <p:cNvSpPr txBox="1"/>
          <p:nvPr/>
        </p:nvSpPr>
        <p:spPr>
          <a:xfrm rot="16200000">
            <a:off x="541711" y="6153702"/>
            <a:ext cx="403756" cy="153888"/>
          </a:xfrm>
          <a:prstGeom prst="rect">
            <a:avLst/>
          </a:prstGeom>
          <a:solidFill>
            <a:srgbClr val="F9F9F9"/>
          </a:solidFill>
        </p:spPr>
        <p:txBody>
          <a:bodyPr wrap="square" rtlCol="0">
            <a:spAutoFit/>
          </a:bodyPr>
          <a:lstStyle/>
          <a:p>
            <a:pPr algn="ctr"/>
            <a:r>
              <a:rPr lang="en-US" sz="400" dirty="0">
                <a:latin typeface="Times New Roman" panose="02020603050405020304" pitchFamily="18" charset="0"/>
                <a:cs typeface="Times New Roman" panose="02020603050405020304" pitchFamily="18" charset="0"/>
              </a:rPr>
              <a:t>AU</a:t>
            </a:r>
            <a:endParaRPr lang="en-US" sz="200" i="1" dirty="0">
              <a:latin typeface="Times New Roman" panose="02020603050405020304" pitchFamily="18" charset="0"/>
              <a:cs typeface="Times New Roman" panose="02020603050405020304" pitchFamily="18" charset="0"/>
            </a:endParaRPr>
          </a:p>
        </p:txBody>
      </p:sp>
      <p:sp>
        <p:nvSpPr>
          <p:cNvPr id="11" name="ZoneTexte 74">
            <a:extLst>
              <a:ext uri="{FF2B5EF4-FFF2-40B4-BE49-F238E27FC236}">
                <a16:creationId xmlns:a16="http://schemas.microsoft.com/office/drawing/2014/main" id="{5797A81E-A119-2A01-9C9C-122D3E86CB79}"/>
              </a:ext>
            </a:extLst>
          </p:cNvPr>
          <p:cNvSpPr txBox="1"/>
          <p:nvPr/>
        </p:nvSpPr>
        <p:spPr>
          <a:xfrm rot="16200000">
            <a:off x="6633456" y="6154261"/>
            <a:ext cx="403756" cy="153888"/>
          </a:xfrm>
          <a:prstGeom prst="rect">
            <a:avLst/>
          </a:prstGeom>
          <a:solidFill>
            <a:srgbClr val="F9F8FE"/>
          </a:solidFill>
        </p:spPr>
        <p:txBody>
          <a:bodyPr wrap="square" rtlCol="0">
            <a:spAutoFit/>
          </a:bodyPr>
          <a:lstStyle/>
          <a:p>
            <a:pPr algn="ctr"/>
            <a:r>
              <a:rPr lang="en-US" sz="400" dirty="0">
                <a:latin typeface="Times New Roman" panose="02020603050405020304" pitchFamily="18" charset="0"/>
                <a:cs typeface="Times New Roman" panose="02020603050405020304" pitchFamily="18" charset="0"/>
              </a:rPr>
              <a:t>AU</a:t>
            </a:r>
            <a:endParaRPr lang="en-US" sz="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218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CA89C2-F3F0-E5E2-113D-6352D68377F4}"/>
              </a:ext>
            </a:extLst>
          </p:cNvPr>
          <p:cNvSpPr txBox="1"/>
          <p:nvPr/>
        </p:nvSpPr>
        <p:spPr>
          <a:xfrm>
            <a:off x="933450" y="828675"/>
            <a:ext cx="1402948" cy="369332"/>
          </a:xfrm>
          <a:prstGeom prst="rect">
            <a:avLst/>
          </a:prstGeom>
          <a:noFill/>
        </p:spPr>
        <p:txBody>
          <a:bodyPr wrap="none" rtlCol="0">
            <a:spAutoFit/>
          </a:bodyPr>
          <a:lstStyle/>
          <a:p>
            <a:r>
              <a:rPr lang="fr-FR" b="1" dirty="0"/>
              <a:t>Perspectives</a:t>
            </a:r>
          </a:p>
        </p:txBody>
      </p:sp>
      <p:sp>
        <p:nvSpPr>
          <p:cNvPr id="3" name="TextBox 2">
            <a:extLst>
              <a:ext uri="{FF2B5EF4-FFF2-40B4-BE49-F238E27FC236}">
                <a16:creationId xmlns:a16="http://schemas.microsoft.com/office/drawing/2014/main" id="{AF16493F-707A-147C-7A87-4A62E3D8D3C3}"/>
              </a:ext>
            </a:extLst>
          </p:cNvPr>
          <p:cNvSpPr txBox="1"/>
          <p:nvPr/>
        </p:nvSpPr>
        <p:spPr>
          <a:xfrm>
            <a:off x="1266826" y="1485900"/>
            <a:ext cx="10153650" cy="2585323"/>
          </a:xfrm>
          <a:prstGeom prst="rect">
            <a:avLst/>
          </a:prstGeom>
          <a:noFill/>
        </p:spPr>
        <p:txBody>
          <a:bodyPr wrap="square" rtlCol="0">
            <a:spAutoFit/>
          </a:bodyPr>
          <a:lstStyle/>
          <a:p>
            <a:pPr marL="285750" indent="-285750">
              <a:buFont typeface="Arial" panose="020B0604020202020204" pitchFamily="34" charset="0"/>
              <a:buChar char="•"/>
            </a:pPr>
            <a:r>
              <a:rPr lang="fr-FR" dirty="0"/>
              <a:t>Write up the EMG/EEG </a:t>
            </a:r>
            <a:r>
              <a:rPr lang="fr-FR" dirty="0" err="1"/>
              <a:t>work</a:t>
            </a:r>
            <a:r>
              <a:rPr lang="fr-FR" dirty="0"/>
              <a:t>. The main issue </a:t>
            </a:r>
            <a:r>
              <a:rPr lang="fr-FR" dirty="0" err="1"/>
              <a:t>concerns</a:t>
            </a:r>
            <a:r>
              <a:rPr lang="fr-FR" dirty="0"/>
              <a:t> the </a:t>
            </a:r>
            <a:r>
              <a:rPr lang="fr-FR" dirty="0" err="1"/>
              <a:t>stiffness</a:t>
            </a:r>
            <a:r>
              <a:rPr lang="fr-FR" dirty="0"/>
              <a:t> </a:t>
            </a:r>
            <a:r>
              <a:rPr lang="fr-FR" dirty="0" err="1"/>
              <a:t>parameter</a:t>
            </a:r>
            <a:r>
              <a:rPr lang="fr-FR" dirty="0"/>
              <a:t> of the CSD. People have </a:t>
            </a:r>
            <a:r>
              <a:rPr lang="fr-FR" dirty="0" err="1"/>
              <a:t>used</a:t>
            </a:r>
            <a:r>
              <a:rPr lang="fr-FR" dirty="0"/>
              <a:t> </a:t>
            </a:r>
            <a:r>
              <a:rPr lang="fr-FR" dirty="0" err="1"/>
              <a:t>both</a:t>
            </a:r>
            <a:r>
              <a:rPr lang="fr-FR" dirty="0"/>
              <a:t> </a:t>
            </a:r>
            <a:r>
              <a:rPr lang="fr-FR" dirty="0" err="1"/>
              <a:t>stiffness</a:t>
            </a:r>
            <a:r>
              <a:rPr lang="fr-FR" dirty="0"/>
              <a:t> = 3 (e.g., Vidal, Burle) and 4 (e.g., </a:t>
            </a:r>
            <a:r>
              <a:rPr lang="fr-FR" dirty="0" err="1"/>
              <a:t>O’Connell</a:t>
            </a:r>
            <a:r>
              <a:rPr lang="fr-FR" dirty="0"/>
              <a:t>, Kelly) in the </a:t>
            </a:r>
            <a:r>
              <a:rPr lang="fr-FR" dirty="0" err="1"/>
              <a:t>literature</a:t>
            </a:r>
            <a:r>
              <a:rPr lang="fr-FR" dirty="0"/>
              <a:t>. </a:t>
            </a:r>
            <a:r>
              <a:rPr lang="fr-FR" dirty="0" err="1"/>
              <a:t>Others</a:t>
            </a:r>
            <a:r>
              <a:rPr lang="fr-FR" dirty="0"/>
              <a:t> have not </a:t>
            </a:r>
            <a:r>
              <a:rPr lang="fr-FR" dirty="0" err="1"/>
              <a:t>used</a:t>
            </a:r>
            <a:r>
              <a:rPr lang="fr-FR" dirty="0"/>
              <a:t> </a:t>
            </a:r>
            <a:r>
              <a:rPr lang="fr-FR" dirty="0" err="1"/>
              <a:t>any</a:t>
            </a:r>
            <a:r>
              <a:rPr lang="fr-FR" dirty="0"/>
              <a:t> CSD </a:t>
            </a:r>
            <a:r>
              <a:rPr lang="fr-FR" dirty="0" err="1"/>
              <a:t>transform</a:t>
            </a:r>
            <a:r>
              <a:rPr lang="fr-FR" dirty="0"/>
              <a:t> (e.g., </a:t>
            </a:r>
            <a:r>
              <a:rPr lang="fr-FR" dirty="0" err="1"/>
              <a:t>Fromer</a:t>
            </a:r>
            <a:r>
              <a:rPr lang="fr-FR" dirty="0"/>
              <a:t>, Rogge). Ours conclusions </a:t>
            </a:r>
            <a:r>
              <a:rPr lang="fr-FR" dirty="0" err="1"/>
              <a:t>appear</a:t>
            </a:r>
            <a:r>
              <a:rPr lang="fr-FR" dirty="0"/>
              <a:t> to </a:t>
            </a:r>
            <a:r>
              <a:rPr lang="fr-FR" dirty="0" err="1"/>
              <a:t>be</a:t>
            </a:r>
            <a:r>
              <a:rPr lang="fr-FR" dirty="0"/>
              <a:t> </a:t>
            </a:r>
            <a:r>
              <a:rPr lang="fr-FR" dirty="0" err="1"/>
              <a:t>very</a:t>
            </a:r>
            <a:r>
              <a:rPr lang="fr-FR" dirty="0"/>
              <a:t> </a:t>
            </a:r>
            <a:r>
              <a:rPr lang="fr-FR" dirty="0" err="1"/>
              <a:t>different</a:t>
            </a:r>
            <a:r>
              <a:rPr lang="fr-FR" dirty="0"/>
              <a:t> </a:t>
            </a:r>
            <a:r>
              <a:rPr lang="fr-FR" dirty="0" err="1"/>
              <a:t>depending</a:t>
            </a:r>
            <a:r>
              <a:rPr lang="fr-FR" dirty="0"/>
              <a:t> of </a:t>
            </a:r>
            <a:r>
              <a:rPr lang="fr-FR" dirty="0" err="1"/>
              <a:t>these</a:t>
            </a:r>
            <a:r>
              <a:rPr lang="fr-FR" dirty="0"/>
              <a:t> </a:t>
            </a:r>
            <a:r>
              <a:rPr lang="fr-FR" dirty="0" err="1"/>
              <a:t>choices</a:t>
            </a:r>
            <a:r>
              <a:rPr lang="fr-FR" dirty="0"/>
              <a:t>.</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err="1"/>
              <a:t>Third</a:t>
            </a:r>
            <a:r>
              <a:rPr lang="fr-FR" dirty="0"/>
              <a:t> </a:t>
            </a:r>
            <a:r>
              <a:rPr lang="fr-FR" dirty="0" err="1"/>
              <a:t>year</a:t>
            </a:r>
            <a:r>
              <a:rPr lang="fr-FR" dirty="0"/>
              <a:t> of PhD: </a:t>
            </a:r>
            <a:r>
              <a:rPr lang="fr-FR" dirty="0" err="1"/>
              <a:t>we</a:t>
            </a:r>
            <a:r>
              <a:rPr lang="fr-FR" dirty="0"/>
              <a:t> are </a:t>
            </a:r>
            <a:r>
              <a:rPr lang="fr-FR" dirty="0" err="1"/>
              <a:t>currently</a:t>
            </a:r>
            <a:r>
              <a:rPr lang="fr-FR" dirty="0"/>
              <a:t> planning an </a:t>
            </a:r>
            <a:r>
              <a:rPr lang="fr-FR" dirty="0" err="1"/>
              <a:t>experiment</a:t>
            </a:r>
            <a:r>
              <a:rPr lang="fr-FR" dirty="0"/>
              <a:t> to </a:t>
            </a:r>
            <a:r>
              <a:rPr lang="fr-FR" dirty="0" err="1"/>
              <a:t>investigate</a:t>
            </a:r>
            <a:r>
              <a:rPr lang="fr-FR" dirty="0"/>
              <a:t> </a:t>
            </a:r>
            <a:r>
              <a:rPr lang="fr-FR" dirty="0" err="1"/>
              <a:t>why</a:t>
            </a:r>
            <a:r>
              <a:rPr lang="fr-FR" dirty="0"/>
              <a:t> the motion coherence </a:t>
            </a:r>
            <a:r>
              <a:rPr lang="fr-FR" dirty="0" err="1"/>
              <a:t>effect</a:t>
            </a:r>
            <a:r>
              <a:rPr lang="fr-FR" dirty="0"/>
              <a:t> of EMG </a:t>
            </a:r>
            <a:r>
              <a:rPr lang="fr-FR" dirty="0" err="1"/>
              <a:t>slopes</a:t>
            </a:r>
            <a:r>
              <a:rPr lang="fr-FR" dirty="0"/>
              <a:t> </a:t>
            </a:r>
            <a:r>
              <a:rPr lang="fr-FR" dirty="0" err="1"/>
              <a:t>is</a:t>
            </a:r>
            <a:r>
              <a:rPr lang="fr-FR" dirty="0"/>
              <a:t> </a:t>
            </a:r>
            <a:r>
              <a:rPr lang="fr-FR" dirty="0" err="1"/>
              <a:t>sometimes</a:t>
            </a:r>
            <a:r>
              <a:rPr lang="fr-FR" dirty="0"/>
              <a:t> reliable and </a:t>
            </a:r>
            <a:r>
              <a:rPr lang="fr-FR" dirty="0" err="1"/>
              <a:t>sometimes</a:t>
            </a:r>
            <a:r>
              <a:rPr lang="fr-FR" dirty="0"/>
              <a:t> not. Our </a:t>
            </a:r>
            <a:r>
              <a:rPr lang="fr-FR" dirty="0" err="1"/>
              <a:t>hypothesis</a:t>
            </a:r>
            <a:r>
              <a:rPr lang="fr-FR" dirty="0"/>
              <a:t> </a:t>
            </a:r>
            <a:r>
              <a:rPr lang="fr-FR" dirty="0" err="1"/>
              <a:t>is</a:t>
            </a:r>
            <a:r>
              <a:rPr lang="fr-FR" dirty="0"/>
              <a:t> </a:t>
            </a:r>
            <a:r>
              <a:rPr lang="fr-FR" dirty="0" err="1"/>
              <a:t>that</a:t>
            </a:r>
            <a:r>
              <a:rPr lang="fr-FR" dirty="0"/>
              <a:t> people store </a:t>
            </a:r>
            <a:r>
              <a:rPr lang="fr-FR" dirty="0" err="1"/>
              <a:t>samples</a:t>
            </a:r>
            <a:r>
              <a:rPr lang="fr-FR" dirty="0"/>
              <a:t> of </a:t>
            </a:r>
            <a:r>
              <a:rPr lang="fr-FR" dirty="0" err="1"/>
              <a:t>evidence</a:t>
            </a:r>
            <a:r>
              <a:rPr lang="fr-FR" dirty="0"/>
              <a:t> in memory and « replay » the </a:t>
            </a:r>
            <a:r>
              <a:rPr lang="fr-FR" dirty="0" err="1"/>
              <a:t>decision</a:t>
            </a:r>
            <a:r>
              <a:rPr lang="fr-FR" dirty="0"/>
              <a:t> </a:t>
            </a:r>
            <a:r>
              <a:rPr lang="fr-FR" dirty="0" err="1"/>
              <a:t>after</a:t>
            </a:r>
            <a:r>
              <a:rPr lang="fr-FR" dirty="0"/>
              <a:t> the </a:t>
            </a:r>
            <a:r>
              <a:rPr lang="fr-FR" dirty="0" err="1"/>
              <a:t>response</a:t>
            </a:r>
            <a:r>
              <a:rPr lang="fr-FR"/>
              <a:t> signal </a:t>
            </a:r>
            <a:r>
              <a:rPr lang="fr-FR" dirty="0" err="1"/>
              <a:t>when</a:t>
            </a:r>
            <a:r>
              <a:rPr lang="fr-FR" dirty="0"/>
              <a:t> the </a:t>
            </a:r>
            <a:r>
              <a:rPr lang="fr-FR" dirty="0" err="1"/>
              <a:t>cost</a:t>
            </a:r>
            <a:r>
              <a:rPr lang="fr-FR" dirty="0"/>
              <a:t> of </a:t>
            </a:r>
            <a:r>
              <a:rPr lang="fr-FR" dirty="0" err="1"/>
              <a:t>doing</a:t>
            </a:r>
            <a:r>
              <a:rPr lang="fr-FR" dirty="0"/>
              <a:t> </a:t>
            </a:r>
            <a:r>
              <a:rPr lang="fr-FR" dirty="0" err="1"/>
              <a:t>so</a:t>
            </a:r>
            <a:r>
              <a:rPr lang="fr-FR" dirty="0"/>
              <a:t> </a:t>
            </a:r>
            <a:r>
              <a:rPr lang="fr-FR" dirty="0" err="1"/>
              <a:t>does</a:t>
            </a:r>
            <a:r>
              <a:rPr lang="fr-FR" dirty="0"/>
              <a:t> not </a:t>
            </a:r>
            <a:r>
              <a:rPr lang="fr-FR" dirty="0" err="1"/>
              <a:t>exceed</a:t>
            </a:r>
            <a:r>
              <a:rPr lang="fr-FR" dirty="0"/>
              <a:t> the </a:t>
            </a:r>
            <a:r>
              <a:rPr lang="fr-FR" dirty="0" err="1"/>
              <a:t>benefits</a:t>
            </a:r>
            <a:r>
              <a:rPr lang="fr-FR" dirty="0"/>
              <a:t> (e.g., high </a:t>
            </a:r>
            <a:r>
              <a:rPr lang="fr-FR" dirty="0" err="1"/>
              <a:t>reward</a:t>
            </a:r>
            <a:r>
              <a:rPr lang="fr-FR" dirty="0"/>
              <a:t> for a correct </a:t>
            </a:r>
            <a:r>
              <a:rPr lang="fr-FR" dirty="0" err="1"/>
              <a:t>response</a:t>
            </a:r>
            <a:r>
              <a:rPr lang="fr-FR" dirty="0"/>
              <a:t>).</a:t>
            </a:r>
          </a:p>
        </p:txBody>
      </p:sp>
    </p:spTree>
    <p:extLst>
      <p:ext uri="{BB962C8B-B14F-4D97-AF65-F5344CB8AC3E}">
        <p14:creationId xmlns:p14="http://schemas.microsoft.com/office/powerpoint/2010/main" val="1825645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PA">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2967</TotalTime>
  <Words>2363</Words>
  <Application>Microsoft Office PowerPoint</Application>
  <PresentationFormat>Widescreen</PresentationFormat>
  <Paragraphs>240</Paragraphs>
  <Slides>25</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Calibri</vt:lpstr>
      <vt:lpstr>Cambria Math</vt:lpstr>
      <vt:lpstr>Courier New</vt:lpstr>
      <vt:lpstr>Times New Roman</vt:lpstr>
      <vt:lpstr>Wingdings</vt:lpstr>
      <vt:lpstr>Office Theme</vt:lpstr>
      <vt:lpstr>Decision-Action Decoupling: Mechanisms and Neural Bases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ACHARD</dc:creator>
  <cp:lastModifiedBy>Johan  ACHARD</cp:lastModifiedBy>
  <cp:revision>156</cp:revision>
  <dcterms:created xsi:type="dcterms:W3CDTF">2024-11-04T08:08:30Z</dcterms:created>
  <dcterms:modified xsi:type="dcterms:W3CDTF">2024-11-06T11:08:35Z</dcterms:modified>
</cp:coreProperties>
</file>