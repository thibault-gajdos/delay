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0" r:id="rId3"/>
    <p:sldId id="265" r:id="rId4"/>
    <p:sldId id="261" r:id="rId5"/>
    <p:sldId id="257" r:id="rId6"/>
    <p:sldId id="263" r:id="rId7"/>
    <p:sldId id="262" r:id="rId8"/>
    <p:sldId id="264" r:id="rId9"/>
    <p:sldId id="288" r:id="rId10"/>
    <p:sldId id="267" r:id="rId11"/>
    <p:sldId id="287" r:id="rId12"/>
    <p:sldId id="278" r:id="rId13"/>
    <p:sldId id="268" r:id="rId14"/>
    <p:sldId id="289" r:id="rId15"/>
    <p:sldId id="290" r:id="rId16"/>
    <p:sldId id="291" r:id="rId17"/>
    <p:sldId id="281" r:id="rId18"/>
    <p:sldId id="271" r:id="rId19"/>
    <p:sldId id="282" r:id="rId20"/>
    <p:sldId id="283" r:id="rId21"/>
    <p:sldId id="284" r:id="rId22"/>
    <p:sldId id="285" r:id="rId23"/>
    <p:sldId id="277"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9BD1"/>
    <a:srgbClr val="A569B0"/>
    <a:srgbClr val="4B1F5F"/>
    <a:srgbClr val="FFFFFF"/>
    <a:srgbClr val="BFBFBF"/>
    <a:srgbClr val="7F7F7F"/>
    <a:srgbClr val="CBB491"/>
    <a:srgbClr val="FFF8EB"/>
    <a:srgbClr val="F1EEEB"/>
    <a:srgbClr val="338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75" autoAdjust="0"/>
    <p:restoredTop sz="95447" autoAdjust="0"/>
  </p:normalViewPr>
  <p:slideViewPr>
    <p:cSldViewPr snapToGrid="0">
      <p:cViewPr>
        <p:scale>
          <a:sx n="125" d="100"/>
          <a:sy n="125" d="100"/>
        </p:scale>
        <p:origin x="2004" y="6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4EF9A-A44B-4750-85B0-7CE4011D0E5B}"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AF94F-9A50-4870-9E80-4E78B708F4EA}" type="slidenum">
              <a:rPr lang="en-US" smtClean="0"/>
              <a:t>‹N°›</a:t>
            </a:fld>
            <a:endParaRPr lang="en-US"/>
          </a:p>
        </p:txBody>
      </p:sp>
    </p:spTree>
    <p:extLst>
      <p:ext uri="{BB962C8B-B14F-4D97-AF65-F5344CB8AC3E}">
        <p14:creationId xmlns:p14="http://schemas.microsoft.com/office/powerpoint/2010/main" val="1233152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7AF94F-9A50-4870-9E80-4E78B708F4EA}" type="slidenum">
              <a:rPr lang="en-US" smtClean="0"/>
              <a:t>4</a:t>
            </a:fld>
            <a:endParaRPr lang="en-US"/>
          </a:p>
        </p:txBody>
      </p:sp>
    </p:spTree>
    <p:extLst>
      <p:ext uri="{BB962C8B-B14F-4D97-AF65-F5344CB8AC3E}">
        <p14:creationId xmlns:p14="http://schemas.microsoft.com/office/powerpoint/2010/main" val="1556080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spcAft>
                <a:spcPts val="600"/>
              </a:spcAft>
            </a:pPr>
            <a:r>
              <a:rPr lang="en-US" b="1" dirty="0">
                <a:solidFill>
                  <a:schemeClr val="tx2"/>
                </a:solidFill>
                <a:highlight>
                  <a:srgbClr val="FFFF00"/>
                </a:highlight>
              </a:rPr>
              <a:t>Accuracy</a:t>
            </a:r>
          </a:p>
          <a:p>
            <a:pPr marL="285750" indent="-285750">
              <a:buFont typeface="Arial" panose="020B0604020202020204" pitchFamily="34" charset="0"/>
              <a:buChar char="•"/>
            </a:pPr>
            <a:r>
              <a:rPr lang="en-US" dirty="0"/>
              <a:t>Mean accuracy increased with coherence. </a:t>
            </a:r>
          </a:p>
          <a:p>
            <a:pPr marL="285750" indent="-285750">
              <a:buFont typeface="Arial" panose="020B0604020202020204" pitchFamily="34" charset="0"/>
              <a:buChar char="•"/>
            </a:pPr>
            <a:r>
              <a:rPr lang="en-US" dirty="0"/>
              <a:t>No difference observed between trial value or reward-onset timing.</a:t>
            </a:r>
          </a:p>
          <a:p>
            <a:pPr marL="285750" indent="-285750">
              <a:buFont typeface="Arial" panose="020B0604020202020204" pitchFamily="34" charset="0"/>
              <a:buChar char="•"/>
            </a:pPr>
            <a:endParaRPr lang="en-US" dirty="0"/>
          </a:p>
          <a:p>
            <a:r>
              <a:rPr lang="en-US" b="1" dirty="0">
                <a:highlight>
                  <a:srgbClr val="FFFF00"/>
                </a:highlight>
              </a:rPr>
              <a:t>Mean RT</a:t>
            </a:r>
          </a:p>
          <a:p>
            <a:pPr marL="285750" indent="-285750">
              <a:buFont typeface="Arial" panose="020B0604020202020204" pitchFamily="34" charset="0"/>
              <a:buChar char="•"/>
            </a:pPr>
            <a:r>
              <a:rPr lang="en-US" dirty="0"/>
              <a:t>Mean RT seems decrease as coherence level increased.</a:t>
            </a:r>
          </a:p>
          <a:p>
            <a:pPr marL="285750" indent="-285750">
              <a:buFont typeface="Arial" panose="020B0604020202020204" pitchFamily="34" charset="0"/>
              <a:buChar char="•"/>
            </a:pPr>
            <a:r>
              <a:rPr lang="en-US" dirty="0"/>
              <a:t>It was higher for regular than critical trials.</a:t>
            </a:r>
          </a:p>
          <a:p>
            <a:pPr marL="285750" indent="-285750">
              <a:buFont typeface="Arial" panose="020B0604020202020204" pitchFamily="34" charset="0"/>
              <a:buChar char="•"/>
            </a:pPr>
            <a:r>
              <a:rPr lang="en-US" dirty="0"/>
              <a:t>It was higher for RS reward-onset compared to others.</a:t>
            </a:r>
          </a:p>
          <a:p>
            <a:endParaRPr lang="en-US" dirty="0"/>
          </a:p>
        </p:txBody>
      </p:sp>
      <p:sp>
        <p:nvSpPr>
          <p:cNvPr id="4" name="Slide Number Placeholder 3"/>
          <p:cNvSpPr>
            <a:spLocks noGrp="1"/>
          </p:cNvSpPr>
          <p:nvPr>
            <p:ph type="sldNum" sz="quarter" idx="5"/>
          </p:nvPr>
        </p:nvSpPr>
        <p:spPr/>
        <p:txBody>
          <a:bodyPr/>
          <a:lstStyle/>
          <a:p>
            <a:fld id="{877AF94F-9A50-4870-9E80-4E78B708F4EA}" type="slidenum">
              <a:rPr lang="en-US" smtClean="0"/>
              <a:t>5</a:t>
            </a:fld>
            <a:endParaRPr lang="en-US"/>
          </a:p>
        </p:txBody>
      </p:sp>
    </p:spTree>
    <p:extLst>
      <p:ext uri="{BB962C8B-B14F-4D97-AF65-F5344CB8AC3E}">
        <p14:creationId xmlns:p14="http://schemas.microsoft.com/office/powerpoint/2010/main" val="259121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sz="1200" b="1" dirty="0">
                <a:solidFill>
                  <a:schemeClr val="bg2">
                    <a:lumMod val="50000"/>
                  </a:schemeClr>
                </a:solidFill>
              </a:rPr>
              <a:t>Hypothesis</a:t>
            </a:r>
            <a:r>
              <a:rPr lang="en-US" sz="1200" b="0" dirty="0">
                <a:solidFill>
                  <a:schemeClr val="bg2">
                    <a:lumMod val="50000"/>
                  </a:schemeClr>
                </a:solidFill>
              </a:rPr>
              <a:t> = “magnitude of the effect of motion coherence (…) will be larger for critical than regular trials, reflecting a stronger attempt to "replay" the decision”</a:t>
            </a:r>
          </a:p>
          <a:p>
            <a:r>
              <a:rPr lang="en-US" sz="1200" b="0" dirty="0">
                <a:solidFill>
                  <a:schemeClr val="bg2">
                    <a:lumMod val="50000"/>
                  </a:schemeClr>
                </a:solidFill>
                <a:sym typeface="Wingdings" panose="05000000000000000000" pitchFamily="2" charset="2"/>
              </a:rPr>
              <a:t> pas </a:t>
            </a:r>
            <a:r>
              <a:rPr lang="en-US" sz="1200" b="0" dirty="0" err="1">
                <a:solidFill>
                  <a:schemeClr val="bg2">
                    <a:lumMod val="50000"/>
                  </a:schemeClr>
                </a:solidFill>
                <a:sym typeface="Wingdings" panose="05000000000000000000" pitchFamily="2" charset="2"/>
              </a:rPr>
              <a:t>d’effet</a:t>
            </a:r>
            <a:r>
              <a:rPr lang="en-US" sz="1200" b="0" dirty="0">
                <a:solidFill>
                  <a:schemeClr val="bg2">
                    <a:lumMod val="50000"/>
                  </a:schemeClr>
                </a:solidFill>
                <a:sym typeface="Wingdings" panose="05000000000000000000" pitchFamily="2" charset="2"/>
              </a:rPr>
              <a:t> </a:t>
            </a:r>
            <a:r>
              <a:rPr lang="en-US" sz="1200" b="0" dirty="0" err="1">
                <a:solidFill>
                  <a:schemeClr val="bg2">
                    <a:lumMod val="50000"/>
                  </a:schemeClr>
                </a:solidFill>
                <a:sym typeface="Wingdings" panose="05000000000000000000" pitchFamily="2" charset="2"/>
              </a:rPr>
              <a:t>d’interaction</a:t>
            </a:r>
            <a:r>
              <a:rPr lang="en-US" sz="1200" b="0" dirty="0">
                <a:solidFill>
                  <a:schemeClr val="bg2">
                    <a:lumMod val="50000"/>
                  </a:schemeClr>
                </a:solidFill>
                <a:sym typeface="Wingdings" panose="05000000000000000000" pitchFamily="2" charset="2"/>
              </a:rPr>
              <a:t> </a:t>
            </a:r>
            <a:r>
              <a:rPr lang="en-US" dirty="0"/>
              <a:t>coherence × trial value sur mean PMET et MET </a:t>
            </a:r>
            <a:r>
              <a:rPr lang="en-US" dirty="0" err="1"/>
              <a:t>donc</a:t>
            </a:r>
            <a:r>
              <a:rPr lang="en-US" dirty="0"/>
              <a:t> </a:t>
            </a:r>
            <a:r>
              <a:rPr lang="en-US" dirty="0" err="1"/>
              <a:t>hypothèse</a:t>
            </a:r>
            <a:r>
              <a:rPr lang="en-US" dirty="0"/>
              <a:t> de ‘replay’ </a:t>
            </a:r>
            <a:r>
              <a:rPr lang="en-US" dirty="0" err="1"/>
              <a:t>rejetée</a:t>
            </a:r>
            <a:endParaRPr lang="en-US" b="0" dirty="0"/>
          </a:p>
        </p:txBody>
      </p:sp>
      <p:sp>
        <p:nvSpPr>
          <p:cNvPr id="4" name="Espace réservé du numéro de diapositive 3"/>
          <p:cNvSpPr>
            <a:spLocks noGrp="1"/>
          </p:cNvSpPr>
          <p:nvPr>
            <p:ph type="sldNum" sz="quarter" idx="5"/>
          </p:nvPr>
        </p:nvSpPr>
        <p:spPr/>
        <p:txBody>
          <a:bodyPr/>
          <a:lstStyle/>
          <a:p>
            <a:fld id="{877AF94F-9A50-4870-9E80-4E78B708F4EA}" type="slidenum">
              <a:rPr lang="en-US" smtClean="0"/>
              <a:t>6</a:t>
            </a:fld>
            <a:endParaRPr lang="en-US"/>
          </a:p>
        </p:txBody>
      </p:sp>
    </p:spTree>
    <p:extLst>
      <p:ext uri="{BB962C8B-B14F-4D97-AF65-F5344CB8AC3E}">
        <p14:creationId xmlns:p14="http://schemas.microsoft.com/office/powerpoint/2010/main" val="682260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7AF94F-9A50-4870-9E80-4E78B708F4EA}" type="slidenum">
              <a:rPr lang="en-US" smtClean="0"/>
              <a:t>10</a:t>
            </a:fld>
            <a:endParaRPr lang="en-US"/>
          </a:p>
        </p:txBody>
      </p:sp>
    </p:spTree>
    <p:extLst>
      <p:ext uri="{BB962C8B-B14F-4D97-AF65-F5344CB8AC3E}">
        <p14:creationId xmlns:p14="http://schemas.microsoft.com/office/powerpoint/2010/main" val="3234430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7AF94F-9A50-4870-9E80-4E78B708F4EA}" type="slidenum">
              <a:rPr lang="en-US" smtClean="0"/>
              <a:t>13</a:t>
            </a:fld>
            <a:endParaRPr lang="en-US"/>
          </a:p>
        </p:txBody>
      </p:sp>
    </p:spTree>
    <p:extLst>
      <p:ext uri="{BB962C8B-B14F-4D97-AF65-F5344CB8AC3E}">
        <p14:creationId xmlns:p14="http://schemas.microsoft.com/office/powerpoint/2010/main" val="1807493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49A3-D25E-F4F9-13A4-2C0EE106E2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F781E7-3EBB-7190-B8CC-CCC1029BCB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0C9647-79BA-3F41-7A2C-7311170F059F}"/>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5" name="Footer Placeholder 4">
            <a:extLst>
              <a:ext uri="{FF2B5EF4-FFF2-40B4-BE49-F238E27FC236}">
                <a16:creationId xmlns:a16="http://schemas.microsoft.com/office/drawing/2014/main" id="{EB0608B6-A948-A442-5615-64A9F1237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3A0D12-EF92-3392-8892-3E897CC4827F}"/>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3212724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656E4-86AA-D23F-2AFE-D1FA6E487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7C0B65-5EF6-3F99-2237-E1C115DDAA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0540DB-B834-D201-1DBB-463DE8391D9A}"/>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5" name="Footer Placeholder 4">
            <a:extLst>
              <a:ext uri="{FF2B5EF4-FFF2-40B4-BE49-F238E27FC236}">
                <a16:creationId xmlns:a16="http://schemas.microsoft.com/office/drawing/2014/main" id="{F62073BE-986D-60D5-E1DD-9BF77CDC4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3A7CD-32A6-0A0C-EC3B-0D28051923A1}"/>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320921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DE7A2-D4BC-F36F-FA6B-49C3E0A30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E616AA-0869-2F24-57FA-0F2F6802C2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81554D-00AA-28A5-4831-86C2375A454A}"/>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5" name="Footer Placeholder 4">
            <a:extLst>
              <a:ext uri="{FF2B5EF4-FFF2-40B4-BE49-F238E27FC236}">
                <a16:creationId xmlns:a16="http://schemas.microsoft.com/office/drawing/2014/main" id="{1E8BCA22-C4F4-589A-D567-BC3739F88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5E1CB7-B978-4DAD-6561-206D18C439F7}"/>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4254231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8706-192A-AA2B-82C8-5E04C89C63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449A32-A9C0-A672-9601-FE1CCAD4E4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B741-B384-DDC4-4DDE-FBDA29127F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D12DF4-72BE-F64D-574F-045A9F51E80B}"/>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6" name="Footer Placeholder 5">
            <a:extLst>
              <a:ext uri="{FF2B5EF4-FFF2-40B4-BE49-F238E27FC236}">
                <a16:creationId xmlns:a16="http://schemas.microsoft.com/office/drawing/2014/main" id="{16D8B2A4-41B7-5849-4221-A1769ADBF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C15C16-02EA-D78A-2ABD-BE024A712F0F}"/>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2026144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582B7-7859-8311-58A2-38C9CD0EC7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EF13FF-E7E8-8832-BBA0-C552329543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94799B-7312-9C84-C720-42DFFFE023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FE6726-5138-6CA0-2C8D-98C6021CAF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DDD041-62A5-868F-2A1D-3672273E77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ED688D-8669-E0CA-D59C-973EF871A88B}"/>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8" name="Footer Placeholder 7">
            <a:extLst>
              <a:ext uri="{FF2B5EF4-FFF2-40B4-BE49-F238E27FC236}">
                <a16:creationId xmlns:a16="http://schemas.microsoft.com/office/drawing/2014/main" id="{D2D25237-7812-CC03-0CC0-CE4074129E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86DAF4-1D2C-4159-EC38-98B7A2B95BA2}"/>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1892537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6288F-25C5-5EFA-BDDC-18A2472B4A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993BF2-E184-9524-27DC-312AB9F9F7CA}"/>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4" name="Footer Placeholder 3">
            <a:extLst>
              <a:ext uri="{FF2B5EF4-FFF2-40B4-BE49-F238E27FC236}">
                <a16:creationId xmlns:a16="http://schemas.microsoft.com/office/drawing/2014/main" id="{EE835B96-98C7-ACF9-8C96-4F82094EF9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71A6BE-7A70-14EB-B596-1CBF7B18FEFE}"/>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267322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372BE2-9823-1930-90F2-E4FD3A6B97C1}"/>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3" name="Footer Placeholder 2">
            <a:extLst>
              <a:ext uri="{FF2B5EF4-FFF2-40B4-BE49-F238E27FC236}">
                <a16:creationId xmlns:a16="http://schemas.microsoft.com/office/drawing/2014/main" id="{9DCC7BB6-6D9E-6B1D-050D-22213E42A0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D50C0E-C78C-FDFA-517F-7CEB285285AB}"/>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1894888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5C5E5-67B2-2F2D-081D-EE5213E714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F0BF56-E170-1702-9448-9A2E77303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256D4A-D5B6-4E20-37DF-6E968004CA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D1E8B4-DF34-5E4E-AB39-DF33C62C6CD1}"/>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6" name="Footer Placeholder 5">
            <a:extLst>
              <a:ext uri="{FF2B5EF4-FFF2-40B4-BE49-F238E27FC236}">
                <a16:creationId xmlns:a16="http://schemas.microsoft.com/office/drawing/2014/main" id="{CF213C5F-5942-BAE5-58DE-D7D4C9CEFA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128838-4BCE-CA8A-A082-D805210564FA}"/>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3424471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60E29-0B94-198D-EF42-1C27DD054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401948-2C18-734B-28A3-7CF1B8C944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F58EF7-4165-2CFF-3356-8CF29BE16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CDC74A-3972-D522-6CAB-13880B54B10B}"/>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6" name="Footer Placeholder 5">
            <a:extLst>
              <a:ext uri="{FF2B5EF4-FFF2-40B4-BE49-F238E27FC236}">
                <a16:creationId xmlns:a16="http://schemas.microsoft.com/office/drawing/2014/main" id="{E88C189A-C2E5-4106-85E5-8EE602AC15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B093B5-56E9-407B-53A0-063994D9D56E}"/>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3748334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8EBBF-106B-C974-9E63-4ADCA6F6F8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EEC1B0-9964-E970-6154-0A9F513CC6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9E052-CA3C-ADC2-1BD6-6579716308BD}"/>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5" name="Footer Placeholder 4">
            <a:extLst>
              <a:ext uri="{FF2B5EF4-FFF2-40B4-BE49-F238E27FC236}">
                <a16:creationId xmlns:a16="http://schemas.microsoft.com/office/drawing/2014/main" id="{2ADAAB35-C263-7761-132D-1EB66978E8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F1759-98A3-2DC5-C253-88250E5CE381}"/>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633186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49BE67-5E11-1C83-3791-082269809D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66B24D-ED7D-0663-D441-08B3AE80CD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5986CC-7F9B-1228-5FC6-2107CB4AFA53}"/>
              </a:ext>
            </a:extLst>
          </p:cNvPr>
          <p:cNvSpPr>
            <a:spLocks noGrp="1"/>
          </p:cNvSpPr>
          <p:nvPr>
            <p:ph type="dt" sz="half" idx="10"/>
          </p:nvPr>
        </p:nvSpPr>
        <p:spPr/>
        <p:txBody>
          <a:bodyPr/>
          <a:lstStyle/>
          <a:p>
            <a:fld id="{EF2723FF-5AE6-437C-AA73-FCA23AFC1C95}" type="datetimeFigureOut">
              <a:rPr lang="en-US" smtClean="0"/>
              <a:t>4/27/2026</a:t>
            </a:fld>
            <a:endParaRPr lang="en-US"/>
          </a:p>
        </p:txBody>
      </p:sp>
      <p:sp>
        <p:nvSpPr>
          <p:cNvPr id="5" name="Footer Placeholder 4">
            <a:extLst>
              <a:ext uri="{FF2B5EF4-FFF2-40B4-BE49-F238E27FC236}">
                <a16:creationId xmlns:a16="http://schemas.microsoft.com/office/drawing/2014/main" id="{F73A5CD6-D7CF-3D2F-2EE7-D888A6BECF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9D1CF7-5E98-1623-6CDB-C2CF65BC6A3B}"/>
              </a:ext>
            </a:extLst>
          </p:cNvPr>
          <p:cNvSpPr>
            <a:spLocks noGrp="1"/>
          </p:cNvSpPr>
          <p:nvPr>
            <p:ph type="sldNum" sz="quarter" idx="12"/>
          </p:nvPr>
        </p:nvSpPr>
        <p:spPr/>
        <p:txBody>
          <a:bodyPr/>
          <a:lstStyle/>
          <a:p>
            <a:fld id="{8C8FC8CA-1369-4060-AD4D-89653DB8975D}" type="slidenum">
              <a:rPr lang="en-US" smtClean="0"/>
              <a:t>‹N°›</a:t>
            </a:fld>
            <a:endParaRPr lang="en-US"/>
          </a:p>
        </p:txBody>
      </p:sp>
    </p:spTree>
    <p:extLst>
      <p:ext uri="{BB962C8B-B14F-4D97-AF65-F5344CB8AC3E}">
        <p14:creationId xmlns:p14="http://schemas.microsoft.com/office/powerpoint/2010/main" val="21246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3801B4-60BA-83C1-756B-7571D5555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113A57-86E5-D6F6-A0C5-EE58E16651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8F3CB9-4461-FA35-7D72-41C354B83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2723FF-5AE6-437C-AA73-FCA23AFC1C95}" type="datetimeFigureOut">
              <a:rPr lang="en-US" smtClean="0"/>
              <a:t>4/27/2026</a:t>
            </a:fld>
            <a:endParaRPr lang="en-US"/>
          </a:p>
        </p:txBody>
      </p:sp>
      <p:sp>
        <p:nvSpPr>
          <p:cNvPr id="5" name="Footer Placeholder 4">
            <a:extLst>
              <a:ext uri="{FF2B5EF4-FFF2-40B4-BE49-F238E27FC236}">
                <a16:creationId xmlns:a16="http://schemas.microsoft.com/office/drawing/2014/main" id="{0FEF8294-2D74-62CD-5D24-47975D1954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9A6F67-E20A-684E-313A-3CB4EE992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8FC8CA-1369-4060-AD4D-89653DB8975D}" type="slidenum">
              <a:rPr lang="en-US" smtClean="0"/>
              <a:t>‹N°›</a:t>
            </a:fld>
            <a:endParaRPr lang="en-US"/>
          </a:p>
        </p:txBody>
      </p:sp>
    </p:spTree>
    <p:extLst>
      <p:ext uri="{BB962C8B-B14F-4D97-AF65-F5344CB8AC3E}">
        <p14:creationId xmlns:p14="http://schemas.microsoft.com/office/powerpoint/2010/main" val="3958085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70.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0E525-510A-00A3-FBDB-38F0E9AFA697}"/>
              </a:ext>
            </a:extLst>
          </p:cNvPr>
          <p:cNvSpPr>
            <a:spLocks noGrp="1"/>
          </p:cNvSpPr>
          <p:nvPr>
            <p:ph type="ctrTitle"/>
          </p:nvPr>
        </p:nvSpPr>
        <p:spPr/>
        <p:txBody>
          <a:bodyPr/>
          <a:lstStyle/>
          <a:p>
            <a:r>
              <a:rPr lang="en-US" dirty="0"/>
              <a:t>Results experiment Reward</a:t>
            </a:r>
          </a:p>
        </p:txBody>
      </p:sp>
      <p:sp>
        <p:nvSpPr>
          <p:cNvPr id="3" name="Subtitle 2">
            <a:extLst>
              <a:ext uri="{FF2B5EF4-FFF2-40B4-BE49-F238E27FC236}">
                <a16:creationId xmlns:a16="http://schemas.microsoft.com/office/drawing/2014/main" id="{F6FAF4DE-0EE5-AFDF-FE5D-114ACF875076}"/>
              </a:ext>
            </a:extLst>
          </p:cNvPr>
          <p:cNvSpPr>
            <a:spLocks noGrp="1"/>
          </p:cNvSpPr>
          <p:nvPr>
            <p:ph type="subTitle" idx="1"/>
          </p:nvPr>
        </p:nvSpPr>
        <p:spPr>
          <a:xfrm>
            <a:off x="1524000" y="3602038"/>
            <a:ext cx="9144000" cy="2714942"/>
          </a:xfrm>
        </p:spPr>
        <p:txBody>
          <a:bodyPr>
            <a:normAutofit/>
          </a:bodyPr>
          <a:lstStyle/>
          <a:p>
            <a:r>
              <a:rPr lang="en-US" dirty="0"/>
              <a:t>EMG (+ EEG)</a:t>
            </a:r>
          </a:p>
          <a:p>
            <a:endParaRPr lang="en-US" dirty="0"/>
          </a:p>
          <a:p>
            <a:endParaRPr lang="en-US" dirty="0"/>
          </a:p>
          <a:p>
            <a:endParaRPr lang="en-US" dirty="0"/>
          </a:p>
          <a:p>
            <a:r>
              <a:rPr lang="en-US" dirty="0" err="1"/>
              <a:t>april</a:t>
            </a:r>
            <a:r>
              <a:rPr lang="en-US" dirty="0"/>
              <a:t> 2026</a:t>
            </a:r>
          </a:p>
        </p:txBody>
      </p:sp>
    </p:spTree>
    <p:extLst>
      <p:ext uri="{BB962C8B-B14F-4D97-AF65-F5344CB8AC3E}">
        <p14:creationId xmlns:p14="http://schemas.microsoft.com/office/powerpoint/2010/main" val="1748682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2C994D-78A0-556D-6532-7B4EBADAC5ED}"/>
              </a:ext>
            </a:extLst>
          </p:cNvPr>
          <p:cNvSpPr txBox="1"/>
          <p:nvPr/>
        </p:nvSpPr>
        <p:spPr>
          <a:xfrm>
            <a:off x="887372" y="291250"/>
            <a:ext cx="10336888" cy="830997"/>
          </a:xfrm>
          <a:prstGeom prst="rect">
            <a:avLst/>
          </a:prstGeom>
          <a:noFill/>
        </p:spPr>
        <p:txBody>
          <a:bodyPr wrap="square" rtlCol="0">
            <a:spAutoFit/>
          </a:bodyPr>
          <a:lstStyle/>
          <a:p>
            <a:r>
              <a:rPr lang="en-US" sz="1600" b="1" dirty="0"/>
              <a:t>Experimental design: </a:t>
            </a:r>
            <a:r>
              <a:rPr lang="en-US" sz="1600" dirty="0"/>
              <a:t>this is a response-signal RDM task with 3 s delay. Trial value (regular vs. critical) was manipulated to modulate potential score gains, with critical trials yielding higher rewards. This manipulation was designed to encourage participants to “replay” their decision at the response signal (RS).</a:t>
            </a:r>
          </a:p>
        </p:txBody>
      </p:sp>
      <p:sp>
        <p:nvSpPr>
          <p:cNvPr id="5" name="Rectangle 4">
            <a:extLst>
              <a:ext uri="{FF2B5EF4-FFF2-40B4-BE49-F238E27FC236}">
                <a16:creationId xmlns:a16="http://schemas.microsoft.com/office/drawing/2014/main" id="{FA0663D0-4DE9-D30A-4B76-E626B35BE737}"/>
              </a:ext>
            </a:extLst>
          </p:cNvPr>
          <p:cNvSpPr/>
          <p:nvPr/>
        </p:nvSpPr>
        <p:spPr>
          <a:xfrm>
            <a:off x="1342251" y="1936237"/>
            <a:ext cx="1841619" cy="1158966"/>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grpSp>
        <p:nvGrpSpPr>
          <p:cNvPr id="6" name="Groupe 155">
            <a:extLst>
              <a:ext uri="{FF2B5EF4-FFF2-40B4-BE49-F238E27FC236}">
                <a16:creationId xmlns:a16="http://schemas.microsoft.com/office/drawing/2014/main" id="{76DE295E-D7B9-65EA-0569-E911BCD811C1}"/>
              </a:ext>
            </a:extLst>
          </p:cNvPr>
          <p:cNvGrpSpPr>
            <a:grpSpLocks noChangeAspect="1"/>
          </p:cNvGrpSpPr>
          <p:nvPr/>
        </p:nvGrpSpPr>
        <p:grpSpPr>
          <a:xfrm>
            <a:off x="2790413" y="2138733"/>
            <a:ext cx="1835894" cy="1147192"/>
            <a:chOff x="-3439589" y="-1123924"/>
            <a:chExt cx="3450834" cy="2274984"/>
          </a:xfrm>
        </p:grpSpPr>
        <p:sp>
          <p:nvSpPr>
            <p:cNvPr id="7" name="Rectangle 6">
              <a:extLst>
                <a:ext uri="{FF2B5EF4-FFF2-40B4-BE49-F238E27FC236}">
                  <a16:creationId xmlns:a16="http://schemas.microsoft.com/office/drawing/2014/main" id="{8FAD0266-DA38-1B0B-88E3-60D0653C62C8}"/>
                </a:ext>
              </a:extLst>
            </p:cNvPr>
            <p:cNvSpPr>
              <a:spLocks noChangeAspect="1"/>
            </p:cNvSpPr>
            <p:nvPr/>
          </p:nvSpPr>
          <p:spPr>
            <a:xfrm>
              <a:off x="-3439589" y="-1123924"/>
              <a:ext cx="3450834" cy="227498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pic>
          <p:nvPicPr>
            <p:cNvPr id="8" name="Image 134">
              <a:extLst>
                <a:ext uri="{FF2B5EF4-FFF2-40B4-BE49-F238E27FC236}">
                  <a16:creationId xmlns:a16="http://schemas.microsoft.com/office/drawing/2014/main" id="{FBE20C5C-B111-49B0-6A96-ACDF916701DE}"/>
                </a:ext>
              </a:extLst>
            </p:cNvPr>
            <p:cNvPicPr>
              <a:picLocks noChangeAspect="1"/>
            </p:cNvPicPr>
            <p:nvPr/>
          </p:nvPicPr>
          <p:blipFill rotWithShape="1">
            <a:blip r:embed="rId2">
              <a:grayscl/>
            </a:blip>
            <a:srcRect l="10334" t="21469" r="61004" b="23466"/>
            <a:stretch/>
          </p:blipFill>
          <p:spPr>
            <a:xfrm>
              <a:off x="-2692319" y="-945276"/>
              <a:ext cx="1937271" cy="1827697"/>
            </a:xfrm>
            <a:prstGeom prst="rect">
              <a:avLst/>
            </a:prstGeom>
          </p:spPr>
        </p:pic>
        <p:pic>
          <p:nvPicPr>
            <p:cNvPr id="9" name="Image 135">
              <a:extLst>
                <a:ext uri="{FF2B5EF4-FFF2-40B4-BE49-F238E27FC236}">
                  <a16:creationId xmlns:a16="http://schemas.microsoft.com/office/drawing/2014/main" id="{40F66EFA-6669-9920-F873-5E26CCBEDF13}"/>
                </a:ext>
              </a:extLst>
            </p:cNvPr>
            <p:cNvPicPr>
              <a:picLocks noChangeAspect="1"/>
            </p:cNvPicPr>
            <p:nvPr/>
          </p:nvPicPr>
          <p:blipFill rotWithShape="1">
            <a:blip r:embed="rId2"/>
            <a:srcRect l="20571" t="59341" r="73595" b="33388"/>
            <a:stretch/>
          </p:blipFill>
          <p:spPr>
            <a:xfrm>
              <a:off x="-2005297" y="370521"/>
              <a:ext cx="426720" cy="261180"/>
            </a:xfrm>
            <a:prstGeom prst="rect">
              <a:avLst/>
            </a:prstGeom>
          </p:spPr>
        </p:pic>
        <p:pic>
          <p:nvPicPr>
            <p:cNvPr id="10" name="Image 136">
              <a:extLst>
                <a:ext uri="{FF2B5EF4-FFF2-40B4-BE49-F238E27FC236}">
                  <a16:creationId xmlns:a16="http://schemas.microsoft.com/office/drawing/2014/main" id="{5F30DF28-2EE0-A38D-C01C-A119FC98398E}"/>
                </a:ext>
              </a:extLst>
            </p:cNvPr>
            <p:cNvPicPr>
              <a:picLocks noChangeAspect="1"/>
            </p:cNvPicPr>
            <p:nvPr/>
          </p:nvPicPr>
          <p:blipFill rotWithShape="1">
            <a:blip r:embed="rId2"/>
            <a:srcRect l="20571" t="59341" r="73595" b="33388"/>
            <a:stretch/>
          </p:blipFill>
          <p:spPr>
            <a:xfrm>
              <a:off x="-1703928" y="581417"/>
              <a:ext cx="426720" cy="261180"/>
            </a:xfrm>
            <a:prstGeom prst="rect">
              <a:avLst/>
            </a:prstGeom>
          </p:spPr>
        </p:pic>
        <p:pic>
          <p:nvPicPr>
            <p:cNvPr id="11" name="Image 137">
              <a:extLst>
                <a:ext uri="{FF2B5EF4-FFF2-40B4-BE49-F238E27FC236}">
                  <a16:creationId xmlns:a16="http://schemas.microsoft.com/office/drawing/2014/main" id="{2245B0BD-FB07-404E-C486-117BCF1F8116}"/>
                </a:ext>
              </a:extLst>
            </p:cNvPr>
            <p:cNvPicPr>
              <a:picLocks noChangeAspect="1"/>
            </p:cNvPicPr>
            <p:nvPr/>
          </p:nvPicPr>
          <p:blipFill rotWithShape="1">
            <a:blip r:embed="rId2"/>
            <a:srcRect l="20571" t="59341" r="73595" b="33388"/>
            <a:stretch/>
          </p:blipFill>
          <p:spPr>
            <a:xfrm>
              <a:off x="-2324505" y="-41916"/>
              <a:ext cx="426720" cy="261180"/>
            </a:xfrm>
            <a:prstGeom prst="rect">
              <a:avLst/>
            </a:prstGeom>
          </p:spPr>
        </p:pic>
        <p:pic>
          <p:nvPicPr>
            <p:cNvPr id="12" name="Image 138">
              <a:extLst>
                <a:ext uri="{FF2B5EF4-FFF2-40B4-BE49-F238E27FC236}">
                  <a16:creationId xmlns:a16="http://schemas.microsoft.com/office/drawing/2014/main" id="{945AD35D-3CBD-05D1-3FB3-38A3AC525420}"/>
                </a:ext>
              </a:extLst>
            </p:cNvPr>
            <p:cNvPicPr>
              <a:picLocks noChangeAspect="1"/>
            </p:cNvPicPr>
            <p:nvPr/>
          </p:nvPicPr>
          <p:blipFill rotWithShape="1">
            <a:blip r:embed="rId2"/>
            <a:srcRect l="20571" t="59341" r="73595" b="33388"/>
            <a:stretch/>
          </p:blipFill>
          <p:spPr>
            <a:xfrm>
              <a:off x="-2365926" y="-680441"/>
              <a:ext cx="426720" cy="261180"/>
            </a:xfrm>
            <a:prstGeom prst="rect">
              <a:avLst/>
            </a:prstGeom>
          </p:spPr>
        </p:pic>
        <p:pic>
          <p:nvPicPr>
            <p:cNvPr id="13" name="Image 139">
              <a:extLst>
                <a:ext uri="{FF2B5EF4-FFF2-40B4-BE49-F238E27FC236}">
                  <a16:creationId xmlns:a16="http://schemas.microsoft.com/office/drawing/2014/main" id="{ECC45876-A3A5-017B-BCD1-3AB059584C44}"/>
                </a:ext>
              </a:extLst>
            </p:cNvPr>
            <p:cNvPicPr>
              <a:picLocks noChangeAspect="1"/>
            </p:cNvPicPr>
            <p:nvPr/>
          </p:nvPicPr>
          <p:blipFill rotWithShape="1">
            <a:blip r:embed="rId2"/>
            <a:srcRect l="20571" t="61738" r="74425" b="35151"/>
            <a:stretch/>
          </p:blipFill>
          <p:spPr>
            <a:xfrm>
              <a:off x="-1745423" y="-467938"/>
              <a:ext cx="365985" cy="111761"/>
            </a:xfrm>
            <a:prstGeom prst="rect">
              <a:avLst/>
            </a:prstGeom>
          </p:spPr>
        </p:pic>
      </p:grpSp>
      <p:sp>
        <p:nvSpPr>
          <p:cNvPr id="14" name="ZoneTexte 13">
            <a:extLst>
              <a:ext uri="{FF2B5EF4-FFF2-40B4-BE49-F238E27FC236}">
                <a16:creationId xmlns:a16="http://schemas.microsoft.com/office/drawing/2014/main" id="{24D9232F-13EE-2F30-65B8-F905269650A4}"/>
              </a:ext>
            </a:extLst>
          </p:cNvPr>
          <p:cNvSpPr txBox="1"/>
          <p:nvPr/>
        </p:nvSpPr>
        <p:spPr>
          <a:xfrm>
            <a:off x="4819796" y="3518760"/>
            <a:ext cx="729658" cy="553998"/>
          </a:xfrm>
          <a:prstGeom prst="rect">
            <a:avLst/>
          </a:prstGeom>
          <a:noFill/>
        </p:spPr>
        <p:txBody>
          <a:bodyPr wrap="square" rtlCol="0">
            <a:spAutoFit/>
          </a:bodyPr>
          <a:lstStyle/>
          <a:p>
            <a:pPr algn="ctr"/>
            <a:r>
              <a:rPr lang="en-US" sz="1600" b="1" dirty="0"/>
              <a:t>Delay </a:t>
            </a:r>
            <a:r>
              <a:rPr lang="en-US" sz="1400" dirty="0"/>
              <a:t>(3s)</a:t>
            </a:r>
            <a:endParaRPr lang="en-US" sz="1600" dirty="0"/>
          </a:p>
        </p:txBody>
      </p:sp>
      <p:sp>
        <p:nvSpPr>
          <p:cNvPr id="15" name="ZoneTexte 15">
            <a:extLst>
              <a:ext uri="{FF2B5EF4-FFF2-40B4-BE49-F238E27FC236}">
                <a16:creationId xmlns:a16="http://schemas.microsoft.com/office/drawing/2014/main" id="{8C2A0222-BE20-269E-E8DD-06122BD88A07}"/>
              </a:ext>
            </a:extLst>
          </p:cNvPr>
          <p:cNvSpPr txBox="1"/>
          <p:nvPr/>
        </p:nvSpPr>
        <p:spPr>
          <a:xfrm>
            <a:off x="5631512" y="3719597"/>
            <a:ext cx="1965897" cy="553998"/>
          </a:xfrm>
          <a:prstGeom prst="rect">
            <a:avLst/>
          </a:prstGeom>
          <a:noFill/>
        </p:spPr>
        <p:txBody>
          <a:bodyPr wrap="square" rtlCol="0">
            <a:spAutoFit/>
          </a:bodyPr>
          <a:lstStyle/>
          <a:p>
            <a:pPr algn="ctr"/>
            <a:r>
              <a:rPr lang="en-US" sz="1600" b="1" dirty="0"/>
              <a:t>Response Signal</a:t>
            </a:r>
          </a:p>
          <a:p>
            <a:pPr algn="ctr"/>
            <a:r>
              <a:rPr lang="en-US" sz="1400" dirty="0"/>
              <a:t>(4s deadline)</a:t>
            </a:r>
          </a:p>
        </p:txBody>
      </p:sp>
      <p:sp>
        <p:nvSpPr>
          <p:cNvPr id="16" name="ZoneTexte 17">
            <a:extLst>
              <a:ext uri="{FF2B5EF4-FFF2-40B4-BE49-F238E27FC236}">
                <a16:creationId xmlns:a16="http://schemas.microsoft.com/office/drawing/2014/main" id="{560F441A-073B-316B-B34D-878498108175}"/>
              </a:ext>
            </a:extLst>
          </p:cNvPr>
          <p:cNvSpPr txBox="1"/>
          <p:nvPr/>
        </p:nvSpPr>
        <p:spPr>
          <a:xfrm>
            <a:off x="7597409" y="4009298"/>
            <a:ext cx="1510021" cy="553998"/>
          </a:xfrm>
          <a:prstGeom prst="rect">
            <a:avLst/>
          </a:prstGeom>
          <a:noFill/>
        </p:spPr>
        <p:txBody>
          <a:bodyPr wrap="square" rtlCol="0">
            <a:spAutoFit/>
          </a:bodyPr>
          <a:lstStyle/>
          <a:p>
            <a:pPr algn="ctr"/>
            <a:r>
              <a:rPr lang="en-US" sz="1600" b="1" dirty="0"/>
              <a:t>Feedback</a:t>
            </a:r>
          </a:p>
          <a:p>
            <a:pPr algn="ctr"/>
            <a:r>
              <a:rPr lang="en-US" sz="1400" dirty="0"/>
              <a:t>(0.8s)</a:t>
            </a:r>
            <a:endParaRPr lang="en-US" sz="1600" dirty="0"/>
          </a:p>
        </p:txBody>
      </p:sp>
      <p:sp>
        <p:nvSpPr>
          <p:cNvPr id="17" name="ZoneTexte 19">
            <a:extLst>
              <a:ext uri="{FF2B5EF4-FFF2-40B4-BE49-F238E27FC236}">
                <a16:creationId xmlns:a16="http://schemas.microsoft.com/office/drawing/2014/main" id="{08EDABFB-2D8D-F40B-3DF1-88768683F90F}"/>
              </a:ext>
            </a:extLst>
          </p:cNvPr>
          <p:cNvSpPr txBox="1"/>
          <p:nvPr/>
        </p:nvSpPr>
        <p:spPr>
          <a:xfrm>
            <a:off x="2072589" y="2204594"/>
            <a:ext cx="421781" cy="584775"/>
          </a:xfrm>
          <a:prstGeom prst="rect">
            <a:avLst/>
          </a:prstGeom>
          <a:noFill/>
        </p:spPr>
        <p:txBody>
          <a:bodyPr wrap="square" rtlCol="0">
            <a:spAutoFit/>
          </a:bodyPr>
          <a:lstStyle/>
          <a:p>
            <a:r>
              <a:rPr lang="en-US" sz="3200" b="1" dirty="0">
                <a:solidFill>
                  <a:schemeClr val="bg1"/>
                </a:solidFill>
              </a:rPr>
              <a:t>+</a:t>
            </a:r>
            <a:endParaRPr lang="en-US" sz="2800" b="1" dirty="0">
              <a:solidFill>
                <a:schemeClr val="bg1"/>
              </a:solidFill>
            </a:endParaRPr>
          </a:p>
        </p:txBody>
      </p:sp>
      <p:pic>
        <p:nvPicPr>
          <p:cNvPr id="18" name="Image 134">
            <a:extLst>
              <a:ext uri="{FF2B5EF4-FFF2-40B4-BE49-F238E27FC236}">
                <a16:creationId xmlns:a16="http://schemas.microsoft.com/office/drawing/2014/main" id="{B428B4C2-ADA4-7909-E7B0-3166C3F20BBE}"/>
              </a:ext>
            </a:extLst>
          </p:cNvPr>
          <p:cNvPicPr>
            <a:picLocks noChangeAspect="1"/>
          </p:cNvPicPr>
          <p:nvPr/>
        </p:nvPicPr>
        <p:blipFill rotWithShape="1">
          <a:blip r:embed="rId2">
            <a:grayscl/>
          </a:blip>
          <a:srcRect l="10334" t="21469" r="86976" b="73113"/>
          <a:stretch/>
        </p:blipFill>
        <p:spPr>
          <a:xfrm>
            <a:off x="3624004" y="2695911"/>
            <a:ext cx="150085" cy="140704"/>
          </a:xfrm>
          <a:prstGeom prst="rect">
            <a:avLst/>
          </a:prstGeom>
        </p:spPr>
      </p:pic>
      <p:sp>
        <p:nvSpPr>
          <p:cNvPr id="19" name="ZoneTexte 19">
            <a:extLst>
              <a:ext uri="{FF2B5EF4-FFF2-40B4-BE49-F238E27FC236}">
                <a16:creationId xmlns:a16="http://schemas.microsoft.com/office/drawing/2014/main" id="{A0EDC359-D08C-91FC-7965-1C252467189E}"/>
              </a:ext>
            </a:extLst>
          </p:cNvPr>
          <p:cNvSpPr txBox="1"/>
          <p:nvPr/>
        </p:nvSpPr>
        <p:spPr>
          <a:xfrm>
            <a:off x="3493663" y="2439256"/>
            <a:ext cx="421781" cy="584775"/>
          </a:xfrm>
          <a:prstGeom prst="rect">
            <a:avLst/>
          </a:prstGeom>
          <a:noFill/>
        </p:spPr>
        <p:txBody>
          <a:bodyPr wrap="square" rtlCol="0">
            <a:spAutoFit/>
          </a:bodyPr>
          <a:lstStyle/>
          <a:p>
            <a:r>
              <a:rPr lang="en-US" sz="3200" b="1" dirty="0">
                <a:solidFill>
                  <a:schemeClr val="bg1"/>
                </a:solidFill>
              </a:rPr>
              <a:t>+</a:t>
            </a:r>
            <a:endParaRPr lang="en-US" sz="2800" b="1" dirty="0">
              <a:solidFill>
                <a:schemeClr val="bg1"/>
              </a:solidFill>
            </a:endParaRPr>
          </a:p>
        </p:txBody>
      </p:sp>
      <p:sp>
        <p:nvSpPr>
          <p:cNvPr id="20" name="ZoneTexte 12">
            <a:extLst>
              <a:ext uri="{FF2B5EF4-FFF2-40B4-BE49-F238E27FC236}">
                <a16:creationId xmlns:a16="http://schemas.microsoft.com/office/drawing/2014/main" id="{5BB5D1C8-EAEE-5184-8C99-DF9BE590014D}"/>
              </a:ext>
            </a:extLst>
          </p:cNvPr>
          <p:cNvSpPr txBox="1"/>
          <p:nvPr/>
        </p:nvSpPr>
        <p:spPr>
          <a:xfrm>
            <a:off x="1355285" y="3107061"/>
            <a:ext cx="1543973" cy="584775"/>
          </a:xfrm>
          <a:prstGeom prst="rect">
            <a:avLst/>
          </a:prstGeom>
          <a:noFill/>
        </p:spPr>
        <p:txBody>
          <a:bodyPr wrap="square" rtlCol="0">
            <a:spAutoFit/>
          </a:bodyPr>
          <a:lstStyle/>
          <a:p>
            <a:pPr algn="ctr"/>
            <a:r>
              <a:rPr lang="en-US" sz="1600" b="1" dirty="0"/>
              <a:t>Fixation</a:t>
            </a:r>
          </a:p>
          <a:p>
            <a:pPr algn="ctr"/>
            <a:r>
              <a:rPr lang="en-US" sz="1600" b="1" dirty="0"/>
              <a:t> </a:t>
            </a:r>
            <a:r>
              <a:rPr lang="en-US" sz="1400" dirty="0"/>
              <a:t>(0.8s)</a:t>
            </a:r>
            <a:endParaRPr lang="en-US" sz="1600" dirty="0"/>
          </a:p>
        </p:txBody>
      </p:sp>
      <p:sp>
        <p:nvSpPr>
          <p:cNvPr id="21" name="Rectangle 20">
            <a:extLst>
              <a:ext uri="{FF2B5EF4-FFF2-40B4-BE49-F238E27FC236}">
                <a16:creationId xmlns:a16="http://schemas.microsoft.com/office/drawing/2014/main" id="{672DE23A-0081-4E70-A105-2B2987B5D6D1}"/>
              </a:ext>
            </a:extLst>
          </p:cNvPr>
          <p:cNvSpPr/>
          <p:nvPr/>
        </p:nvSpPr>
        <p:spPr>
          <a:xfrm>
            <a:off x="4304586" y="2354005"/>
            <a:ext cx="1841619" cy="1158966"/>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sp>
        <p:nvSpPr>
          <p:cNvPr id="22" name="ZoneTexte 19">
            <a:extLst>
              <a:ext uri="{FF2B5EF4-FFF2-40B4-BE49-F238E27FC236}">
                <a16:creationId xmlns:a16="http://schemas.microsoft.com/office/drawing/2014/main" id="{D7182237-26B3-D314-E132-9DCADA317879}"/>
              </a:ext>
            </a:extLst>
          </p:cNvPr>
          <p:cNvSpPr txBox="1"/>
          <p:nvPr/>
        </p:nvSpPr>
        <p:spPr>
          <a:xfrm>
            <a:off x="6378296" y="2913740"/>
            <a:ext cx="421781" cy="584775"/>
          </a:xfrm>
          <a:prstGeom prst="rect">
            <a:avLst/>
          </a:prstGeom>
          <a:noFill/>
        </p:spPr>
        <p:txBody>
          <a:bodyPr wrap="square" rtlCol="0">
            <a:spAutoFit/>
          </a:bodyPr>
          <a:lstStyle/>
          <a:p>
            <a:r>
              <a:rPr lang="en-US" sz="3200" b="1" dirty="0">
                <a:solidFill>
                  <a:srgbClr val="00B0F0"/>
                </a:solidFill>
              </a:rPr>
              <a:t>+</a:t>
            </a:r>
            <a:endParaRPr lang="en-US" sz="2800" b="1" dirty="0">
              <a:solidFill>
                <a:srgbClr val="00B0F0"/>
              </a:solidFill>
            </a:endParaRPr>
          </a:p>
        </p:txBody>
      </p:sp>
      <p:sp>
        <p:nvSpPr>
          <p:cNvPr id="23" name="Rectangle 22">
            <a:extLst>
              <a:ext uri="{FF2B5EF4-FFF2-40B4-BE49-F238E27FC236}">
                <a16:creationId xmlns:a16="http://schemas.microsoft.com/office/drawing/2014/main" id="{10AFEF1E-4372-31AC-D172-E68E843EA103}"/>
              </a:ext>
            </a:extLst>
          </p:cNvPr>
          <p:cNvSpPr/>
          <p:nvPr/>
        </p:nvSpPr>
        <p:spPr>
          <a:xfrm>
            <a:off x="5817695" y="2596263"/>
            <a:ext cx="1810411" cy="114719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sp>
        <p:nvSpPr>
          <p:cNvPr id="24" name="Rectangle 23">
            <a:extLst>
              <a:ext uri="{FF2B5EF4-FFF2-40B4-BE49-F238E27FC236}">
                <a16:creationId xmlns:a16="http://schemas.microsoft.com/office/drawing/2014/main" id="{DE4B6000-1F87-88A5-A549-03D6336B7EAB}"/>
              </a:ext>
            </a:extLst>
          </p:cNvPr>
          <p:cNvSpPr/>
          <p:nvPr/>
        </p:nvSpPr>
        <p:spPr>
          <a:xfrm>
            <a:off x="7446119" y="2805537"/>
            <a:ext cx="1810411" cy="119566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sp>
        <p:nvSpPr>
          <p:cNvPr id="26" name="ZoneTexte 19">
            <a:extLst>
              <a:ext uri="{FF2B5EF4-FFF2-40B4-BE49-F238E27FC236}">
                <a16:creationId xmlns:a16="http://schemas.microsoft.com/office/drawing/2014/main" id="{DAF6DB3A-8973-7DE5-107E-853346D135E4}"/>
              </a:ext>
            </a:extLst>
          </p:cNvPr>
          <p:cNvSpPr txBox="1"/>
          <p:nvPr/>
        </p:nvSpPr>
        <p:spPr>
          <a:xfrm>
            <a:off x="5025303" y="2646754"/>
            <a:ext cx="421781" cy="584775"/>
          </a:xfrm>
          <a:prstGeom prst="rect">
            <a:avLst/>
          </a:prstGeom>
          <a:noFill/>
        </p:spPr>
        <p:txBody>
          <a:bodyPr wrap="square" rtlCol="0">
            <a:spAutoFit/>
          </a:bodyPr>
          <a:lstStyle/>
          <a:p>
            <a:r>
              <a:rPr lang="en-US" sz="3200" b="1" dirty="0">
                <a:solidFill>
                  <a:srgbClr val="00B0F0"/>
                </a:solidFill>
              </a:rPr>
              <a:t>+</a:t>
            </a:r>
            <a:endParaRPr lang="en-US" sz="2800" b="1" dirty="0">
              <a:solidFill>
                <a:srgbClr val="00B0F0"/>
              </a:solidFill>
            </a:endParaRPr>
          </a:p>
        </p:txBody>
      </p:sp>
      <p:sp>
        <p:nvSpPr>
          <p:cNvPr id="27" name="ZoneTexte 13">
            <a:extLst>
              <a:ext uri="{FF2B5EF4-FFF2-40B4-BE49-F238E27FC236}">
                <a16:creationId xmlns:a16="http://schemas.microsoft.com/office/drawing/2014/main" id="{26D1A8F5-C3EE-5821-A9C8-51042D617605}"/>
              </a:ext>
            </a:extLst>
          </p:cNvPr>
          <p:cNvSpPr txBox="1"/>
          <p:nvPr/>
        </p:nvSpPr>
        <p:spPr>
          <a:xfrm>
            <a:off x="3114708" y="3306451"/>
            <a:ext cx="1025537" cy="553998"/>
          </a:xfrm>
          <a:prstGeom prst="rect">
            <a:avLst/>
          </a:prstGeom>
          <a:noFill/>
        </p:spPr>
        <p:txBody>
          <a:bodyPr wrap="square" rtlCol="0">
            <a:spAutoFit/>
          </a:bodyPr>
          <a:lstStyle/>
          <a:p>
            <a:pPr algn="ctr"/>
            <a:r>
              <a:rPr lang="en-US" sz="1600" b="1" dirty="0"/>
              <a:t>Stimulus </a:t>
            </a:r>
            <a:r>
              <a:rPr lang="en-US" sz="1400" dirty="0"/>
              <a:t>(0.8s)</a:t>
            </a:r>
            <a:endParaRPr lang="en-US" sz="1600" dirty="0"/>
          </a:p>
        </p:txBody>
      </p:sp>
      <p:sp>
        <p:nvSpPr>
          <p:cNvPr id="28" name="ZoneTexte 17">
            <a:extLst>
              <a:ext uri="{FF2B5EF4-FFF2-40B4-BE49-F238E27FC236}">
                <a16:creationId xmlns:a16="http://schemas.microsoft.com/office/drawing/2014/main" id="{C30EF5D0-BB4F-45DC-EB0F-AED508C75F88}"/>
              </a:ext>
            </a:extLst>
          </p:cNvPr>
          <p:cNvSpPr txBox="1"/>
          <p:nvPr/>
        </p:nvSpPr>
        <p:spPr>
          <a:xfrm>
            <a:off x="8992907" y="4263866"/>
            <a:ext cx="1951226" cy="553998"/>
          </a:xfrm>
          <a:prstGeom prst="rect">
            <a:avLst/>
          </a:prstGeom>
          <a:noFill/>
        </p:spPr>
        <p:txBody>
          <a:bodyPr wrap="square" rtlCol="0">
            <a:spAutoFit/>
          </a:bodyPr>
          <a:lstStyle/>
          <a:p>
            <a:pPr algn="ctr"/>
            <a:r>
              <a:rPr lang="en-US" sz="1600" b="1" dirty="0"/>
              <a:t>ITI - Eye blinking </a:t>
            </a:r>
          </a:p>
          <a:p>
            <a:pPr algn="ctr"/>
            <a:r>
              <a:rPr lang="en-US" sz="1400" dirty="0"/>
              <a:t>(random 0.8, 1, 1.2s)</a:t>
            </a:r>
            <a:endParaRPr lang="en-US" sz="1600" dirty="0"/>
          </a:p>
        </p:txBody>
      </p:sp>
      <p:sp>
        <p:nvSpPr>
          <p:cNvPr id="29" name="Rectangle 28">
            <a:extLst>
              <a:ext uri="{FF2B5EF4-FFF2-40B4-BE49-F238E27FC236}">
                <a16:creationId xmlns:a16="http://schemas.microsoft.com/office/drawing/2014/main" id="{482BEE90-2A03-32F4-62B4-438960B49E4D}"/>
              </a:ext>
            </a:extLst>
          </p:cNvPr>
          <p:cNvSpPr/>
          <p:nvPr/>
        </p:nvSpPr>
        <p:spPr>
          <a:xfrm>
            <a:off x="9033434" y="3060105"/>
            <a:ext cx="1810411" cy="119566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pic>
        <p:nvPicPr>
          <p:cNvPr id="30" name="Picture 29">
            <a:extLst>
              <a:ext uri="{FF2B5EF4-FFF2-40B4-BE49-F238E27FC236}">
                <a16:creationId xmlns:a16="http://schemas.microsoft.com/office/drawing/2014/main" id="{E46C3DBA-DFBD-14D9-F60C-FDC888409AD8}"/>
              </a:ext>
            </a:extLst>
          </p:cNvPr>
          <p:cNvPicPr>
            <a:picLocks noChangeAspect="1"/>
          </p:cNvPicPr>
          <p:nvPr/>
        </p:nvPicPr>
        <p:blipFill>
          <a:blip r:embed="rId3"/>
          <a:stretch>
            <a:fillRect/>
          </a:stretch>
        </p:blipFill>
        <p:spPr>
          <a:xfrm>
            <a:off x="9354932" y="3315541"/>
            <a:ext cx="1187427" cy="663824"/>
          </a:xfrm>
          <a:prstGeom prst="rect">
            <a:avLst/>
          </a:prstGeom>
        </p:spPr>
      </p:pic>
      <p:sp>
        <p:nvSpPr>
          <p:cNvPr id="31" name="TextBox 30">
            <a:extLst>
              <a:ext uri="{FF2B5EF4-FFF2-40B4-BE49-F238E27FC236}">
                <a16:creationId xmlns:a16="http://schemas.microsoft.com/office/drawing/2014/main" id="{EAEBF9A5-9603-8C12-98C5-EE6783CB17C8}"/>
              </a:ext>
            </a:extLst>
          </p:cNvPr>
          <p:cNvSpPr txBox="1"/>
          <p:nvPr/>
        </p:nvSpPr>
        <p:spPr>
          <a:xfrm>
            <a:off x="7602766" y="3236514"/>
            <a:ext cx="1459310" cy="338554"/>
          </a:xfrm>
          <a:prstGeom prst="rect">
            <a:avLst/>
          </a:prstGeom>
          <a:noFill/>
        </p:spPr>
        <p:txBody>
          <a:bodyPr wrap="square">
            <a:spAutoFit/>
          </a:bodyPr>
          <a:lstStyle/>
          <a:p>
            <a:pPr algn="ctr"/>
            <a:r>
              <a:rPr lang="en-US" sz="1600" dirty="0">
                <a:solidFill>
                  <a:schemeClr val="bg1"/>
                </a:solidFill>
              </a:rPr>
              <a:t>+ 10 points</a:t>
            </a:r>
          </a:p>
        </p:txBody>
      </p:sp>
      <p:sp>
        <p:nvSpPr>
          <p:cNvPr id="2" name="Oval 1">
            <a:extLst>
              <a:ext uri="{FF2B5EF4-FFF2-40B4-BE49-F238E27FC236}">
                <a16:creationId xmlns:a16="http://schemas.microsoft.com/office/drawing/2014/main" id="{600A7743-504A-92D2-F374-CD3762C47057}"/>
              </a:ext>
            </a:extLst>
          </p:cNvPr>
          <p:cNvSpPr/>
          <p:nvPr/>
        </p:nvSpPr>
        <p:spPr>
          <a:xfrm>
            <a:off x="6624133" y="3074281"/>
            <a:ext cx="181323" cy="1800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74AE11AE-705A-7822-AA50-D3A666061D32}"/>
              </a:ext>
            </a:extLst>
          </p:cNvPr>
          <p:cNvSpPr/>
          <p:nvPr/>
        </p:nvSpPr>
        <p:spPr>
          <a:xfrm>
            <a:off x="5695739" y="5364413"/>
            <a:ext cx="1299745" cy="831446"/>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sp>
        <p:nvSpPr>
          <p:cNvPr id="64" name="ZoneTexte 19">
            <a:extLst>
              <a:ext uri="{FF2B5EF4-FFF2-40B4-BE49-F238E27FC236}">
                <a16:creationId xmlns:a16="http://schemas.microsoft.com/office/drawing/2014/main" id="{EDD6238F-D720-DF76-A345-12E45E033555}"/>
              </a:ext>
            </a:extLst>
          </p:cNvPr>
          <p:cNvSpPr txBox="1"/>
          <p:nvPr/>
        </p:nvSpPr>
        <p:spPr>
          <a:xfrm>
            <a:off x="6184858" y="5537115"/>
            <a:ext cx="421781" cy="461665"/>
          </a:xfrm>
          <a:prstGeom prst="rect">
            <a:avLst/>
          </a:prstGeom>
          <a:noFill/>
        </p:spPr>
        <p:txBody>
          <a:bodyPr wrap="square" rtlCol="0">
            <a:spAutoFit/>
          </a:bodyPr>
          <a:lstStyle/>
          <a:p>
            <a:r>
              <a:rPr lang="en-US" sz="2400" b="1" dirty="0">
                <a:solidFill>
                  <a:schemeClr val="bg1"/>
                </a:solidFill>
              </a:rPr>
              <a:t>+</a:t>
            </a:r>
            <a:endParaRPr lang="en-US" sz="2000" b="1" dirty="0">
              <a:solidFill>
                <a:schemeClr val="bg1"/>
              </a:solidFill>
            </a:endParaRPr>
          </a:p>
        </p:txBody>
      </p:sp>
      <p:sp>
        <p:nvSpPr>
          <p:cNvPr id="65" name="Rectangle 64">
            <a:extLst>
              <a:ext uri="{FF2B5EF4-FFF2-40B4-BE49-F238E27FC236}">
                <a16:creationId xmlns:a16="http://schemas.microsoft.com/office/drawing/2014/main" id="{2D2B3D18-EC18-2826-45DA-D60E36F865AB}"/>
              </a:ext>
            </a:extLst>
          </p:cNvPr>
          <p:cNvSpPr/>
          <p:nvPr/>
        </p:nvSpPr>
        <p:spPr>
          <a:xfrm>
            <a:off x="7330067" y="5371973"/>
            <a:ext cx="1299745" cy="831446"/>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sp>
        <p:nvSpPr>
          <p:cNvPr id="66" name="ZoneTexte 19">
            <a:extLst>
              <a:ext uri="{FF2B5EF4-FFF2-40B4-BE49-F238E27FC236}">
                <a16:creationId xmlns:a16="http://schemas.microsoft.com/office/drawing/2014/main" id="{DDBE6F2B-FCE7-083B-0FDA-A4465775FA19}"/>
              </a:ext>
            </a:extLst>
          </p:cNvPr>
          <p:cNvSpPr txBox="1"/>
          <p:nvPr/>
        </p:nvSpPr>
        <p:spPr>
          <a:xfrm>
            <a:off x="7819186" y="5544675"/>
            <a:ext cx="421781" cy="461665"/>
          </a:xfrm>
          <a:prstGeom prst="rect">
            <a:avLst/>
          </a:prstGeom>
          <a:noFill/>
        </p:spPr>
        <p:txBody>
          <a:bodyPr wrap="square" rtlCol="0">
            <a:spAutoFit/>
          </a:bodyPr>
          <a:lstStyle/>
          <a:p>
            <a:r>
              <a:rPr lang="en-US" sz="2400" b="1" dirty="0">
                <a:solidFill>
                  <a:srgbClr val="00B0F0"/>
                </a:solidFill>
              </a:rPr>
              <a:t>+</a:t>
            </a:r>
            <a:endParaRPr lang="en-US" sz="2000" b="1" dirty="0">
              <a:solidFill>
                <a:srgbClr val="00B0F0"/>
              </a:solidFill>
            </a:endParaRPr>
          </a:p>
        </p:txBody>
      </p:sp>
      <p:sp>
        <p:nvSpPr>
          <p:cNvPr id="67" name="Rectangle 66">
            <a:extLst>
              <a:ext uri="{FF2B5EF4-FFF2-40B4-BE49-F238E27FC236}">
                <a16:creationId xmlns:a16="http://schemas.microsoft.com/office/drawing/2014/main" id="{E1BABCE1-AF87-C064-B079-10E76966576E}"/>
              </a:ext>
            </a:extLst>
          </p:cNvPr>
          <p:cNvSpPr/>
          <p:nvPr/>
        </p:nvSpPr>
        <p:spPr>
          <a:xfrm>
            <a:off x="8964395" y="5371973"/>
            <a:ext cx="1299745" cy="831446"/>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i="1" dirty="0"/>
          </a:p>
        </p:txBody>
      </p:sp>
      <p:sp>
        <p:nvSpPr>
          <p:cNvPr id="68" name="ZoneTexte 19">
            <a:extLst>
              <a:ext uri="{FF2B5EF4-FFF2-40B4-BE49-F238E27FC236}">
                <a16:creationId xmlns:a16="http://schemas.microsoft.com/office/drawing/2014/main" id="{104B21E1-4CAF-5E5F-87CA-85219713F287}"/>
              </a:ext>
            </a:extLst>
          </p:cNvPr>
          <p:cNvSpPr txBox="1"/>
          <p:nvPr/>
        </p:nvSpPr>
        <p:spPr>
          <a:xfrm>
            <a:off x="9453514" y="5544675"/>
            <a:ext cx="421781" cy="461665"/>
          </a:xfrm>
          <a:prstGeom prst="rect">
            <a:avLst/>
          </a:prstGeom>
          <a:noFill/>
        </p:spPr>
        <p:txBody>
          <a:bodyPr wrap="square" rtlCol="0">
            <a:spAutoFit/>
          </a:bodyPr>
          <a:lstStyle/>
          <a:p>
            <a:r>
              <a:rPr lang="en-US" sz="2400" b="1" dirty="0">
                <a:solidFill>
                  <a:srgbClr val="F61EF6"/>
                </a:solidFill>
              </a:rPr>
              <a:t>+</a:t>
            </a:r>
            <a:endParaRPr lang="en-US" sz="2000" b="1" dirty="0">
              <a:solidFill>
                <a:srgbClr val="F61EF6"/>
              </a:solidFill>
            </a:endParaRPr>
          </a:p>
        </p:txBody>
      </p:sp>
      <p:sp>
        <p:nvSpPr>
          <p:cNvPr id="69" name="ZoneTexte 12">
            <a:extLst>
              <a:ext uri="{FF2B5EF4-FFF2-40B4-BE49-F238E27FC236}">
                <a16:creationId xmlns:a16="http://schemas.microsoft.com/office/drawing/2014/main" id="{141B9442-A794-1531-19A3-C0F71D566972}"/>
              </a:ext>
            </a:extLst>
          </p:cNvPr>
          <p:cNvSpPr txBox="1"/>
          <p:nvPr/>
        </p:nvSpPr>
        <p:spPr>
          <a:xfrm>
            <a:off x="5574803" y="6376280"/>
            <a:ext cx="1594946" cy="276999"/>
          </a:xfrm>
          <a:prstGeom prst="rect">
            <a:avLst/>
          </a:prstGeom>
          <a:noFill/>
        </p:spPr>
        <p:txBody>
          <a:bodyPr wrap="square" rtlCol="0">
            <a:spAutoFit/>
          </a:bodyPr>
          <a:lstStyle/>
          <a:p>
            <a:pPr algn="ctr"/>
            <a:r>
              <a:rPr lang="en-US" sz="1200" dirty="0"/>
              <a:t>No information </a:t>
            </a:r>
          </a:p>
        </p:txBody>
      </p:sp>
      <p:sp>
        <p:nvSpPr>
          <p:cNvPr id="70" name="ZoneTexte 12">
            <a:extLst>
              <a:ext uri="{FF2B5EF4-FFF2-40B4-BE49-F238E27FC236}">
                <a16:creationId xmlns:a16="http://schemas.microsoft.com/office/drawing/2014/main" id="{9C6FB388-6BE6-5F4D-72AB-6733F312F99D}"/>
              </a:ext>
            </a:extLst>
          </p:cNvPr>
          <p:cNvSpPr txBox="1"/>
          <p:nvPr/>
        </p:nvSpPr>
        <p:spPr>
          <a:xfrm>
            <a:off x="5681110" y="5014719"/>
            <a:ext cx="4583030" cy="307777"/>
          </a:xfrm>
          <a:prstGeom prst="rect">
            <a:avLst/>
          </a:prstGeom>
          <a:noFill/>
        </p:spPr>
        <p:txBody>
          <a:bodyPr wrap="square" rtlCol="0">
            <a:spAutoFit/>
          </a:bodyPr>
          <a:lstStyle/>
          <a:p>
            <a:pPr algn="ctr"/>
            <a:r>
              <a:rPr lang="en-US" sz="1400" b="1" dirty="0"/>
              <a:t>Color indicates trial value</a:t>
            </a:r>
            <a:endParaRPr lang="en-US" sz="1400" dirty="0"/>
          </a:p>
        </p:txBody>
      </p:sp>
      <p:sp>
        <p:nvSpPr>
          <p:cNvPr id="74" name="ZoneTexte 12">
            <a:extLst>
              <a:ext uri="{FF2B5EF4-FFF2-40B4-BE49-F238E27FC236}">
                <a16:creationId xmlns:a16="http://schemas.microsoft.com/office/drawing/2014/main" id="{2A2B4062-5743-B0A5-17A9-39AD207FF653}"/>
              </a:ext>
            </a:extLst>
          </p:cNvPr>
          <p:cNvSpPr txBox="1"/>
          <p:nvPr/>
        </p:nvSpPr>
        <p:spPr>
          <a:xfrm>
            <a:off x="7196700" y="6249119"/>
            <a:ext cx="1594946" cy="461665"/>
          </a:xfrm>
          <a:prstGeom prst="rect">
            <a:avLst/>
          </a:prstGeom>
          <a:noFill/>
        </p:spPr>
        <p:txBody>
          <a:bodyPr wrap="square" rtlCol="0">
            <a:spAutoFit/>
          </a:bodyPr>
          <a:lstStyle/>
          <a:p>
            <a:pPr algn="ctr"/>
            <a:r>
              <a:rPr lang="en-US" sz="1200" b="1" dirty="0"/>
              <a:t>Regular</a:t>
            </a:r>
            <a:r>
              <a:rPr lang="en-US" sz="1200" dirty="0"/>
              <a:t> </a:t>
            </a:r>
          </a:p>
          <a:p>
            <a:pPr algn="ctr"/>
            <a:r>
              <a:rPr lang="en-US" sz="1200" dirty="0"/>
              <a:t>(or critical)</a:t>
            </a:r>
          </a:p>
        </p:txBody>
      </p:sp>
      <p:sp>
        <p:nvSpPr>
          <p:cNvPr id="76" name="ZoneTexte 12">
            <a:extLst>
              <a:ext uri="{FF2B5EF4-FFF2-40B4-BE49-F238E27FC236}">
                <a16:creationId xmlns:a16="http://schemas.microsoft.com/office/drawing/2014/main" id="{CC0A34FE-1EC3-960A-6D03-C655EF283221}"/>
              </a:ext>
            </a:extLst>
          </p:cNvPr>
          <p:cNvSpPr txBox="1"/>
          <p:nvPr/>
        </p:nvSpPr>
        <p:spPr>
          <a:xfrm>
            <a:off x="8901826" y="6266866"/>
            <a:ext cx="1594946" cy="461665"/>
          </a:xfrm>
          <a:prstGeom prst="rect">
            <a:avLst/>
          </a:prstGeom>
          <a:noFill/>
        </p:spPr>
        <p:txBody>
          <a:bodyPr wrap="square" rtlCol="0">
            <a:spAutoFit/>
          </a:bodyPr>
          <a:lstStyle/>
          <a:p>
            <a:pPr algn="ctr"/>
            <a:r>
              <a:rPr lang="en-US" sz="1200" b="1" dirty="0"/>
              <a:t>Critical</a:t>
            </a:r>
            <a:r>
              <a:rPr lang="en-US" sz="1200" dirty="0"/>
              <a:t> </a:t>
            </a:r>
          </a:p>
          <a:p>
            <a:pPr algn="ctr"/>
            <a:r>
              <a:rPr lang="en-US" sz="1200" dirty="0"/>
              <a:t>(or regular)</a:t>
            </a:r>
          </a:p>
        </p:txBody>
      </p:sp>
      <p:grpSp>
        <p:nvGrpSpPr>
          <p:cNvPr id="79" name="Group 78">
            <a:extLst>
              <a:ext uri="{FF2B5EF4-FFF2-40B4-BE49-F238E27FC236}">
                <a16:creationId xmlns:a16="http://schemas.microsoft.com/office/drawing/2014/main" id="{9B728113-E932-4759-9EA4-16AE2567F24E}"/>
              </a:ext>
            </a:extLst>
          </p:cNvPr>
          <p:cNvGrpSpPr/>
          <p:nvPr/>
        </p:nvGrpSpPr>
        <p:grpSpPr>
          <a:xfrm>
            <a:off x="1355285" y="1692566"/>
            <a:ext cx="135210" cy="636351"/>
            <a:chOff x="2036418" y="226254"/>
            <a:chExt cx="135210" cy="636351"/>
          </a:xfrm>
        </p:grpSpPr>
        <p:cxnSp>
          <p:nvCxnSpPr>
            <p:cNvPr id="71" name="Straight Arrow Connector 70">
              <a:extLst>
                <a:ext uri="{FF2B5EF4-FFF2-40B4-BE49-F238E27FC236}">
                  <a16:creationId xmlns:a16="http://schemas.microsoft.com/office/drawing/2014/main" id="{1843EEA4-FF7E-4A14-B940-569B0CB1EF2C}"/>
                </a:ext>
              </a:extLst>
            </p:cNvPr>
            <p:cNvCxnSpPr>
              <a:cxnSpLocks/>
            </p:cNvCxnSpPr>
            <p:nvPr/>
          </p:nvCxnSpPr>
          <p:spPr>
            <a:xfrm>
              <a:off x="2036418" y="226254"/>
              <a:ext cx="0" cy="636350"/>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78" name="Picture 77">
              <a:extLst>
                <a:ext uri="{FF2B5EF4-FFF2-40B4-BE49-F238E27FC236}">
                  <a16:creationId xmlns:a16="http://schemas.microsoft.com/office/drawing/2014/main" id="{E011EFB9-F2B9-AF21-4808-25DBEEC6A978}"/>
                </a:ext>
              </a:extLst>
            </p:cNvPr>
            <p:cNvPicPr>
              <a:picLocks noChangeAspect="1"/>
            </p:cNvPicPr>
            <p:nvPr/>
          </p:nvPicPr>
          <p:blipFill>
            <a:blip r:embed="rId4"/>
            <a:srcRect l="49999" t="3058" r="23366" b="27782"/>
            <a:stretch>
              <a:fillRect/>
            </a:stretch>
          </p:blipFill>
          <p:spPr>
            <a:xfrm>
              <a:off x="2038324" y="226255"/>
              <a:ext cx="133304" cy="636350"/>
            </a:xfrm>
            <a:prstGeom prst="rect">
              <a:avLst/>
            </a:prstGeom>
          </p:spPr>
        </p:pic>
      </p:grpSp>
      <p:grpSp>
        <p:nvGrpSpPr>
          <p:cNvPr id="80" name="Group 79">
            <a:extLst>
              <a:ext uri="{FF2B5EF4-FFF2-40B4-BE49-F238E27FC236}">
                <a16:creationId xmlns:a16="http://schemas.microsoft.com/office/drawing/2014/main" id="{078E701D-706A-0C3B-D591-5DC3F8D61181}"/>
              </a:ext>
            </a:extLst>
          </p:cNvPr>
          <p:cNvGrpSpPr/>
          <p:nvPr/>
        </p:nvGrpSpPr>
        <p:grpSpPr>
          <a:xfrm>
            <a:off x="5817695" y="2277389"/>
            <a:ext cx="135210" cy="636351"/>
            <a:chOff x="2036418" y="226254"/>
            <a:chExt cx="135210" cy="636351"/>
          </a:xfrm>
        </p:grpSpPr>
        <p:cxnSp>
          <p:nvCxnSpPr>
            <p:cNvPr id="81" name="Straight Arrow Connector 80">
              <a:extLst>
                <a:ext uri="{FF2B5EF4-FFF2-40B4-BE49-F238E27FC236}">
                  <a16:creationId xmlns:a16="http://schemas.microsoft.com/office/drawing/2014/main" id="{55D750F7-8F3F-71F7-6F5F-65DCAABEED1B}"/>
                </a:ext>
              </a:extLst>
            </p:cNvPr>
            <p:cNvCxnSpPr>
              <a:cxnSpLocks/>
            </p:cNvCxnSpPr>
            <p:nvPr/>
          </p:nvCxnSpPr>
          <p:spPr>
            <a:xfrm>
              <a:off x="2036418" y="226254"/>
              <a:ext cx="0" cy="636350"/>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82" name="Picture 81">
              <a:extLst>
                <a:ext uri="{FF2B5EF4-FFF2-40B4-BE49-F238E27FC236}">
                  <a16:creationId xmlns:a16="http://schemas.microsoft.com/office/drawing/2014/main" id="{F6CF568A-7AA1-AB37-9673-DC18B08AED65}"/>
                </a:ext>
              </a:extLst>
            </p:cNvPr>
            <p:cNvPicPr>
              <a:picLocks noChangeAspect="1"/>
            </p:cNvPicPr>
            <p:nvPr/>
          </p:nvPicPr>
          <p:blipFill>
            <a:blip r:embed="rId4"/>
            <a:srcRect l="49999" t="3058" r="23366" b="27782"/>
            <a:stretch>
              <a:fillRect/>
            </a:stretch>
          </p:blipFill>
          <p:spPr>
            <a:xfrm>
              <a:off x="2038324" y="226255"/>
              <a:ext cx="133304" cy="636350"/>
            </a:xfrm>
            <a:prstGeom prst="rect">
              <a:avLst/>
            </a:prstGeom>
          </p:spPr>
        </p:pic>
      </p:grpSp>
      <p:sp>
        <p:nvSpPr>
          <p:cNvPr id="86" name="ZoneTexte 12">
            <a:extLst>
              <a:ext uri="{FF2B5EF4-FFF2-40B4-BE49-F238E27FC236}">
                <a16:creationId xmlns:a16="http://schemas.microsoft.com/office/drawing/2014/main" id="{005C8C64-006F-F974-1211-1BCF27CDCAE8}"/>
              </a:ext>
            </a:extLst>
          </p:cNvPr>
          <p:cNvSpPr txBox="1"/>
          <p:nvPr/>
        </p:nvSpPr>
        <p:spPr>
          <a:xfrm>
            <a:off x="2581253" y="5247699"/>
            <a:ext cx="2085501" cy="1077218"/>
          </a:xfrm>
          <a:prstGeom prst="rect">
            <a:avLst/>
          </a:prstGeom>
          <a:noFill/>
        </p:spPr>
        <p:txBody>
          <a:bodyPr wrap="square" rtlCol="0">
            <a:spAutoFit/>
          </a:bodyPr>
          <a:lstStyle/>
          <a:p>
            <a:r>
              <a:rPr lang="en-US" sz="1600" b="1" i="1" dirty="0"/>
              <a:t>Reward-onset timing:</a:t>
            </a:r>
          </a:p>
          <a:p>
            <a:pPr marL="285750" indent="-285750">
              <a:buFont typeface="Arial" panose="020B0604020202020204" pitchFamily="34" charset="0"/>
              <a:buChar char="•"/>
            </a:pPr>
            <a:r>
              <a:rPr lang="en-US" sz="1600" i="1" dirty="0"/>
              <a:t>start trial</a:t>
            </a:r>
          </a:p>
          <a:p>
            <a:pPr marL="285750" indent="-285750">
              <a:buFont typeface="Arial" panose="020B0604020202020204" pitchFamily="34" charset="0"/>
              <a:buChar char="•"/>
            </a:pPr>
            <a:r>
              <a:rPr lang="en-US" sz="1600" i="1" dirty="0"/>
              <a:t>stimulus offset</a:t>
            </a:r>
          </a:p>
          <a:p>
            <a:pPr marL="285750" indent="-285750">
              <a:buFont typeface="Arial" panose="020B0604020202020204" pitchFamily="34" charset="0"/>
              <a:buChar char="•"/>
            </a:pPr>
            <a:r>
              <a:rPr lang="en-US" sz="1600" i="1" dirty="0"/>
              <a:t>RS</a:t>
            </a:r>
          </a:p>
        </p:txBody>
      </p:sp>
      <p:pic>
        <p:nvPicPr>
          <p:cNvPr id="87" name="Picture 86">
            <a:extLst>
              <a:ext uri="{FF2B5EF4-FFF2-40B4-BE49-F238E27FC236}">
                <a16:creationId xmlns:a16="http://schemas.microsoft.com/office/drawing/2014/main" id="{6D429508-ED19-156C-B12D-EE14BA3FA994}"/>
              </a:ext>
            </a:extLst>
          </p:cNvPr>
          <p:cNvPicPr>
            <a:picLocks noChangeAspect="1"/>
          </p:cNvPicPr>
          <p:nvPr/>
        </p:nvPicPr>
        <p:blipFill>
          <a:blip r:embed="rId5"/>
          <a:srcRect b="18756"/>
          <a:stretch>
            <a:fillRect/>
          </a:stretch>
        </p:blipFill>
        <p:spPr>
          <a:xfrm>
            <a:off x="1842804" y="5388050"/>
            <a:ext cx="628269" cy="936867"/>
          </a:xfrm>
          <a:prstGeom prst="rect">
            <a:avLst/>
          </a:prstGeom>
        </p:spPr>
      </p:pic>
      <p:grpSp>
        <p:nvGrpSpPr>
          <p:cNvPr id="88" name="Group 87">
            <a:extLst>
              <a:ext uri="{FF2B5EF4-FFF2-40B4-BE49-F238E27FC236}">
                <a16:creationId xmlns:a16="http://schemas.microsoft.com/office/drawing/2014/main" id="{FDE22057-F7E0-E8EA-9EB0-A2502143187A}"/>
              </a:ext>
            </a:extLst>
          </p:cNvPr>
          <p:cNvGrpSpPr/>
          <p:nvPr/>
        </p:nvGrpSpPr>
        <p:grpSpPr>
          <a:xfrm>
            <a:off x="4315601" y="2010741"/>
            <a:ext cx="135210" cy="636351"/>
            <a:chOff x="2036418" y="226254"/>
            <a:chExt cx="135210" cy="636351"/>
          </a:xfrm>
        </p:grpSpPr>
        <p:cxnSp>
          <p:nvCxnSpPr>
            <p:cNvPr id="89" name="Straight Arrow Connector 88">
              <a:extLst>
                <a:ext uri="{FF2B5EF4-FFF2-40B4-BE49-F238E27FC236}">
                  <a16:creationId xmlns:a16="http://schemas.microsoft.com/office/drawing/2014/main" id="{A65DD52F-37D8-4D47-C220-D6A6DDD98CB7}"/>
                </a:ext>
              </a:extLst>
            </p:cNvPr>
            <p:cNvCxnSpPr>
              <a:cxnSpLocks/>
            </p:cNvCxnSpPr>
            <p:nvPr/>
          </p:nvCxnSpPr>
          <p:spPr>
            <a:xfrm>
              <a:off x="2036418" y="226254"/>
              <a:ext cx="0" cy="636350"/>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90" name="Picture 89">
              <a:extLst>
                <a:ext uri="{FF2B5EF4-FFF2-40B4-BE49-F238E27FC236}">
                  <a16:creationId xmlns:a16="http://schemas.microsoft.com/office/drawing/2014/main" id="{84A9D591-ACE9-C0A1-74E2-A03D33258147}"/>
                </a:ext>
              </a:extLst>
            </p:cNvPr>
            <p:cNvPicPr>
              <a:picLocks noChangeAspect="1"/>
            </p:cNvPicPr>
            <p:nvPr/>
          </p:nvPicPr>
          <p:blipFill>
            <a:blip r:embed="rId4"/>
            <a:srcRect l="49999" t="3058" r="23366" b="27782"/>
            <a:stretch>
              <a:fillRect/>
            </a:stretch>
          </p:blipFill>
          <p:spPr>
            <a:xfrm>
              <a:off x="2038324" y="226255"/>
              <a:ext cx="133304" cy="636350"/>
            </a:xfrm>
            <a:prstGeom prst="rect">
              <a:avLst/>
            </a:prstGeom>
          </p:spPr>
        </p:pic>
      </p:grpSp>
      <p:sp>
        <p:nvSpPr>
          <p:cNvPr id="92" name="TextBox 91">
            <a:extLst>
              <a:ext uri="{FF2B5EF4-FFF2-40B4-BE49-F238E27FC236}">
                <a16:creationId xmlns:a16="http://schemas.microsoft.com/office/drawing/2014/main" id="{0509E97E-FEC1-96B8-6446-01B892AA0055}"/>
              </a:ext>
            </a:extLst>
          </p:cNvPr>
          <p:cNvSpPr txBox="1"/>
          <p:nvPr/>
        </p:nvSpPr>
        <p:spPr>
          <a:xfrm>
            <a:off x="1101054" y="1400901"/>
            <a:ext cx="1034964" cy="307777"/>
          </a:xfrm>
          <a:prstGeom prst="rect">
            <a:avLst/>
          </a:prstGeom>
          <a:noFill/>
        </p:spPr>
        <p:txBody>
          <a:bodyPr wrap="square">
            <a:spAutoFit/>
          </a:bodyPr>
          <a:lstStyle/>
          <a:p>
            <a:r>
              <a:rPr lang="en-US" sz="1400" b="1" i="1" dirty="0"/>
              <a:t>Start trial</a:t>
            </a:r>
            <a:endParaRPr lang="en-US" sz="1400" b="1" dirty="0"/>
          </a:p>
        </p:txBody>
      </p:sp>
      <p:sp>
        <p:nvSpPr>
          <p:cNvPr id="93" name="Rectangle 92">
            <a:extLst>
              <a:ext uri="{FF2B5EF4-FFF2-40B4-BE49-F238E27FC236}">
                <a16:creationId xmlns:a16="http://schemas.microsoft.com/office/drawing/2014/main" id="{A4E0CC53-CDB4-FD4C-AC19-8A99F1B1A1B6}"/>
              </a:ext>
            </a:extLst>
          </p:cNvPr>
          <p:cNvSpPr/>
          <p:nvPr/>
        </p:nvSpPr>
        <p:spPr>
          <a:xfrm>
            <a:off x="934720" y="1378041"/>
            <a:ext cx="10180320" cy="353005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9160700B-7FB1-1E32-37F2-CBF263D30A9C}"/>
              </a:ext>
            </a:extLst>
          </p:cNvPr>
          <p:cNvSpPr txBox="1"/>
          <p:nvPr/>
        </p:nvSpPr>
        <p:spPr>
          <a:xfrm>
            <a:off x="4079288" y="1476613"/>
            <a:ext cx="1034965" cy="523220"/>
          </a:xfrm>
          <a:prstGeom prst="rect">
            <a:avLst/>
          </a:prstGeom>
          <a:noFill/>
        </p:spPr>
        <p:txBody>
          <a:bodyPr wrap="square">
            <a:spAutoFit/>
          </a:bodyPr>
          <a:lstStyle/>
          <a:p>
            <a:r>
              <a:rPr lang="en-US" sz="1400" b="1" i="1" dirty="0"/>
              <a:t>Stimulus offset</a:t>
            </a:r>
            <a:endParaRPr lang="en-US" sz="1400" b="1" dirty="0"/>
          </a:p>
        </p:txBody>
      </p:sp>
      <p:sp>
        <p:nvSpPr>
          <p:cNvPr id="95" name="TextBox 94">
            <a:extLst>
              <a:ext uri="{FF2B5EF4-FFF2-40B4-BE49-F238E27FC236}">
                <a16:creationId xmlns:a16="http://schemas.microsoft.com/office/drawing/2014/main" id="{A43AA021-48EB-E2E2-ABB5-A59802CBDAEB}"/>
              </a:ext>
            </a:extLst>
          </p:cNvPr>
          <p:cNvSpPr txBox="1"/>
          <p:nvPr/>
        </p:nvSpPr>
        <p:spPr>
          <a:xfrm>
            <a:off x="5619908" y="1739169"/>
            <a:ext cx="1437986" cy="523220"/>
          </a:xfrm>
          <a:prstGeom prst="rect">
            <a:avLst/>
          </a:prstGeom>
          <a:noFill/>
        </p:spPr>
        <p:txBody>
          <a:bodyPr wrap="square">
            <a:spAutoFit/>
          </a:bodyPr>
          <a:lstStyle/>
          <a:p>
            <a:r>
              <a:rPr lang="en-US" sz="1400" b="1" i="1" dirty="0"/>
              <a:t>RS </a:t>
            </a:r>
          </a:p>
          <a:p>
            <a:r>
              <a:rPr lang="en-US" sz="1400" i="1" dirty="0"/>
              <a:t>(cross to circle)</a:t>
            </a:r>
            <a:endParaRPr lang="en-US" sz="1400" b="1" dirty="0"/>
          </a:p>
        </p:txBody>
      </p:sp>
    </p:spTree>
    <p:extLst>
      <p:ext uri="{BB962C8B-B14F-4D97-AF65-F5344CB8AC3E}">
        <p14:creationId xmlns:p14="http://schemas.microsoft.com/office/powerpoint/2010/main" val="292220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B751FE-3D97-886F-A9B8-BDB477706A5E}"/>
              </a:ext>
            </a:extLst>
          </p:cNvPr>
          <p:cNvPicPr>
            <a:picLocks noChangeAspect="1"/>
          </p:cNvPicPr>
          <p:nvPr/>
        </p:nvPicPr>
        <p:blipFill>
          <a:blip r:embed="rId2"/>
          <a:stretch>
            <a:fillRect/>
          </a:stretch>
        </p:blipFill>
        <p:spPr>
          <a:xfrm>
            <a:off x="654059" y="466112"/>
            <a:ext cx="8003332" cy="3780768"/>
          </a:xfrm>
          <a:prstGeom prst="rect">
            <a:avLst/>
          </a:prstGeom>
        </p:spPr>
      </p:pic>
      <p:sp>
        <p:nvSpPr>
          <p:cNvPr id="4" name="Rectangle 3">
            <a:extLst>
              <a:ext uri="{FF2B5EF4-FFF2-40B4-BE49-F238E27FC236}">
                <a16:creationId xmlns:a16="http://schemas.microsoft.com/office/drawing/2014/main" id="{34C1CC1C-4F6E-7E2E-088A-9F12976631B0}"/>
              </a:ext>
            </a:extLst>
          </p:cNvPr>
          <p:cNvSpPr/>
          <p:nvPr/>
        </p:nvSpPr>
        <p:spPr>
          <a:xfrm>
            <a:off x="672469" y="4767595"/>
            <a:ext cx="10847061" cy="1323439"/>
          </a:xfrm>
          <a:prstGeom prst="rect">
            <a:avLst/>
          </a:prstGeom>
        </p:spPr>
        <p:txBody>
          <a:bodyPr wrap="square">
            <a:spAutoFit/>
          </a:bodyPr>
          <a:lstStyle/>
          <a:p>
            <a:r>
              <a:rPr lang="en-US" sz="1600" b="1" dirty="0"/>
              <a:t>Notes.</a:t>
            </a:r>
            <a:r>
              <a:rPr lang="en-US" sz="1600" dirty="0"/>
              <a:t> The proportion of valid trials (after applying the exclusion criteria listed below) was </a:t>
            </a:r>
            <a:r>
              <a:rPr lang="en-US" sz="1600" b="1" dirty="0"/>
              <a:t>97.83%</a:t>
            </a:r>
            <a:r>
              <a:rPr lang="en-US" sz="1600" dirty="0"/>
              <a:t> (range: </a:t>
            </a:r>
            <a:r>
              <a:rPr lang="en-US" sz="1600" b="1" dirty="0"/>
              <a:t>92.99–99.72%</a:t>
            </a:r>
            <a:r>
              <a:rPr lang="en-US" sz="1600" dirty="0"/>
              <a:t>). Excluded trials comprised: anticipated responses (</a:t>
            </a:r>
            <a:r>
              <a:rPr lang="en-US" sz="1600" b="1" dirty="0"/>
              <a:t>RT &lt; 0.2 s</a:t>
            </a:r>
            <a:r>
              <a:rPr lang="en-US" sz="1600" dirty="0"/>
              <a:t>; </a:t>
            </a:r>
            <a:r>
              <a:rPr lang="en-US" sz="1600" b="1" dirty="0"/>
              <a:t>0.18%</a:t>
            </a:r>
            <a:r>
              <a:rPr lang="en-US" sz="1600" dirty="0"/>
              <a:t>, range: </a:t>
            </a:r>
            <a:r>
              <a:rPr lang="en-US" sz="1600" b="1" dirty="0"/>
              <a:t>0–1.32%</a:t>
            </a:r>
            <a:r>
              <a:rPr lang="en-US" sz="1600" dirty="0"/>
              <a:t>), missed trials (</a:t>
            </a:r>
            <a:r>
              <a:rPr lang="en-US" sz="1600" b="1" dirty="0"/>
              <a:t>0.32%</a:t>
            </a:r>
            <a:r>
              <a:rPr lang="en-US" sz="1600" dirty="0"/>
              <a:t>, range: </a:t>
            </a:r>
            <a:r>
              <a:rPr lang="en-US" sz="1600" b="1" dirty="0"/>
              <a:t>0–2.01%</a:t>
            </a:r>
            <a:r>
              <a:rPr lang="en-US" sz="1600" dirty="0"/>
              <a:t>), trials in which EMG could not be detected (</a:t>
            </a:r>
            <a:r>
              <a:rPr lang="en-US" sz="1600" b="1" dirty="0"/>
              <a:t>1.55%</a:t>
            </a:r>
            <a:r>
              <a:rPr lang="en-US" sz="1600" dirty="0"/>
              <a:t>, range: </a:t>
            </a:r>
            <a:r>
              <a:rPr lang="en-US" sz="1600" b="1" dirty="0"/>
              <a:t>0–12.5%</a:t>
            </a:r>
            <a:r>
              <a:rPr lang="en-US" sz="1600" dirty="0"/>
              <a:t>), premature responses (before RS; </a:t>
            </a:r>
            <a:r>
              <a:rPr lang="en-US" sz="1600" b="1" dirty="0"/>
              <a:t>0.84%</a:t>
            </a:r>
            <a:r>
              <a:rPr lang="en-US" sz="1600" dirty="0"/>
              <a:t>, range: </a:t>
            </a:r>
            <a:r>
              <a:rPr lang="en-US" sz="1600" b="1" dirty="0"/>
              <a:t>0.07–3.40%</a:t>
            </a:r>
            <a:r>
              <a:rPr lang="en-US" sz="1600" dirty="0"/>
              <a:t>), and trials with technical problems (</a:t>
            </a:r>
            <a:r>
              <a:rPr lang="en-US" sz="1600" b="1" dirty="0"/>
              <a:t>0.00%</a:t>
            </a:r>
            <a:r>
              <a:rPr lang="en-US" sz="1600" dirty="0"/>
              <a:t>, range: </a:t>
            </a:r>
            <a:r>
              <a:rPr lang="en-US" sz="1600" b="1" dirty="0"/>
              <a:t>0–0.07%</a:t>
            </a:r>
            <a:r>
              <a:rPr lang="en-US" sz="1600" dirty="0"/>
              <a:t>). </a:t>
            </a:r>
            <a:r>
              <a:rPr lang="en-US" sz="1600" dirty="0">
                <a:solidFill>
                  <a:srgbClr val="C00000"/>
                </a:solidFill>
              </a:rPr>
              <a:t>All analyses were performed on </a:t>
            </a:r>
            <a:r>
              <a:rPr lang="en-US" sz="1600" b="1" dirty="0">
                <a:solidFill>
                  <a:srgbClr val="C00000"/>
                </a:solidFill>
              </a:rPr>
              <a:t>valid trials</a:t>
            </a:r>
            <a:r>
              <a:rPr lang="en-US" sz="1600" dirty="0">
                <a:solidFill>
                  <a:srgbClr val="C00000"/>
                </a:solidFill>
              </a:rPr>
              <a:t> (correct and incorrect).</a:t>
            </a:r>
            <a:endParaRPr lang="fr-FR" sz="1600" dirty="0">
              <a:solidFill>
                <a:srgbClr val="C00000"/>
              </a:solidFill>
            </a:endParaRPr>
          </a:p>
        </p:txBody>
      </p:sp>
    </p:spTree>
    <p:extLst>
      <p:ext uri="{BB962C8B-B14F-4D97-AF65-F5344CB8AC3E}">
        <p14:creationId xmlns:p14="http://schemas.microsoft.com/office/powerpoint/2010/main" val="6472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ZoneTexte 12">
                <a:extLst>
                  <a:ext uri="{FF2B5EF4-FFF2-40B4-BE49-F238E27FC236}">
                    <a16:creationId xmlns:a16="http://schemas.microsoft.com/office/drawing/2014/main" id="{347F0F0D-6F39-C030-E2BA-10755B38F97A}"/>
                  </a:ext>
                </a:extLst>
              </p:cNvPr>
              <p:cNvSpPr txBox="1"/>
              <p:nvPr/>
            </p:nvSpPr>
            <p:spPr>
              <a:xfrm>
                <a:off x="680720" y="643689"/>
                <a:ext cx="11196320" cy="3570208"/>
              </a:xfrm>
              <a:prstGeom prst="rect">
                <a:avLst/>
              </a:prstGeom>
              <a:noFill/>
            </p:spPr>
            <p:txBody>
              <a:bodyPr wrap="square" rtlCol="0">
                <a:spAutoFit/>
              </a:bodyPr>
              <a:lstStyle/>
              <a:p>
                <a:pPr>
                  <a:spcAft>
                    <a:spcPts val="1800"/>
                  </a:spcAft>
                </a:pPr>
                <a:r>
                  <a:rPr lang="en-US" sz="1600" b="1" dirty="0">
                    <a:solidFill>
                      <a:schemeClr val="bg2">
                        <a:lumMod val="25000"/>
                      </a:schemeClr>
                    </a:solidFill>
                  </a:rPr>
                  <a:t>Participants</a:t>
                </a:r>
                <a:r>
                  <a:rPr lang="en-US" sz="1600" dirty="0">
                    <a:solidFill>
                      <a:schemeClr val="bg2">
                        <a:lumMod val="25000"/>
                      </a:schemeClr>
                    </a:solidFill>
                  </a:rPr>
                  <a:t>: 20 subject performed 2 sessions of 720 trials for a total of 1440 trials.</a:t>
                </a:r>
              </a:p>
              <a:p>
                <a:r>
                  <a:rPr lang="en-US" sz="1600" b="1" dirty="0">
                    <a:solidFill>
                      <a:schemeClr val="bg2">
                        <a:lumMod val="25000"/>
                      </a:schemeClr>
                    </a:solidFill>
                  </a:rPr>
                  <a:t>Independent variables:</a:t>
                </a:r>
                <a:endParaRPr lang="en-US" sz="1600" dirty="0">
                  <a:solidFill>
                    <a:schemeClr val="bg2">
                      <a:lumMod val="25000"/>
                    </a:schemeClr>
                  </a:solidFill>
                </a:endParaRPr>
              </a:p>
              <a:p>
                <a:pPr marL="446088" indent="-446088">
                  <a:buFont typeface="Arial" panose="020B0604020202020204" pitchFamily="34" charset="0"/>
                  <a:buChar char="•"/>
                </a:pPr>
                <a:r>
                  <a:rPr lang="en-US" sz="1600" b="1" i="1" dirty="0">
                    <a:solidFill>
                      <a:schemeClr val="bg2">
                        <a:lumMod val="25000"/>
                      </a:schemeClr>
                    </a:solidFill>
                  </a:rPr>
                  <a:t>Coherence</a:t>
                </a:r>
                <a:r>
                  <a:rPr lang="en-US" sz="1600" b="1" dirty="0">
                    <a:solidFill>
                      <a:schemeClr val="bg2">
                        <a:lumMod val="25000"/>
                      </a:schemeClr>
                    </a:solidFill>
                  </a:rPr>
                  <a:t> </a:t>
                </a:r>
                <a:r>
                  <a:rPr lang="en-US" sz="1600" dirty="0">
                    <a:solidFill>
                      <a:schemeClr val="bg2">
                        <a:lumMod val="25000"/>
                      </a:schemeClr>
                    </a:solidFill>
                  </a:rPr>
                  <a:t>(3 levels): low (2%, 4%) </a:t>
                </a:r>
                <a:r>
                  <a:rPr lang="en-US" sz="1600" i="1" dirty="0">
                    <a:solidFill>
                      <a:schemeClr val="bg2">
                        <a:lumMod val="25000"/>
                      </a:schemeClr>
                    </a:solidFill>
                  </a:rPr>
                  <a:t>vs</a:t>
                </a:r>
                <a:r>
                  <a:rPr lang="en-US" sz="1600" dirty="0">
                    <a:solidFill>
                      <a:schemeClr val="bg2">
                        <a:lumMod val="25000"/>
                      </a:schemeClr>
                    </a:solidFill>
                  </a:rPr>
                  <a:t>. medium (8%, 11%) </a:t>
                </a:r>
                <a:r>
                  <a:rPr lang="en-US" sz="1600" i="1" dirty="0">
                    <a:solidFill>
                      <a:schemeClr val="bg2">
                        <a:lumMod val="25000"/>
                      </a:schemeClr>
                    </a:solidFill>
                  </a:rPr>
                  <a:t>vs</a:t>
                </a:r>
                <a:r>
                  <a:rPr lang="en-US" sz="1600" dirty="0">
                    <a:solidFill>
                      <a:schemeClr val="bg2">
                        <a:lumMod val="25000"/>
                      </a:schemeClr>
                    </a:solidFill>
                  </a:rPr>
                  <a:t>. high (20%, 40%),</a:t>
                </a:r>
              </a:p>
              <a:p>
                <a:pPr marL="446088" indent="-446088">
                  <a:buFont typeface="Arial" panose="020B0604020202020204" pitchFamily="34" charset="0"/>
                  <a:buChar char="•"/>
                </a:pPr>
                <a:r>
                  <a:rPr lang="en-US" sz="1600" b="1" i="1" dirty="0">
                    <a:solidFill>
                      <a:schemeClr val="bg2">
                        <a:lumMod val="25000"/>
                      </a:schemeClr>
                    </a:solidFill>
                  </a:rPr>
                  <a:t>Trial</a:t>
                </a:r>
                <a:r>
                  <a:rPr lang="en-US" sz="1600" b="1" dirty="0">
                    <a:solidFill>
                      <a:schemeClr val="bg2">
                        <a:lumMod val="25000"/>
                      </a:schemeClr>
                    </a:solidFill>
                  </a:rPr>
                  <a:t> </a:t>
                </a:r>
                <a:r>
                  <a:rPr lang="en-US" sz="1600" b="1" i="1" dirty="0">
                    <a:solidFill>
                      <a:schemeClr val="bg2">
                        <a:lumMod val="25000"/>
                      </a:schemeClr>
                    </a:solidFill>
                  </a:rPr>
                  <a:t>value</a:t>
                </a:r>
                <a:r>
                  <a:rPr lang="en-US" sz="1600" b="1" dirty="0">
                    <a:solidFill>
                      <a:schemeClr val="bg2">
                        <a:lumMod val="25000"/>
                      </a:schemeClr>
                    </a:solidFill>
                  </a:rPr>
                  <a:t> </a:t>
                </a:r>
                <a:r>
                  <a:rPr lang="en-US" sz="1600" dirty="0">
                    <a:solidFill>
                      <a:schemeClr val="bg2">
                        <a:lumMod val="25000"/>
                      </a:schemeClr>
                    </a:solidFill>
                  </a:rPr>
                  <a:t>(2 levels): regular (±1 point) </a:t>
                </a:r>
                <a:r>
                  <a:rPr lang="en-US" sz="1600" i="1" dirty="0">
                    <a:solidFill>
                      <a:schemeClr val="bg2">
                        <a:lumMod val="25000"/>
                      </a:schemeClr>
                    </a:solidFill>
                  </a:rPr>
                  <a:t>vs</a:t>
                </a:r>
                <a:r>
                  <a:rPr lang="en-US" sz="1600" dirty="0">
                    <a:solidFill>
                      <a:schemeClr val="bg2">
                        <a:lumMod val="25000"/>
                      </a:schemeClr>
                    </a:solidFill>
                  </a:rPr>
                  <a:t>. critical (±10 points),</a:t>
                </a:r>
              </a:p>
              <a:p>
                <a:pPr marL="446088" indent="-446088">
                  <a:buFont typeface="Arial" panose="020B0604020202020204" pitchFamily="34" charset="0"/>
                  <a:buChar char="•"/>
                </a:pPr>
                <a:r>
                  <a:rPr lang="en-US" sz="1600" b="1" i="1" dirty="0">
                    <a:solidFill>
                      <a:schemeClr val="bg2">
                        <a:lumMod val="25000"/>
                      </a:schemeClr>
                    </a:solidFill>
                  </a:rPr>
                  <a:t>Reward-onset timing </a:t>
                </a:r>
                <a:r>
                  <a:rPr lang="en-US" sz="1600" dirty="0">
                    <a:solidFill>
                      <a:schemeClr val="bg2">
                        <a:lumMod val="25000"/>
                      </a:schemeClr>
                    </a:solidFill>
                  </a:rPr>
                  <a:t>(3 levels): start trial </a:t>
                </a:r>
                <a:r>
                  <a:rPr lang="en-US" sz="1600" i="1" dirty="0">
                    <a:solidFill>
                      <a:schemeClr val="bg2">
                        <a:lumMod val="25000"/>
                      </a:schemeClr>
                    </a:solidFill>
                  </a:rPr>
                  <a:t>vs</a:t>
                </a:r>
                <a:r>
                  <a:rPr lang="en-US" sz="1600" dirty="0">
                    <a:solidFill>
                      <a:schemeClr val="bg2">
                        <a:lumMod val="25000"/>
                      </a:schemeClr>
                    </a:solidFill>
                  </a:rPr>
                  <a:t>. stimulus offset </a:t>
                </a:r>
                <a:r>
                  <a:rPr lang="en-US" sz="1600" i="1" dirty="0">
                    <a:solidFill>
                      <a:schemeClr val="bg2">
                        <a:lumMod val="25000"/>
                      </a:schemeClr>
                    </a:solidFill>
                  </a:rPr>
                  <a:t>vs</a:t>
                </a:r>
                <a:r>
                  <a:rPr lang="en-US" sz="1600" dirty="0">
                    <a:solidFill>
                      <a:schemeClr val="bg2">
                        <a:lumMod val="25000"/>
                      </a:schemeClr>
                    </a:solidFill>
                  </a:rPr>
                  <a:t>. response signal.</a:t>
                </a:r>
              </a:p>
              <a:p>
                <a:pPr>
                  <a:spcBef>
                    <a:spcPts val="1800"/>
                  </a:spcBef>
                  <a:spcAft>
                    <a:spcPts val="600"/>
                  </a:spcAft>
                </a:pPr>
                <a:r>
                  <a:rPr lang="en-US" sz="1600" b="1" dirty="0">
                    <a:solidFill>
                      <a:schemeClr val="bg2">
                        <a:lumMod val="25000"/>
                      </a:schemeClr>
                    </a:solidFill>
                  </a:rPr>
                  <a:t>Design structure: </a:t>
                </a:r>
                <a:r>
                  <a:rPr lang="en-US" sz="1600" dirty="0">
                    <a:solidFill>
                      <a:schemeClr val="bg2">
                        <a:lumMod val="25000"/>
                      </a:schemeClr>
                    </a:solidFill>
                  </a:rPr>
                  <a:t>this is a 3 coherence </a:t>
                </a:r>
                <a14:m>
                  <m:oMath xmlns:m="http://schemas.openxmlformats.org/officeDocument/2006/math">
                    <m:r>
                      <a:rPr lang="en-US" sz="1600" i="1" dirty="0" smtClean="0">
                        <a:solidFill>
                          <a:schemeClr val="bg2">
                            <a:lumMod val="25000"/>
                          </a:schemeClr>
                        </a:solidFill>
                        <a:latin typeface="Cambria Math" panose="02040503050406030204" pitchFamily="18" charset="0"/>
                        <a:ea typeface="Cambria Math" panose="02040503050406030204" pitchFamily="18" charset="0"/>
                      </a:rPr>
                      <m:t>×</m:t>
                    </m:r>
                  </m:oMath>
                </a14:m>
                <a:r>
                  <a:rPr lang="en-US" sz="1600" dirty="0">
                    <a:solidFill>
                      <a:schemeClr val="bg2">
                        <a:lumMod val="25000"/>
                      </a:schemeClr>
                    </a:solidFill>
                  </a:rPr>
                  <a:t> 2 trial value </a:t>
                </a:r>
                <a14:m>
                  <m:oMath xmlns:m="http://schemas.openxmlformats.org/officeDocument/2006/math">
                    <m:r>
                      <a:rPr lang="en-US" sz="1600" i="1" dirty="0">
                        <a:solidFill>
                          <a:schemeClr val="bg2">
                            <a:lumMod val="25000"/>
                          </a:schemeClr>
                        </a:solidFill>
                        <a:latin typeface="Cambria Math" panose="02040503050406030204" pitchFamily="18" charset="0"/>
                        <a:ea typeface="Cambria Math" panose="02040503050406030204" pitchFamily="18" charset="0"/>
                      </a:rPr>
                      <m:t>×</m:t>
                    </m:r>
                  </m:oMath>
                </a14:m>
                <a:r>
                  <a:rPr lang="en-US" sz="1600" dirty="0">
                    <a:solidFill>
                      <a:schemeClr val="bg2">
                        <a:lumMod val="25000"/>
                      </a:schemeClr>
                    </a:solidFill>
                  </a:rPr>
                  <a:t> 3 reward-onset (80 trials/condition).</a:t>
                </a:r>
              </a:p>
              <a:p>
                <a:pPr>
                  <a:spcAft>
                    <a:spcPts val="600"/>
                  </a:spcAft>
                </a:pPr>
                <a:endParaRPr lang="en-US" sz="1600" dirty="0">
                  <a:solidFill>
                    <a:schemeClr val="bg2">
                      <a:lumMod val="25000"/>
                    </a:schemeClr>
                  </a:solidFill>
                </a:endParaRPr>
              </a:p>
              <a:p>
                <a:pPr>
                  <a:spcAft>
                    <a:spcPts val="600"/>
                  </a:spcAft>
                </a:pPr>
                <a:r>
                  <a:rPr lang="en-US" sz="1600" b="1" dirty="0">
                    <a:solidFill>
                      <a:schemeClr val="bg2">
                        <a:lumMod val="25000"/>
                      </a:schemeClr>
                    </a:solidFill>
                  </a:rPr>
                  <a:t>Main hypothesis of study (OSF):</a:t>
                </a:r>
                <a:r>
                  <a:rPr lang="en-US" sz="1600" dirty="0">
                    <a:solidFill>
                      <a:schemeClr val="bg2">
                        <a:lumMod val="25000"/>
                      </a:schemeClr>
                    </a:solidFill>
                  </a:rPr>
                  <a:t> </a:t>
                </a:r>
              </a:p>
              <a:p>
                <a:pPr>
                  <a:spcBef>
                    <a:spcPts val="600"/>
                  </a:spcBef>
                  <a:spcAft>
                    <a:spcPts val="600"/>
                  </a:spcAft>
                </a:pPr>
                <a:r>
                  <a:rPr lang="en-US" sz="1600" dirty="0">
                    <a:solidFill>
                      <a:schemeClr val="bg2">
                        <a:lumMod val="50000"/>
                      </a:schemeClr>
                    </a:solidFill>
                  </a:rPr>
                  <a:t>“ Here we test the hypothesis that participants store samples of sensory evidence in memory and partly "replay" the evidence accumulation decision process after the response signal to check and potentially revise the initial decision – and in fine attempt to improve response accuracy – when the cost of this operation in terms of mental effort does not exceed the benefits.” </a:t>
                </a:r>
              </a:p>
            </p:txBody>
          </p:sp>
        </mc:Choice>
        <mc:Fallback>
          <p:sp>
            <p:nvSpPr>
              <p:cNvPr id="4" name="ZoneTexte 12">
                <a:extLst>
                  <a:ext uri="{FF2B5EF4-FFF2-40B4-BE49-F238E27FC236}">
                    <a16:creationId xmlns:a16="http://schemas.microsoft.com/office/drawing/2014/main" id="{347F0F0D-6F39-C030-E2BA-10755B38F97A}"/>
                  </a:ext>
                </a:extLst>
              </p:cNvPr>
              <p:cNvSpPr txBox="1">
                <a:spLocks noRot="1" noChangeAspect="1" noMove="1" noResize="1" noEditPoints="1" noAdjustHandles="1" noChangeArrowheads="1" noChangeShapeType="1" noTextEdit="1"/>
              </p:cNvSpPr>
              <p:nvPr/>
            </p:nvSpPr>
            <p:spPr>
              <a:xfrm>
                <a:off x="680720" y="643689"/>
                <a:ext cx="11196320" cy="3570208"/>
              </a:xfrm>
              <a:prstGeom prst="rect">
                <a:avLst/>
              </a:prstGeom>
              <a:blipFill>
                <a:blip r:embed="rId3"/>
                <a:stretch>
                  <a:fillRect l="-327" t="-513" b="-136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4F80954-19B1-8DF8-5BEB-EA40CD95E181}"/>
              </a:ext>
            </a:extLst>
          </p:cNvPr>
          <p:cNvSpPr txBox="1"/>
          <p:nvPr/>
        </p:nvSpPr>
        <p:spPr>
          <a:xfrm>
            <a:off x="680720" y="5179806"/>
            <a:ext cx="11043920" cy="646331"/>
          </a:xfrm>
          <a:prstGeom prst="rect">
            <a:avLst/>
          </a:prstGeom>
          <a:noFill/>
        </p:spPr>
        <p:txBody>
          <a:bodyPr wrap="square">
            <a:spAutoFit/>
          </a:bodyPr>
          <a:lstStyle/>
          <a:p>
            <a:r>
              <a:rPr lang="fr-FR" dirty="0" err="1"/>
              <a:t>Before</a:t>
            </a:r>
            <a:r>
              <a:rPr lang="fr-FR" dirty="0"/>
              <a:t> </a:t>
            </a:r>
            <a:r>
              <a:rPr lang="fr-FR" dirty="0" err="1"/>
              <a:t>turning</a:t>
            </a:r>
            <a:r>
              <a:rPr lang="fr-FR" dirty="0"/>
              <a:t> to partial muscle activations, </a:t>
            </a:r>
            <a:r>
              <a:rPr lang="fr-FR" dirty="0" err="1"/>
              <a:t>let’s</a:t>
            </a:r>
            <a:r>
              <a:rPr lang="fr-FR" dirty="0"/>
              <a:t> first examine </a:t>
            </a:r>
            <a:r>
              <a:rPr lang="en-US" dirty="0"/>
              <a:t>accuracy, mean RT, mean premotor execution time (PMET), mean motor execution time (MET) and the averaged muscle activation profile leading up to the response.</a:t>
            </a:r>
            <a:endParaRPr lang="fr-FR" dirty="0"/>
          </a:p>
        </p:txBody>
      </p:sp>
    </p:spTree>
    <p:extLst>
      <p:ext uri="{BB962C8B-B14F-4D97-AF65-F5344CB8AC3E}">
        <p14:creationId xmlns:p14="http://schemas.microsoft.com/office/powerpoint/2010/main" val="1066908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C302A3-6081-7951-AF79-A3774C4EDB40}"/>
              </a:ext>
            </a:extLst>
          </p:cNvPr>
          <p:cNvSpPr txBox="1"/>
          <p:nvPr/>
        </p:nvSpPr>
        <p:spPr>
          <a:xfrm>
            <a:off x="420676" y="5069460"/>
            <a:ext cx="6024574" cy="1400383"/>
          </a:xfrm>
          <a:prstGeom prst="rect">
            <a:avLst/>
          </a:prstGeom>
          <a:noFill/>
        </p:spPr>
        <p:txBody>
          <a:bodyPr wrap="square">
            <a:spAutoFit/>
          </a:bodyPr>
          <a:lstStyle/>
          <a:p>
            <a:pPr>
              <a:spcBef>
                <a:spcPts val="600"/>
              </a:spcBef>
            </a:pPr>
            <a:r>
              <a:rPr lang="en-US" sz="1400" b="1" i="1" dirty="0">
                <a:solidFill>
                  <a:schemeClr val="bg2">
                    <a:lumMod val="50000"/>
                  </a:schemeClr>
                </a:solidFill>
              </a:rPr>
              <a:t>Notes legend</a:t>
            </a:r>
            <a:r>
              <a:rPr lang="en-US" sz="1400" b="1" dirty="0">
                <a:solidFill>
                  <a:schemeClr val="bg2">
                    <a:lumMod val="50000"/>
                  </a:schemeClr>
                </a:solidFill>
              </a:rPr>
              <a:t> </a:t>
            </a:r>
          </a:p>
          <a:p>
            <a:pPr marL="285750" indent="-285750">
              <a:spcBef>
                <a:spcPts val="600"/>
              </a:spcBef>
              <a:spcAft>
                <a:spcPts val="600"/>
              </a:spcAft>
              <a:buFont typeface="Arial" panose="020B0604020202020204" pitchFamily="34" charset="0"/>
              <a:buChar char="•"/>
            </a:pPr>
            <a:r>
              <a:rPr lang="en-US" sz="1400" i="1" dirty="0">
                <a:solidFill>
                  <a:schemeClr val="bg2">
                    <a:lumMod val="50000"/>
                  </a:schemeClr>
                </a:solidFill>
              </a:rPr>
              <a:t>Plots were divided in two subplot: </a:t>
            </a:r>
            <a:r>
              <a:rPr lang="en-US" sz="1400" i="1" dirty="0">
                <a:solidFill>
                  <a:srgbClr val="0070C0"/>
                </a:solidFill>
              </a:rPr>
              <a:t>left (blue) </a:t>
            </a:r>
            <a:r>
              <a:rPr lang="en-US" sz="1400" i="1" dirty="0">
                <a:solidFill>
                  <a:schemeClr val="tx1">
                    <a:lumMod val="50000"/>
                    <a:lumOff val="50000"/>
                  </a:schemeClr>
                </a:solidFill>
              </a:rPr>
              <a:t>for</a:t>
            </a:r>
            <a:r>
              <a:rPr lang="en-US" sz="1400" i="1" dirty="0">
                <a:solidFill>
                  <a:schemeClr val="tx2"/>
                </a:solidFill>
              </a:rPr>
              <a:t> </a:t>
            </a:r>
            <a:r>
              <a:rPr lang="en-US" sz="1400" i="1" dirty="0">
                <a:solidFill>
                  <a:schemeClr val="accent1"/>
                </a:solidFill>
              </a:rPr>
              <a:t>regular trial </a:t>
            </a:r>
            <a:r>
              <a:rPr lang="en-US" sz="1400" i="1" dirty="0">
                <a:solidFill>
                  <a:schemeClr val="bg2">
                    <a:lumMod val="50000"/>
                  </a:schemeClr>
                </a:solidFill>
              </a:rPr>
              <a:t>and </a:t>
            </a:r>
            <a:r>
              <a:rPr lang="en-US" sz="1400" i="1" dirty="0">
                <a:solidFill>
                  <a:srgbClr val="C00000"/>
                </a:solidFill>
              </a:rPr>
              <a:t>right (red) </a:t>
            </a:r>
            <a:r>
              <a:rPr lang="en-US" sz="1400" i="1" dirty="0">
                <a:solidFill>
                  <a:schemeClr val="bg2">
                    <a:lumMod val="50000"/>
                  </a:schemeClr>
                </a:solidFill>
              </a:rPr>
              <a:t>for </a:t>
            </a:r>
            <a:r>
              <a:rPr lang="en-US" sz="1400" i="1" dirty="0">
                <a:solidFill>
                  <a:srgbClr val="C00000"/>
                </a:solidFill>
              </a:rPr>
              <a:t>critical trial.</a:t>
            </a:r>
          </a:p>
          <a:p>
            <a:pPr marL="285750" indent="-285750">
              <a:spcBef>
                <a:spcPts val="600"/>
              </a:spcBef>
              <a:spcAft>
                <a:spcPts val="600"/>
              </a:spcAft>
              <a:buFont typeface="Arial" panose="020B0604020202020204" pitchFamily="34" charset="0"/>
              <a:buChar char="•"/>
            </a:pPr>
            <a:r>
              <a:rPr lang="en-US" sz="1400" i="1" dirty="0">
                <a:solidFill>
                  <a:schemeClr val="bg2">
                    <a:lumMod val="50000"/>
                  </a:schemeClr>
                </a:solidFill>
              </a:rPr>
              <a:t>Colors palette (light to dark) indicates the moment when the reward is delivered (reward-onset timing: start of trial, stimulus offset or RS).</a:t>
            </a:r>
          </a:p>
        </p:txBody>
      </p:sp>
      <p:sp>
        <p:nvSpPr>
          <p:cNvPr id="15" name="TextBox 14">
            <a:extLst>
              <a:ext uri="{FF2B5EF4-FFF2-40B4-BE49-F238E27FC236}">
                <a16:creationId xmlns:a16="http://schemas.microsoft.com/office/drawing/2014/main" id="{1ED48A9D-A782-7644-5D01-C192C16FB26F}"/>
              </a:ext>
            </a:extLst>
          </p:cNvPr>
          <p:cNvSpPr txBox="1"/>
          <p:nvPr/>
        </p:nvSpPr>
        <p:spPr>
          <a:xfrm>
            <a:off x="521033" y="629286"/>
            <a:ext cx="5294324" cy="830997"/>
          </a:xfrm>
          <a:prstGeom prst="rect">
            <a:avLst/>
          </a:prstGeom>
          <a:noFill/>
        </p:spPr>
        <p:txBody>
          <a:bodyPr wrap="square">
            <a:spAutoFit/>
          </a:bodyPr>
          <a:lstStyle/>
          <a:p>
            <a:r>
              <a:rPr lang="en-US" sz="1600" dirty="0"/>
              <a:t>Mean RT was slower in regular than critical trials, and when reward information was presented at the RS compared to other timings (start of trial and stimulus offset).</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A38AD2AE-3959-6245-AFC1-B8B0CD71C066}"/>
                  </a:ext>
                </a:extLst>
              </p:cNvPr>
              <p:cNvGraphicFramePr>
                <a:graphicFrameLocks noGrp="1"/>
              </p:cNvGraphicFramePr>
              <p:nvPr>
                <p:extLst>
                  <p:ext uri="{D42A27DB-BD31-4B8C-83A1-F6EECF244321}">
                    <p14:modId xmlns:p14="http://schemas.microsoft.com/office/powerpoint/2010/main" val="3477365847"/>
                  </p:ext>
                </p:extLst>
              </p:nvPr>
            </p:nvGraphicFramePr>
            <p:xfrm>
              <a:off x="606394" y="2245006"/>
              <a:ext cx="4922887" cy="1824804"/>
            </p:xfrm>
            <a:graphic>
              <a:graphicData uri="http://schemas.openxmlformats.org/drawingml/2006/table">
                <a:tbl>
                  <a:tblPr firstRow="1" firstCol="1" bandRow="1"/>
                  <a:tblGrid>
                    <a:gridCol w="1273714">
                      <a:extLst>
                        <a:ext uri="{9D8B030D-6E8A-4147-A177-3AD203B41FA5}">
                          <a16:colId xmlns:a16="http://schemas.microsoft.com/office/drawing/2014/main" val="2897159514"/>
                        </a:ext>
                      </a:extLst>
                    </a:gridCol>
                    <a:gridCol w="1779159">
                      <a:extLst>
                        <a:ext uri="{9D8B030D-6E8A-4147-A177-3AD203B41FA5}">
                          <a16:colId xmlns:a16="http://schemas.microsoft.com/office/drawing/2014/main" val="3788359529"/>
                        </a:ext>
                      </a:extLst>
                    </a:gridCol>
                    <a:gridCol w="1870014">
                      <a:extLst>
                        <a:ext uri="{9D8B030D-6E8A-4147-A177-3AD203B41FA5}">
                          <a16:colId xmlns:a16="http://schemas.microsoft.com/office/drawing/2014/main" val="2031927559"/>
                        </a:ext>
                      </a:extLst>
                    </a:gridCol>
                  </a:tblGrid>
                  <a:tr h="202756">
                    <a:tc>
                      <a:txBody>
                        <a:bodyPr/>
                        <a:lstStyle/>
                        <a:p>
                          <a:pPr algn="ctr">
                            <a:lnSpc>
                              <a:spcPct val="100000"/>
                            </a:lnSpc>
                            <a:spcAft>
                              <a:spcPts val="0"/>
                            </a:spcAft>
                            <a:buNone/>
                          </a:pPr>
                          <a:r>
                            <a:rPr lang="en-US" sz="1100" b="1" dirty="0">
                              <a:solidFill>
                                <a:srgbClr val="000000"/>
                              </a:solidFill>
                              <a:effectLst/>
                              <a:latin typeface="+mn-lt"/>
                              <a:ea typeface="Times New Roman" panose="02020603050405020304" pitchFamily="18" charset="0"/>
                              <a:cs typeface="Times New Roman" panose="02020603050405020304" pitchFamily="18" charset="0"/>
                            </a:rPr>
                            <a:t>Significant effects</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dirty="0">
                              <a:solidFill>
                                <a:srgbClr val="000000"/>
                              </a:solidFill>
                              <a:effectLst/>
                              <a:latin typeface="+mn-lt"/>
                              <a:ea typeface="Times New Roman" panose="02020603050405020304" pitchFamily="18" charset="0"/>
                              <a:cs typeface="Times New Roman" panose="02020603050405020304" pitchFamily="18" charset="0"/>
                            </a:rPr>
                            <a:t>Accuracy</a:t>
                          </a:r>
                          <a:endParaRPr lang="en-US" sz="1100" i="0" baseline="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1100" b="1" i="0" dirty="0">
                              <a:solidFill>
                                <a:srgbClr val="000000"/>
                              </a:solidFill>
                              <a:effectLst/>
                              <a:latin typeface="+mn-lt"/>
                              <a:ea typeface="Times New Roman" panose="02020603050405020304" pitchFamily="18" charset="0"/>
                              <a:cs typeface="Times New Roman" panose="02020603050405020304" pitchFamily="18" charset="0"/>
                            </a:rPr>
                            <a:t>mean RT</a:t>
                          </a:r>
                          <a:endParaRPr lang="en-US" sz="1100" b="1" i="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5929332"/>
                      </a:ext>
                    </a:extLst>
                  </a:tr>
                  <a:tr h="405512">
                    <a:tc>
                      <a:txBody>
                        <a:bodyPr/>
                        <a:lstStyle/>
                        <a:p>
                          <a:pPr algn="ctr">
                            <a:lnSpc>
                              <a:spcPct val="100000"/>
                            </a:lnSpc>
                            <a:spcAft>
                              <a:spcPts val="0"/>
                            </a:spcAft>
                            <a:buNone/>
                          </a:pPr>
                          <a:r>
                            <a:rPr lang="en-US" sz="11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&lt; .001</a:t>
                          </a:r>
                          <a:r>
                            <a:rPr lang="en-US" sz="1100" dirty="0">
                              <a:solidFill>
                                <a:schemeClr val="tx1"/>
                              </a:solidFill>
                              <a:effectLst/>
                              <a:latin typeface="+mn-lt"/>
                              <a:ea typeface="Calibri" panose="020F0502020204030204" pitchFamily="34" charset="0"/>
                              <a:cs typeface="Times New Roman" panose="02020603050405020304" pitchFamily="18" charset="0"/>
                            </a:rPr>
                            <a:t>,</a:t>
                          </a:r>
                          <a:r>
                            <a:rPr lang="en-US" sz="1100" baseline="0" dirty="0">
                              <a:solidFill>
                                <a:schemeClr val="tx1"/>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1.54 </a:t>
                          </a:r>
                          <a14:m>
                            <m:oMath xmlns:m="http://schemas.openxmlformats.org/officeDocument/2006/math">
                              <m:r>
                                <a:rPr lang="en-US" sz="1100" i="1" dirty="0"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1100" dirty="0">
                              <a:effectLst/>
                              <a:latin typeface="+mn-lt"/>
                              <a:ea typeface="Calibri" panose="020F0502020204030204" pitchFamily="34" charset="0"/>
                              <a:cs typeface="Times New Roman" panose="02020603050405020304" pitchFamily="18" charset="0"/>
                            </a:rPr>
                            <a:t> 10</a:t>
                          </a:r>
                          <a:r>
                            <a:rPr lang="en-US" sz="1100" baseline="30000" dirty="0">
                              <a:effectLst/>
                              <a:latin typeface="+mn-lt"/>
                              <a:ea typeface="Calibri" panose="020F0502020204030204" pitchFamily="34" charset="0"/>
                              <a:cs typeface="Times New Roman" panose="02020603050405020304" pitchFamily="18" charset="0"/>
                            </a:rPr>
                            <a:t>10</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.005</a:t>
                          </a:r>
                          <a:r>
                            <a:rPr lang="en-US" sz="1100" i="0" dirty="0">
                              <a:solidFill>
                                <a:srgbClr val="000000"/>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42.94</a:t>
                          </a: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79771648"/>
                      </a:ext>
                    </a:extLst>
                  </a:tr>
                  <a:tr h="4055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effectLst/>
                              <a:latin typeface="+mn-lt"/>
                              <a:ea typeface="Times New Roman" panose="02020603050405020304" pitchFamily="18" charset="0"/>
                              <a:cs typeface="Times New Roman" panose="02020603050405020304" pitchFamily="18" charset="0"/>
                            </a:rPr>
                            <a:t>trial value</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no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effectLst/>
                              <a:latin typeface="+mn-lt"/>
                              <a:ea typeface="Times New Roman" panose="02020603050405020304" pitchFamily="18" charset="0"/>
                              <a:cs typeface="Times New Roman" panose="02020603050405020304" pitchFamily="18" charset="0"/>
                            </a:rPr>
                            <a:t>–</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no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.007</a:t>
                          </a:r>
                          <a:r>
                            <a:rPr lang="en-US" sz="1100" i="0" dirty="0">
                              <a:solidFill>
                                <a:srgbClr val="000000"/>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7.23</a:t>
                          </a:r>
                        </a:p>
                      </a:txBody>
                      <a:tcPr marL="68580" marR="68580" marT="0" marB="0" anchor="ctr">
                        <a:lnL>
                          <a:noFill/>
                        </a:lnL>
                        <a:lnR>
                          <a:noFill/>
                        </a:lnR>
                        <a:lnT w="19050" cap="flat" cmpd="sng" algn="ctr">
                          <a:noFill/>
                          <a:prstDash val="solid"/>
                          <a:round/>
                          <a:headEnd type="none" w="med" len="med"/>
                          <a:tailEnd type="none" w="med" len="med"/>
                        </a:lnT>
                        <a:lnB>
                          <a:noFill/>
                        </a:lnB>
                        <a:noFill/>
                      </a:tcPr>
                    </a:tc>
                    <a:extLst>
                      <a:ext uri="{0D108BD9-81ED-4DB2-BD59-A6C34878D82A}">
                        <a16:rowId xmlns:a16="http://schemas.microsoft.com/office/drawing/2014/main" val="1034444815"/>
                      </a:ext>
                    </a:extLst>
                  </a:tr>
                  <a:tr h="405512">
                    <a:tc>
                      <a:txBody>
                        <a:bodyPr/>
                        <a:lstStyle/>
                        <a:p>
                          <a:pPr algn="ctr">
                            <a:lnSpc>
                              <a:spcPct val="100000"/>
                            </a:lnSpc>
                            <a:spcAft>
                              <a:spcPts val="0"/>
                            </a:spcAft>
                            <a:buNone/>
                          </a:pPr>
                          <a:r>
                            <a:rPr lang="en-US" sz="1100" dirty="0">
                              <a:effectLst/>
                              <a:latin typeface="+mn-lt"/>
                              <a:ea typeface="Calibri" panose="020F0502020204030204" pitchFamily="34" charset="0"/>
                              <a:cs typeface="Times New Roman" panose="02020603050405020304" pitchFamily="18" charset="0"/>
                            </a:rPr>
                            <a:t>reward-onset</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effectLst/>
                              <a:latin typeface="+mn-lt"/>
                              <a:ea typeface="Times New Roman" panose="02020603050405020304" pitchFamily="18" charset="0"/>
                              <a:cs typeface="Times New Roman" panose="02020603050405020304" pitchFamily="18" charset="0"/>
                            </a:rPr>
                            <a:t>–</a:t>
                          </a:r>
                          <a:endParaRPr lang="en-US" sz="1100" dirty="0">
                            <a:effectLst/>
                            <a:latin typeface="+mn-lt"/>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&lt; .001</a:t>
                          </a:r>
                          <a:r>
                            <a:rPr lang="en-US" sz="1100" i="0" dirty="0">
                              <a:solidFill>
                                <a:srgbClr val="000000"/>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3731</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1683709"/>
                      </a:ext>
                    </a:extLst>
                  </a:tr>
                  <a:tr h="405512">
                    <a:tc gridSpan="3">
                      <a:txBody>
                        <a:bodyPr/>
                        <a:lstStyle/>
                        <a:p>
                          <a:pPr algn="l">
                            <a:lnSpc>
                              <a:spcPct val="100000"/>
                            </a:lnSpc>
                            <a:spcAft>
                              <a:spcPts val="0"/>
                            </a:spcAft>
                            <a:buNone/>
                          </a:pPr>
                          <a:r>
                            <a:rPr lang="en-US" sz="900" i="1" dirty="0">
                              <a:effectLst/>
                              <a:latin typeface="Times New Roman" panose="02020603050405020304" pitchFamily="18" charset="0"/>
                              <a:ea typeface="Calibri" panose="020F0502020204030204" pitchFamily="34" charset="0"/>
                              <a:cs typeface="Times New Roman" panose="02020603050405020304" pitchFamily="18" charset="0"/>
                            </a:rPr>
                            <a:t>Note</a:t>
                          </a:r>
                          <a:r>
                            <a:rPr lang="en-US" sz="900" dirty="0">
                              <a:effectLst/>
                              <a:latin typeface="Times New Roman" panose="02020603050405020304" pitchFamily="18" charset="0"/>
                              <a:ea typeface="Calibri" panose="020F0502020204030204" pitchFamily="34" charset="0"/>
                              <a:cs typeface="Times New Roman" panose="02020603050405020304" pitchFamily="18" charset="0"/>
                            </a:rPr>
                            <a:t>. (B)RM ANOVA with coherence level, trial value and reward onset timing as factor. </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hMerge="1">
                      <a:txBody>
                        <a:bodyPr/>
                        <a:lstStyle/>
                        <a:p>
                          <a:pPr algn="ctr">
                            <a:lnSpc>
                              <a:spcPct val="100000"/>
                            </a:lnSpc>
                            <a:spcAft>
                              <a:spcPts val="0"/>
                            </a:spcAft>
                            <a:buNone/>
                          </a:pP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263278184"/>
                      </a:ext>
                    </a:extLst>
                  </a:tr>
                </a:tbl>
              </a:graphicData>
            </a:graphic>
          </p:graphicFrame>
        </mc:Choice>
        <mc:Fallback>
          <p:graphicFrame>
            <p:nvGraphicFramePr>
              <p:cNvPr id="2" name="Table 1">
                <a:extLst>
                  <a:ext uri="{FF2B5EF4-FFF2-40B4-BE49-F238E27FC236}">
                    <a16:creationId xmlns:a16="http://schemas.microsoft.com/office/drawing/2014/main" id="{A38AD2AE-3959-6245-AFC1-B8B0CD71C066}"/>
                  </a:ext>
                </a:extLst>
              </p:cNvPr>
              <p:cNvGraphicFramePr>
                <a:graphicFrameLocks noGrp="1"/>
              </p:cNvGraphicFramePr>
              <p:nvPr>
                <p:extLst>
                  <p:ext uri="{D42A27DB-BD31-4B8C-83A1-F6EECF244321}">
                    <p14:modId xmlns:p14="http://schemas.microsoft.com/office/powerpoint/2010/main" val="3477365847"/>
                  </p:ext>
                </p:extLst>
              </p:nvPr>
            </p:nvGraphicFramePr>
            <p:xfrm>
              <a:off x="606394" y="2245006"/>
              <a:ext cx="4922887" cy="1824804"/>
            </p:xfrm>
            <a:graphic>
              <a:graphicData uri="http://schemas.openxmlformats.org/drawingml/2006/table">
                <a:tbl>
                  <a:tblPr firstRow="1" firstCol="1" bandRow="1"/>
                  <a:tblGrid>
                    <a:gridCol w="1273714">
                      <a:extLst>
                        <a:ext uri="{9D8B030D-6E8A-4147-A177-3AD203B41FA5}">
                          <a16:colId xmlns:a16="http://schemas.microsoft.com/office/drawing/2014/main" val="2897159514"/>
                        </a:ext>
                      </a:extLst>
                    </a:gridCol>
                    <a:gridCol w="1779159">
                      <a:extLst>
                        <a:ext uri="{9D8B030D-6E8A-4147-A177-3AD203B41FA5}">
                          <a16:colId xmlns:a16="http://schemas.microsoft.com/office/drawing/2014/main" val="3788359529"/>
                        </a:ext>
                      </a:extLst>
                    </a:gridCol>
                    <a:gridCol w="1870014">
                      <a:extLst>
                        <a:ext uri="{9D8B030D-6E8A-4147-A177-3AD203B41FA5}">
                          <a16:colId xmlns:a16="http://schemas.microsoft.com/office/drawing/2014/main" val="2031927559"/>
                        </a:ext>
                      </a:extLst>
                    </a:gridCol>
                  </a:tblGrid>
                  <a:tr h="202756">
                    <a:tc>
                      <a:txBody>
                        <a:bodyPr/>
                        <a:lstStyle/>
                        <a:p>
                          <a:pPr algn="ctr">
                            <a:lnSpc>
                              <a:spcPct val="100000"/>
                            </a:lnSpc>
                            <a:spcAft>
                              <a:spcPts val="0"/>
                            </a:spcAft>
                            <a:buNone/>
                          </a:pPr>
                          <a:r>
                            <a:rPr lang="en-US" sz="1100" b="1" dirty="0">
                              <a:solidFill>
                                <a:srgbClr val="000000"/>
                              </a:solidFill>
                              <a:effectLst/>
                              <a:latin typeface="+mn-lt"/>
                              <a:ea typeface="Times New Roman" panose="02020603050405020304" pitchFamily="18" charset="0"/>
                              <a:cs typeface="Times New Roman" panose="02020603050405020304" pitchFamily="18" charset="0"/>
                            </a:rPr>
                            <a:t>Significant effects</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dirty="0">
                              <a:solidFill>
                                <a:srgbClr val="000000"/>
                              </a:solidFill>
                              <a:effectLst/>
                              <a:latin typeface="+mn-lt"/>
                              <a:ea typeface="Times New Roman" panose="02020603050405020304" pitchFamily="18" charset="0"/>
                              <a:cs typeface="Times New Roman" panose="02020603050405020304" pitchFamily="18" charset="0"/>
                            </a:rPr>
                            <a:t>Accuracy</a:t>
                          </a:r>
                          <a:endParaRPr lang="en-US" sz="1100" i="0" baseline="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1100" b="1" i="0" dirty="0">
                              <a:solidFill>
                                <a:srgbClr val="000000"/>
                              </a:solidFill>
                              <a:effectLst/>
                              <a:latin typeface="+mn-lt"/>
                              <a:ea typeface="Times New Roman" panose="02020603050405020304" pitchFamily="18" charset="0"/>
                              <a:cs typeface="Times New Roman" panose="02020603050405020304" pitchFamily="18" charset="0"/>
                            </a:rPr>
                            <a:t>mean RT</a:t>
                          </a:r>
                          <a:endParaRPr lang="en-US" sz="1100" b="1" i="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5929332"/>
                      </a:ext>
                    </a:extLst>
                  </a:tr>
                  <a:tr h="405512">
                    <a:tc>
                      <a:txBody>
                        <a:bodyPr/>
                        <a:lstStyle/>
                        <a:p>
                          <a:pPr algn="ctr">
                            <a:lnSpc>
                              <a:spcPct val="100000"/>
                            </a:lnSpc>
                            <a:spcAft>
                              <a:spcPts val="0"/>
                            </a:spcAft>
                            <a:buNone/>
                          </a:pPr>
                          <a:r>
                            <a:rPr lang="en-US" sz="11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endParaRPr lang="en-US"/>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blipFill>
                          <a:blip r:embed="rId3"/>
                          <a:stretch>
                            <a:fillRect l="-71331" t="-55224" r="-105119" b="-29850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.005</a:t>
                          </a:r>
                          <a:r>
                            <a:rPr lang="en-US" sz="1100" i="0" dirty="0">
                              <a:solidFill>
                                <a:srgbClr val="000000"/>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42.94</a:t>
                          </a: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79771648"/>
                      </a:ext>
                    </a:extLst>
                  </a:tr>
                  <a:tr h="4055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effectLst/>
                              <a:latin typeface="+mn-lt"/>
                              <a:ea typeface="Times New Roman" panose="02020603050405020304" pitchFamily="18" charset="0"/>
                              <a:cs typeface="Times New Roman" panose="02020603050405020304" pitchFamily="18" charset="0"/>
                            </a:rPr>
                            <a:t>trial value</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no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effectLst/>
                              <a:latin typeface="+mn-lt"/>
                              <a:ea typeface="Times New Roman" panose="02020603050405020304" pitchFamily="18" charset="0"/>
                              <a:cs typeface="Times New Roman" panose="02020603050405020304" pitchFamily="18" charset="0"/>
                            </a:rPr>
                            <a:t>–</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no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.007</a:t>
                          </a:r>
                          <a:r>
                            <a:rPr lang="en-US" sz="1100" i="0" dirty="0">
                              <a:solidFill>
                                <a:srgbClr val="000000"/>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7.23</a:t>
                          </a:r>
                        </a:p>
                      </a:txBody>
                      <a:tcPr marL="68580" marR="68580" marT="0" marB="0" anchor="ctr">
                        <a:lnL>
                          <a:noFill/>
                        </a:lnL>
                        <a:lnR>
                          <a:noFill/>
                        </a:lnR>
                        <a:lnT w="19050" cap="flat" cmpd="sng" algn="ctr">
                          <a:noFill/>
                          <a:prstDash val="solid"/>
                          <a:round/>
                          <a:headEnd type="none" w="med" len="med"/>
                          <a:tailEnd type="none" w="med" len="med"/>
                        </a:lnT>
                        <a:lnB>
                          <a:noFill/>
                        </a:lnB>
                        <a:noFill/>
                      </a:tcPr>
                    </a:tc>
                    <a:extLst>
                      <a:ext uri="{0D108BD9-81ED-4DB2-BD59-A6C34878D82A}">
                        <a16:rowId xmlns:a16="http://schemas.microsoft.com/office/drawing/2014/main" val="1034444815"/>
                      </a:ext>
                    </a:extLst>
                  </a:tr>
                  <a:tr h="405512">
                    <a:tc>
                      <a:txBody>
                        <a:bodyPr/>
                        <a:lstStyle/>
                        <a:p>
                          <a:pPr algn="ctr">
                            <a:lnSpc>
                              <a:spcPct val="100000"/>
                            </a:lnSpc>
                            <a:spcAft>
                              <a:spcPts val="0"/>
                            </a:spcAft>
                            <a:buNone/>
                          </a:pPr>
                          <a:r>
                            <a:rPr lang="en-US" sz="1100" dirty="0">
                              <a:effectLst/>
                              <a:latin typeface="+mn-lt"/>
                              <a:ea typeface="Calibri" panose="020F0502020204030204" pitchFamily="34" charset="0"/>
                              <a:cs typeface="Times New Roman" panose="02020603050405020304" pitchFamily="18" charset="0"/>
                            </a:rPr>
                            <a:t>reward-onset</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effectLst/>
                              <a:latin typeface="+mn-lt"/>
                              <a:ea typeface="Times New Roman" panose="02020603050405020304" pitchFamily="18" charset="0"/>
                              <a:cs typeface="Times New Roman" panose="02020603050405020304" pitchFamily="18" charset="0"/>
                            </a:rPr>
                            <a:t>–</a:t>
                          </a:r>
                          <a:endParaRPr lang="en-US" sz="1100" dirty="0">
                            <a:effectLst/>
                            <a:latin typeface="+mn-lt"/>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&lt; .001</a:t>
                          </a:r>
                          <a:r>
                            <a:rPr lang="en-US" sz="1100" i="0" dirty="0">
                              <a:solidFill>
                                <a:srgbClr val="000000"/>
                              </a:solidFill>
                              <a:effectLst/>
                              <a:latin typeface="+mn-lt"/>
                              <a:ea typeface="Calibri" panose="020F0502020204030204" pitchFamily="34" charset="0"/>
                              <a:cs typeface="Times New Roman" panose="02020603050405020304" pitchFamily="18" charset="0"/>
                            </a:rPr>
                            <a:t>,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3731</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1683709"/>
                      </a:ext>
                    </a:extLst>
                  </a:tr>
                  <a:tr h="405512">
                    <a:tc gridSpan="3">
                      <a:txBody>
                        <a:bodyPr/>
                        <a:lstStyle/>
                        <a:p>
                          <a:pPr algn="l">
                            <a:lnSpc>
                              <a:spcPct val="100000"/>
                            </a:lnSpc>
                            <a:spcAft>
                              <a:spcPts val="0"/>
                            </a:spcAft>
                            <a:buNone/>
                          </a:pPr>
                          <a:r>
                            <a:rPr lang="en-US" sz="900" i="1" dirty="0">
                              <a:effectLst/>
                              <a:latin typeface="Times New Roman" panose="02020603050405020304" pitchFamily="18" charset="0"/>
                              <a:ea typeface="Calibri" panose="020F0502020204030204" pitchFamily="34" charset="0"/>
                              <a:cs typeface="Times New Roman" panose="02020603050405020304" pitchFamily="18" charset="0"/>
                            </a:rPr>
                            <a:t>Note</a:t>
                          </a:r>
                          <a:r>
                            <a:rPr lang="en-US" sz="900" dirty="0">
                              <a:effectLst/>
                              <a:latin typeface="Times New Roman" panose="02020603050405020304" pitchFamily="18" charset="0"/>
                              <a:ea typeface="Calibri" panose="020F0502020204030204" pitchFamily="34" charset="0"/>
                              <a:cs typeface="Times New Roman" panose="02020603050405020304" pitchFamily="18" charset="0"/>
                            </a:rPr>
                            <a:t>. (B)RM ANOVA with coherence level, trial value and reward onset timing as factor. </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hMerge="1">
                      <a:txBody>
                        <a:bodyPr/>
                        <a:lstStyle/>
                        <a:p>
                          <a:pPr algn="ctr">
                            <a:lnSpc>
                              <a:spcPct val="100000"/>
                            </a:lnSpc>
                            <a:spcAft>
                              <a:spcPts val="0"/>
                            </a:spcAft>
                            <a:buNone/>
                          </a:pP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263278184"/>
                      </a:ext>
                    </a:extLst>
                  </a:tr>
                </a:tbl>
              </a:graphicData>
            </a:graphic>
          </p:graphicFrame>
        </mc:Fallback>
      </mc:AlternateContent>
      <p:pic>
        <p:nvPicPr>
          <p:cNvPr id="4" name="Picture 3">
            <a:extLst>
              <a:ext uri="{FF2B5EF4-FFF2-40B4-BE49-F238E27FC236}">
                <a16:creationId xmlns:a16="http://schemas.microsoft.com/office/drawing/2014/main" id="{D6ED58BA-C649-4670-B737-C24C015E335F}"/>
              </a:ext>
            </a:extLst>
          </p:cNvPr>
          <p:cNvPicPr>
            <a:picLocks noChangeAspect="1"/>
          </p:cNvPicPr>
          <p:nvPr/>
        </p:nvPicPr>
        <p:blipFill>
          <a:blip r:embed="rId4"/>
          <a:stretch>
            <a:fillRect/>
          </a:stretch>
        </p:blipFill>
        <p:spPr>
          <a:xfrm>
            <a:off x="6585736" y="1242108"/>
            <a:ext cx="5085231" cy="2520000"/>
          </a:xfrm>
          <a:prstGeom prst="rect">
            <a:avLst/>
          </a:prstGeom>
        </p:spPr>
      </p:pic>
      <p:pic>
        <p:nvPicPr>
          <p:cNvPr id="6" name="Picture 5">
            <a:extLst>
              <a:ext uri="{FF2B5EF4-FFF2-40B4-BE49-F238E27FC236}">
                <a16:creationId xmlns:a16="http://schemas.microsoft.com/office/drawing/2014/main" id="{5A8239D4-A8B3-ED57-F52A-9BEDC1684D0B}"/>
              </a:ext>
            </a:extLst>
          </p:cNvPr>
          <p:cNvPicPr>
            <a:picLocks noChangeAspect="1"/>
          </p:cNvPicPr>
          <p:nvPr/>
        </p:nvPicPr>
        <p:blipFill>
          <a:blip r:embed="rId5"/>
          <a:srcRect l="39649" t="4619" r="47938" b="71378"/>
          <a:stretch>
            <a:fillRect/>
          </a:stretch>
        </p:blipFill>
        <p:spPr>
          <a:xfrm>
            <a:off x="7650106" y="335175"/>
            <a:ext cx="837894" cy="801581"/>
          </a:xfrm>
          <a:prstGeom prst="rect">
            <a:avLst/>
          </a:prstGeom>
        </p:spPr>
      </p:pic>
      <p:pic>
        <p:nvPicPr>
          <p:cNvPr id="7" name="Picture 6">
            <a:extLst>
              <a:ext uri="{FF2B5EF4-FFF2-40B4-BE49-F238E27FC236}">
                <a16:creationId xmlns:a16="http://schemas.microsoft.com/office/drawing/2014/main" id="{64A30874-D7C5-7D84-3D61-78B3E1398CEB}"/>
              </a:ext>
            </a:extLst>
          </p:cNvPr>
          <p:cNvPicPr>
            <a:picLocks noChangeAspect="1"/>
          </p:cNvPicPr>
          <p:nvPr/>
        </p:nvPicPr>
        <p:blipFill>
          <a:blip r:embed="rId5"/>
          <a:srcRect l="85468" t="4648" r="2119" b="71349"/>
          <a:stretch>
            <a:fillRect/>
          </a:stretch>
        </p:blipFill>
        <p:spPr>
          <a:xfrm>
            <a:off x="10052023" y="314909"/>
            <a:ext cx="837894" cy="801581"/>
          </a:xfrm>
          <a:prstGeom prst="rect">
            <a:avLst/>
          </a:prstGeom>
        </p:spPr>
      </p:pic>
      <p:pic>
        <p:nvPicPr>
          <p:cNvPr id="12" name="Picture 11">
            <a:extLst>
              <a:ext uri="{FF2B5EF4-FFF2-40B4-BE49-F238E27FC236}">
                <a16:creationId xmlns:a16="http://schemas.microsoft.com/office/drawing/2014/main" id="{8E7E37B0-3ECB-5A40-96C8-1FEBA7FC6DC5}"/>
              </a:ext>
            </a:extLst>
          </p:cNvPr>
          <p:cNvPicPr>
            <a:picLocks noChangeAspect="1"/>
          </p:cNvPicPr>
          <p:nvPr/>
        </p:nvPicPr>
        <p:blipFill>
          <a:blip r:embed="rId6"/>
          <a:stretch>
            <a:fillRect/>
          </a:stretch>
        </p:blipFill>
        <p:spPr>
          <a:xfrm>
            <a:off x="6585735" y="3949843"/>
            <a:ext cx="5085231" cy="2520000"/>
          </a:xfrm>
          <a:prstGeom prst="rect">
            <a:avLst/>
          </a:prstGeom>
        </p:spPr>
      </p:pic>
    </p:spTree>
    <p:extLst>
      <p:ext uri="{BB962C8B-B14F-4D97-AF65-F5344CB8AC3E}">
        <p14:creationId xmlns:p14="http://schemas.microsoft.com/office/powerpoint/2010/main" val="1442157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258E4-56DD-2A1F-01EF-630188E920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7A067D-4C04-2CBA-2575-6BA5CEAC8075}"/>
              </a:ext>
            </a:extLst>
          </p:cNvPr>
          <p:cNvSpPr txBox="1"/>
          <p:nvPr/>
        </p:nvSpPr>
        <p:spPr>
          <a:xfrm>
            <a:off x="314960" y="267454"/>
            <a:ext cx="11318240" cy="954107"/>
          </a:xfrm>
          <a:prstGeom prst="rect">
            <a:avLst/>
          </a:prstGeom>
          <a:noFill/>
        </p:spPr>
        <p:txBody>
          <a:bodyPr wrap="square">
            <a:spAutoFit/>
          </a:bodyPr>
          <a:lstStyle/>
          <a:p>
            <a:pPr>
              <a:spcBef>
                <a:spcPts val="600"/>
              </a:spcBef>
              <a:spcAft>
                <a:spcPts val="600"/>
              </a:spcAft>
            </a:pPr>
            <a:r>
              <a:rPr lang="en-US" sz="1400" dirty="0">
                <a:solidFill>
                  <a:schemeClr val="bg2">
                    <a:lumMod val="50000"/>
                  </a:schemeClr>
                </a:solidFill>
              </a:rPr>
              <a:t>“</a:t>
            </a:r>
            <a:r>
              <a:rPr lang="en-US" sz="1400" b="1" dirty="0">
                <a:solidFill>
                  <a:schemeClr val="bg2">
                    <a:lumMod val="50000"/>
                  </a:schemeClr>
                </a:solidFill>
              </a:rPr>
              <a:t>We predict that the magnitude of the effect of motion coherence on mean PMT, and slope of muscle activation will be larger for critical than regular trials, reflecting a stronger attempt to "replay" the decision</a:t>
            </a:r>
            <a:r>
              <a:rPr lang="en-US" sz="1400" dirty="0">
                <a:solidFill>
                  <a:schemeClr val="bg2">
                    <a:lumMod val="50000"/>
                  </a:schemeClr>
                </a:solidFill>
              </a:rPr>
              <a:t>. In line with the predicted effect on the slope of muscle activation, we also predict that the effect of motion coherence on mean motor time (MT, from the onset of muscle activation to the response) will be larger for critical than regular trials.”</a:t>
            </a:r>
          </a:p>
        </p:txBody>
      </p:sp>
      <p:sp>
        <p:nvSpPr>
          <p:cNvPr id="9" name="TextBox 8">
            <a:extLst>
              <a:ext uri="{FF2B5EF4-FFF2-40B4-BE49-F238E27FC236}">
                <a16:creationId xmlns:a16="http://schemas.microsoft.com/office/drawing/2014/main" id="{15004D24-FA3C-B90B-493D-CFA69180C53D}"/>
              </a:ext>
            </a:extLst>
          </p:cNvPr>
          <p:cNvSpPr txBox="1"/>
          <p:nvPr/>
        </p:nvSpPr>
        <p:spPr>
          <a:xfrm>
            <a:off x="6536277" y="2073343"/>
            <a:ext cx="5312824" cy="984885"/>
          </a:xfrm>
          <a:prstGeom prst="rect">
            <a:avLst/>
          </a:prstGeom>
          <a:noFill/>
        </p:spPr>
        <p:txBody>
          <a:bodyPr wrap="square">
            <a:spAutoFit/>
          </a:bodyPr>
          <a:lstStyle/>
          <a:p>
            <a:pPr>
              <a:spcBef>
                <a:spcPts val="600"/>
              </a:spcBef>
              <a:spcAft>
                <a:spcPts val="600"/>
              </a:spcAft>
            </a:pPr>
            <a:r>
              <a:rPr lang="en-US" sz="1600" dirty="0"/>
              <a:t>Similar trends were observed for mean PMET as for mean RT.</a:t>
            </a:r>
          </a:p>
          <a:p>
            <a:pPr>
              <a:spcBef>
                <a:spcPts val="600"/>
              </a:spcBef>
              <a:spcAft>
                <a:spcPts val="600"/>
              </a:spcAft>
            </a:pPr>
            <a:r>
              <a:rPr lang="en-US" sz="1600" dirty="0"/>
              <a:t>Mean MET appeared unaffected by the independent variables, except trial value with higher latency for regular trial (blue).</a:t>
            </a:r>
          </a:p>
        </p:txBody>
      </p:sp>
      <p:pic>
        <p:nvPicPr>
          <p:cNvPr id="10" name="Picture 9">
            <a:extLst>
              <a:ext uri="{FF2B5EF4-FFF2-40B4-BE49-F238E27FC236}">
                <a16:creationId xmlns:a16="http://schemas.microsoft.com/office/drawing/2014/main" id="{5B2CB8F6-AE19-B1B7-CF83-A4EDE10F8B0A}"/>
              </a:ext>
            </a:extLst>
          </p:cNvPr>
          <p:cNvPicPr>
            <a:picLocks noChangeAspect="1"/>
          </p:cNvPicPr>
          <p:nvPr/>
        </p:nvPicPr>
        <p:blipFill>
          <a:blip r:embed="rId3"/>
          <a:srcRect l="39649" t="4619" r="47938" b="71378"/>
          <a:stretch>
            <a:fillRect/>
          </a:stretch>
        </p:blipFill>
        <p:spPr>
          <a:xfrm>
            <a:off x="221135" y="2787221"/>
            <a:ext cx="1007323" cy="963669"/>
          </a:xfrm>
          <a:prstGeom prst="rect">
            <a:avLst/>
          </a:prstGeom>
        </p:spPr>
      </p:pic>
      <p:pic>
        <p:nvPicPr>
          <p:cNvPr id="11" name="Picture 10">
            <a:extLst>
              <a:ext uri="{FF2B5EF4-FFF2-40B4-BE49-F238E27FC236}">
                <a16:creationId xmlns:a16="http://schemas.microsoft.com/office/drawing/2014/main" id="{6CA70FCA-3F88-7945-5A42-F99721D43060}"/>
              </a:ext>
            </a:extLst>
          </p:cNvPr>
          <p:cNvPicPr>
            <a:picLocks noChangeAspect="1"/>
          </p:cNvPicPr>
          <p:nvPr/>
        </p:nvPicPr>
        <p:blipFill>
          <a:blip r:embed="rId3"/>
          <a:srcRect l="85468" t="4648" r="2119" b="71349"/>
          <a:stretch>
            <a:fillRect/>
          </a:stretch>
        </p:blipFill>
        <p:spPr>
          <a:xfrm>
            <a:off x="235918" y="4077397"/>
            <a:ext cx="1007324" cy="963668"/>
          </a:xfrm>
          <a:prstGeom prst="rect">
            <a:avLst/>
          </a:prstGeom>
        </p:spPr>
      </p:pic>
      <p:graphicFrame>
        <p:nvGraphicFramePr>
          <p:cNvPr id="22" name="Table 21">
            <a:extLst>
              <a:ext uri="{FF2B5EF4-FFF2-40B4-BE49-F238E27FC236}">
                <a16:creationId xmlns:a16="http://schemas.microsoft.com/office/drawing/2014/main" id="{86F2D7C2-7353-18DD-4C19-64568F0E1229}"/>
              </a:ext>
            </a:extLst>
          </p:cNvPr>
          <p:cNvGraphicFramePr>
            <a:graphicFrameLocks noGrp="1"/>
          </p:cNvGraphicFramePr>
          <p:nvPr>
            <p:extLst>
              <p:ext uri="{D42A27DB-BD31-4B8C-83A1-F6EECF244321}">
                <p14:modId xmlns:p14="http://schemas.microsoft.com/office/powerpoint/2010/main" val="1562053909"/>
              </p:ext>
            </p:extLst>
          </p:nvPr>
        </p:nvGraphicFramePr>
        <p:xfrm>
          <a:off x="6663180" y="3646923"/>
          <a:ext cx="5057212" cy="1824615"/>
        </p:xfrm>
        <a:graphic>
          <a:graphicData uri="http://schemas.openxmlformats.org/drawingml/2006/table">
            <a:tbl>
              <a:tblPr firstRow="1" firstCol="1" bandRow="1"/>
              <a:tblGrid>
                <a:gridCol w="1417750">
                  <a:extLst>
                    <a:ext uri="{9D8B030D-6E8A-4147-A177-3AD203B41FA5}">
                      <a16:colId xmlns:a16="http://schemas.microsoft.com/office/drawing/2014/main" val="2897159514"/>
                    </a:ext>
                  </a:extLst>
                </a:gridCol>
                <a:gridCol w="2121812">
                  <a:extLst>
                    <a:ext uri="{9D8B030D-6E8A-4147-A177-3AD203B41FA5}">
                      <a16:colId xmlns:a16="http://schemas.microsoft.com/office/drawing/2014/main" val="3788359529"/>
                    </a:ext>
                  </a:extLst>
                </a:gridCol>
                <a:gridCol w="1517650">
                  <a:extLst>
                    <a:ext uri="{9D8B030D-6E8A-4147-A177-3AD203B41FA5}">
                      <a16:colId xmlns:a16="http://schemas.microsoft.com/office/drawing/2014/main" val="2031927559"/>
                    </a:ext>
                  </a:extLst>
                </a:gridCol>
              </a:tblGrid>
              <a:tr h="405198">
                <a:tc>
                  <a:txBody>
                    <a:bodyPr/>
                    <a:lstStyle/>
                    <a:p>
                      <a:pPr algn="ctr">
                        <a:lnSpc>
                          <a:spcPct val="100000"/>
                        </a:lnSpc>
                        <a:spcAft>
                          <a:spcPts val="0"/>
                        </a:spcAft>
                        <a:buNone/>
                      </a:pPr>
                      <a:r>
                        <a:rPr lang="en-US" sz="1100" b="1" dirty="0">
                          <a:solidFill>
                            <a:srgbClr val="000000"/>
                          </a:solidFill>
                          <a:effectLst/>
                          <a:latin typeface="+mn-lt"/>
                          <a:ea typeface="Times New Roman" panose="02020603050405020304" pitchFamily="18" charset="0"/>
                          <a:cs typeface="Times New Roman" panose="02020603050405020304" pitchFamily="18" charset="0"/>
                        </a:rPr>
                        <a:t>Significant effects</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dirty="0">
                          <a:solidFill>
                            <a:srgbClr val="000000"/>
                          </a:solidFill>
                          <a:effectLst/>
                          <a:latin typeface="+mn-lt"/>
                          <a:ea typeface="Times New Roman" panose="02020603050405020304" pitchFamily="18" charset="0"/>
                          <a:cs typeface="Times New Roman" panose="02020603050405020304" pitchFamily="18" charset="0"/>
                        </a:rPr>
                        <a:t>mean PMET</a:t>
                      </a:r>
                      <a:endParaRPr lang="en-US" sz="1100" i="0" baseline="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1100" b="1" i="0" dirty="0">
                          <a:solidFill>
                            <a:srgbClr val="000000"/>
                          </a:solidFill>
                          <a:effectLst/>
                          <a:latin typeface="+mn-lt"/>
                          <a:ea typeface="Times New Roman" panose="02020603050405020304" pitchFamily="18" charset="0"/>
                          <a:cs typeface="Times New Roman" panose="02020603050405020304" pitchFamily="18" charset="0"/>
                        </a:rPr>
                        <a:t>mean MET</a:t>
                      </a:r>
                      <a:endParaRPr lang="en-US" sz="1100" i="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5929332"/>
                  </a:ext>
                </a:extLst>
              </a:tr>
              <a:tr h="342900">
                <a:tc>
                  <a:txBody>
                    <a:bodyPr/>
                    <a:lstStyle/>
                    <a:p>
                      <a:pPr algn="ctr">
                        <a:lnSpc>
                          <a:spcPct val="100000"/>
                        </a:lnSpc>
                        <a:spcAft>
                          <a:spcPts val="0"/>
                        </a:spcAft>
                        <a:buNone/>
                      </a:pPr>
                      <a:r>
                        <a:rPr lang="en-US" sz="11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.01,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15.19</a:t>
                      </a: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tc>
                  <a:txBody>
                    <a:bodyPr/>
                    <a:lstStyle/>
                    <a:p>
                      <a:pPr algn="ctr">
                        <a:lnSpc>
                          <a:spcPct val="100000"/>
                        </a:lnSpc>
                        <a:spcAft>
                          <a:spcPts val="0"/>
                        </a:spcAft>
                        <a:buNone/>
                      </a:pPr>
                      <a:r>
                        <a:rPr lang="en-US" sz="1100" dirty="0">
                          <a:effectLst/>
                          <a:latin typeface="+mn-lt"/>
                          <a:ea typeface="Times New Roman" panose="02020603050405020304" pitchFamily="18" charset="0"/>
                          <a:cs typeface="Times New Roman" panose="02020603050405020304" pitchFamily="18" charset="0"/>
                        </a:rPr>
                        <a:t>–</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79771648"/>
                  </a:ext>
                </a:extLst>
              </a:tr>
              <a:tr h="3581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effectLst/>
                          <a:latin typeface="+mn-lt"/>
                          <a:ea typeface="Times New Roman" panose="02020603050405020304" pitchFamily="18" charset="0"/>
                          <a:cs typeface="Times New Roman" panose="02020603050405020304" pitchFamily="18" charset="0"/>
                        </a:rPr>
                        <a:t>trial value</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.012,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4.56</a:t>
                      </a:r>
                    </a:p>
                  </a:txBody>
                  <a:tcPr marL="68580" marR="68580" marT="0" marB="0"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 .015,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2.34</a:t>
                      </a:r>
                    </a:p>
                  </a:txBody>
                  <a:tcPr marL="68580" marR="68580" marT="0" marB="0" anchor="ctr">
                    <a:lnL>
                      <a:noFill/>
                    </a:lnL>
                    <a:lnR>
                      <a:noFill/>
                    </a:lnR>
                    <a:lnT>
                      <a:noFill/>
                    </a:lnT>
                    <a:lnB>
                      <a:noFill/>
                    </a:lnB>
                    <a:noFill/>
                  </a:tcPr>
                </a:tc>
                <a:extLst>
                  <a:ext uri="{0D108BD9-81ED-4DB2-BD59-A6C34878D82A}">
                    <a16:rowId xmlns:a16="http://schemas.microsoft.com/office/drawing/2014/main" val="1034444815"/>
                  </a:ext>
                </a:extLst>
              </a:tr>
              <a:tr h="358140">
                <a:tc>
                  <a:txBody>
                    <a:bodyPr/>
                    <a:lstStyle/>
                    <a:p>
                      <a:pPr algn="ctr">
                        <a:lnSpc>
                          <a:spcPct val="100000"/>
                        </a:lnSpc>
                        <a:spcAft>
                          <a:spcPts val="0"/>
                        </a:spcAft>
                        <a:buNone/>
                      </a:pPr>
                      <a:r>
                        <a:rPr lang="en-US" sz="1100" dirty="0">
                          <a:effectLst/>
                          <a:latin typeface="+mn-lt"/>
                          <a:ea typeface="Calibri" panose="020F0502020204030204" pitchFamily="34" charset="0"/>
                          <a:cs typeface="Times New Roman" panose="02020603050405020304" pitchFamily="18" charset="0"/>
                        </a:rPr>
                        <a:t>reward-onset</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dirty="0">
                          <a:solidFill>
                            <a:srgbClr val="000000"/>
                          </a:solidFill>
                          <a:effectLst/>
                          <a:latin typeface="+mn-lt"/>
                          <a:ea typeface="Times New Roman" panose="02020603050405020304" pitchFamily="18" charset="0"/>
                          <a:cs typeface="Times New Roman" panose="02020603050405020304" pitchFamily="18" charset="0"/>
                        </a:rPr>
                        <a:t>p</a:t>
                      </a:r>
                      <a:r>
                        <a:rPr lang="en-US" sz="1100" dirty="0">
                          <a:solidFill>
                            <a:srgbClr val="000000"/>
                          </a:solidFill>
                          <a:effectLst/>
                          <a:latin typeface="+mn-lt"/>
                          <a:ea typeface="Times New Roman" panose="02020603050405020304" pitchFamily="18" charset="0"/>
                          <a:cs typeface="Times New Roman" panose="02020603050405020304" pitchFamily="18" charset="0"/>
                        </a:rPr>
                        <a:t> &lt; .001, </a:t>
                      </a:r>
                      <a:r>
                        <a:rPr lang="en-US" sz="1100" i="1" dirty="0">
                          <a:effectLst/>
                          <a:latin typeface="+mn-lt"/>
                          <a:ea typeface="Calibri" panose="020F0502020204030204" pitchFamily="34" charset="0"/>
                          <a:cs typeface="Times New Roman" panose="02020603050405020304" pitchFamily="18" charset="0"/>
                        </a:rPr>
                        <a:t>BF</a:t>
                      </a:r>
                      <a:r>
                        <a:rPr lang="en-US" sz="1100" i="1" baseline="-25000" dirty="0">
                          <a:effectLst/>
                          <a:latin typeface="+mn-lt"/>
                          <a:ea typeface="Calibri" panose="020F0502020204030204" pitchFamily="34" charset="0"/>
                          <a:cs typeface="Times New Roman" panose="02020603050405020304" pitchFamily="18" charset="0"/>
                        </a:rPr>
                        <a:t>incl</a:t>
                      </a:r>
                      <a:r>
                        <a:rPr lang="en-US" sz="1100" dirty="0">
                          <a:effectLst/>
                          <a:latin typeface="+mn-lt"/>
                          <a:ea typeface="Calibri" panose="020F0502020204030204" pitchFamily="34" charset="0"/>
                          <a:cs typeface="Times New Roman" panose="02020603050405020304" pitchFamily="18" charset="0"/>
                        </a:rPr>
                        <a:t> = 1492</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1100" dirty="0">
                          <a:effectLst/>
                          <a:latin typeface="+mn-lt"/>
                          <a:ea typeface="Times New Roman" panose="02020603050405020304" pitchFamily="18" charset="0"/>
                          <a:cs typeface="Times New Roman" panose="02020603050405020304" pitchFamily="18" charset="0"/>
                        </a:rPr>
                        <a:t>–</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1683709"/>
                  </a:ext>
                </a:extLst>
              </a:tr>
              <a:tr h="360237">
                <a:tc gridSpan="3">
                  <a:txBody>
                    <a:bodyPr/>
                    <a:lstStyle/>
                    <a:p>
                      <a:pPr algn="l">
                        <a:lnSpc>
                          <a:spcPct val="100000"/>
                        </a:lnSpc>
                        <a:spcAft>
                          <a:spcPts val="0"/>
                        </a:spcAft>
                        <a:buNone/>
                      </a:pPr>
                      <a:r>
                        <a:rPr lang="en-US" sz="1000" i="1" dirty="0">
                          <a:effectLst/>
                          <a:latin typeface="Times New Roman" panose="02020603050405020304" pitchFamily="18" charset="0"/>
                          <a:ea typeface="Calibri" panose="020F0502020204030204" pitchFamily="34" charset="0"/>
                          <a:cs typeface="Times New Roman" panose="02020603050405020304" pitchFamily="18" charset="0"/>
                        </a:rPr>
                        <a:t>Note</a:t>
                      </a: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 (B)RM ANOVA with coherence level, trial value and reward onset timing as factor. </a:t>
                      </a:r>
                      <a:endParaRPr lang="en-US" sz="10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hMerge="1">
                  <a:txBody>
                    <a:bodyPr/>
                    <a:lstStyle/>
                    <a:p>
                      <a:pPr algn="ctr">
                        <a:lnSpc>
                          <a:spcPct val="100000"/>
                        </a:lnSpc>
                        <a:spcAft>
                          <a:spcPts val="0"/>
                        </a:spcAft>
                        <a:buNone/>
                      </a:pPr>
                      <a:endParaRPr lang="en-US" sz="11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263278184"/>
                  </a:ext>
                </a:extLst>
              </a:tr>
            </a:tbl>
          </a:graphicData>
        </a:graphic>
      </p:graphicFrame>
      <p:pic>
        <p:nvPicPr>
          <p:cNvPr id="3" name="Picture 2">
            <a:extLst>
              <a:ext uri="{FF2B5EF4-FFF2-40B4-BE49-F238E27FC236}">
                <a16:creationId xmlns:a16="http://schemas.microsoft.com/office/drawing/2014/main" id="{3BACA191-F869-4B8F-2A36-425CC35C5F55}"/>
              </a:ext>
            </a:extLst>
          </p:cNvPr>
          <p:cNvPicPr>
            <a:picLocks noChangeAspect="1"/>
          </p:cNvPicPr>
          <p:nvPr/>
        </p:nvPicPr>
        <p:blipFill>
          <a:blip r:embed="rId4"/>
          <a:stretch>
            <a:fillRect/>
          </a:stretch>
        </p:blipFill>
        <p:spPr>
          <a:xfrm>
            <a:off x="1374001" y="1737397"/>
            <a:ext cx="4721999" cy="2340000"/>
          </a:xfrm>
          <a:prstGeom prst="rect">
            <a:avLst/>
          </a:prstGeom>
        </p:spPr>
      </p:pic>
      <p:pic>
        <p:nvPicPr>
          <p:cNvPr id="6" name="Picture 5">
            <a:extLst>
              <a:ext uri="{FF2B5EF4-FFF2-40B4-BE49-F238E27FC236}">
                <a16:creationId xmlns:a16="http://schemas.microsoft.com/office/drawing/2014/main" id="{88810D57-9A36-C7E9-6FFB-968C9E37D820}"/>
              </a:ext>
            </a:extLst>
          </p:cNvPr>
          <p:cNvPicPr>
            <a:picLocks noChangeAspect="1"/>
          </p:cNvPicPr>
          <p:nvPr/>
        </p:nvPicPr>
        <p:blipFill>
          <a:blip r:embed="rId5"/>
          <a:stretch>
            <a:fillRect/>
          </a:stretch>
        </p:blipFill>
        <p:spPr>
          <a:xfrm>
            <a:off x="1342251" y="4178999"/>
            <a:ext cx="4721999" cy="2340000"/>
          </a:xfrm>
          <a:prstGeom prst="rect">
            <a:avLst/>
          </a:prstGeom>
        </p:spPr>
      </p:pic>
    </p:spTree>
    <p:extLst>
      <p:ext uri="{BB962C8B-B14F-4D97-AF65-F5344CB8AC3E}">
        <p14:creationId xmlns:p14="http://schemas.microsoft.com/office/powerpoint/2010/main" val="972091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9" name="Table 8">
                <a:extLst>
                  <a:ext uri="{FF2B5EF4-FFF2-40B4-BE49-F238E27FC236}">
                    <a16:creationId xmlns:a16="http://schemas.microsoft.com/office/drawing/2014/main" id="{DDD68E8F-B720-0C8D-5F8C-6B3DFCCDEA7E}"/>
                  </a:ext>
                </a:extLst>
              </p:cNvPr>
              <p:cNvGraphicFramePr>
                <a:graphicFrameLocks noGrp="1"/>
              </p:cNvGraphicFramePr>
              <p:nvPr>
                <p:extLst>
                  <p:ext uri="{D42A27DB-BD31-4B8C-83A1-F6EECF244321}">
                    <p14:modId xmlns:p14="http://schemas.microsoft.com/office/powerpoint/2010/main" val="1992259469"/>
                  </p:ext>
                </p:extLst>
              </p:nvPr>
            </p:nvGraphicFramePr>
            <p:xfrm>
              <a:off x="548297" y="1982308"/>
              <a:ext cx="3544878" cy="3981651"/>
            </p:xfrm>
            <a:graphic>
              <a:graphicData uri="http://schemas.openxmlformats.org/drawingml/2006/table">
                <a:tbl>
                  <a:tblPr firstRow="1" firstCol="1" bandRow="1"/>
                  <a:tblGrid>
                    <a:gridCol w="809998">
                      <a:extLst>
                        <a:ext uri="{9D8B030D-6E8A-4147-A177-3AD203B41FA5}">
                          <a16:colId xmlns:a16="http://schemas.microsoft.com/office/drawing/2014/main" val="535311918"/>
                        </a:ext>
                      </a:extLst>
                    </a:gridCol>
                    <a:gridCol w="805712">
                      <a:extLst>
                        <a:ext uri="{9D8B030D-6E8A-4147-A177-3AD203B41FA5}">
                          <a16:colId xmlns:a16="http://schemas.microsoft.com/office/drawing/2014/main" val="2897159514"/>
                        </a:ext>
                      </a:extLst>
                    </a:gridCol>
                    <a:gridCol w="1184845">
                      <a:extLst>
                        <a:ext uri="{9D8B030D-6E8A-4147-A177-3AD203B41FA5}">
                          <a16:colId xmlns:a16="http://schemas.microsoft.com/office/drawing/2014/main" val="3788359529"/>
                        </a:ext>
                      </a:extLst>
                    </a:gridCol>
                    <a:gridCol w="744323">
                      <a:extLst>
                        <a:ext uri="{9D8B030D-6E8A-4147-A177-3AD203B41FA5}">
                          <a16:colId xmlns:a16="http://schemas.microsoft.com/office/drawing/2014/main" val="2031927559"/>
                        </a:ext>
                      </a:extLst>
                    </a:gridCol>
                  </a:tblGrid>
                  <a:tr h="611451">
                    <a:tc>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Dependent  variable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Significant effects</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dirty="0">
                              <a:solidFill>
                                <a:srgbClr val="000000"/>
                              </a:solidFill>
                              <a:effectLst/>
                              <a:latin typeface="+mn-lt"/>
                              <a:ea typeface="Times New Roman" panose="02020603050405020304" pitchFamily="18" charset="0"/>
                              <a:cs typeface="Times New Roman" panose="02020603050405020304" pitchFamily="18" charset="0"/>
                            </a:rPr>
                            <a:t>BF</a:t>
                          </a:r>
                          <a:r>
                            <a:rPr lang="en-US" sz="900" b="1" i="1" baseline="-25000" dirty="0">
                              <a:solidFill>
                                <a:srgbClr val="000000"/>
                              </a:solidFill>
                              <a:effectLst/>
                              <a:latin typeface="+mn-lt"/>
                              <a:ea typeface="Times New Roman" panose="02020603050405020304" pitchFamily="18" charset="0"/>
                              <a:cs typeface="Times New Roman" panose="02020603050405020304" pitchFamily="18" charset="0"/>
                            </a:rPr>
                            <a:t>incl  </a:t>
                          </a:r>
                          <a:r>
                            <a:rPr lang="en-US" sz="900" b="1" i="0" baseline="0" dirty="0">
                              <a:solidFill>
                                <a:srgbClr val="000000"/>
                              </a:solidFill>
                              <a:effectLst/>
                              <a:latin typeface="+mn-lt"/>
                              <a:ea typeface="Times New Roman" panose="02020603050405020304" pitchFamily="18" charset="0"/>
                              <a:cs typeface="Times New Roman" panose="02020603050405020304" pitchFamily="18" charset="0"/>
                            </a:rPr>
                            <a:t>and corresponding evidence</a:t>
                          </a:r>
                          <a:endParaRPr lang="en-US" sz="900" i="0" baseline="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900" b="1" i="1" dirty="0">
                              <a:solidFill>
                                <a:srgbClr val="000000"/>
                              </a:solidFill>
                              <a:effectLst/>
                              <a:latin typeface="+mn-lt"/>
                              <a:ea typeface="Times New Roman" panose="02020603050405020304" pitchFamily="18" charset="0"/>
                              <a:cs typeface="Times New Roman" panose="02020603050405020304" pitchFamily="18" charset="0"/>
                            </a:rPr>
                            <a:t>p</a:t>
                          </a:r>
                          <a:r>
                            <a:rPr lang="en-US" sz="900" b="1" dirty="0">
                              <a:solidFill>
                                <a:srgbClr val="000000"/>
                              </a:solidFill>
                              <a:effectLst/>
                              <a:latin typeface="+mn-lt"/>
                              <a:ea typeface="Times New Roman" panose="02020603050405020304" pitchFamily="18" charset="0"/>
                              <a:cs typeface="Times New Roman" panose="02020603050405020304" pitchFamily="18" charset="0"/>
                            </a:rPr>
                            <a:t>-value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5929332"/>
                      </a:ext>
                    </a:extLst>
                  </a:tr>
                  <a:tr h="421275">
                    <a:tc>
                      <a:txBody>
                        <a:bodyPr/>
                        <a:lstStyle/>
                        <a:p>
                          <a:pPr algn="ctr">
                            <a:lnSpc>
                              <a:spcPct val="100000"/>
                            </a:lnSpc>
                            <a:spcAft>
                              <a:spcPts val="0"/>
                            </a:spcAft>
                            <a:buNone/>
                          </a:pPr>
                          <a:r>
                            <a:rPr lang="en-US" sz="900" b="1">
                              <a:solidFill>
                                <a:srgbClr val="000000"/>
                              </a:solidFill>
                              <a:effectLst/>
                              <a:latin typeface="+mn-lt"/>
                              <a:ea typeface="Times New Roman" panose="02020603050405020304" pitchFamily="18" charset="0"/>
                              <a:cs typeface="Times New Roman" panose="02020603050405020304" pitchFamily="18" charset="0"/>
                            </a:rPr>
                            <a:t>Accuracy</a:t>
                          </a:r>
                          <a:endParaRPr lang="en-US" sz="90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1.54 </a:t>
                          </a:r>
                          <a14:m>
                            <m:oMath xmlns:m="http://schemas.openxmlformats.org/officeDocument/2006/math">
                              <m:r>
                                <a:rPr lang="en-US" sz="900" i="1" dirty="0"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900" dirty="0">
                              <a:effectLst/>
                              <a:latin typeface="+mn-lt"/>
                              <a:ea typeface="Calibri" panose="020F0502020204030204" pitchFamily="34" charset="0"/>
                              <a:cs typeface="Times New Roman" panose="02020603050405020304" pitchFamily="18" charset="0"/>
                            </a:rPr>
                            <a:t> 10</a:t>
                          </a:r>
                          <a:r>
                            <a:rPr lang="en-US" sz="900" baseline="30000" dirty="0">
                              <a:effectLst/>
                              <a:latin typeface="+mn-lt"/>
                              <a:ea typeface="Calibri" panose="020F0502020204030204" pitchFamily="34" charset="0"/>
                              <a:cs typeface="Times New Roman" panose="02020603050405020304" pitchFamily="18" charset="0"/>
                            </a:rPr>
                            <a:t>10</a:t>
                          </a:r>
                          <a:r>
                            <a:rPr lang="en-US" sz="900" dirty="0">
                              <a:effectLst/>
                              <a:latin typeface="+mn-lt"/>
                              <a:ea typeface="Calibri" panose="020F0502020204030204" pitchFamily="34" charset="0"/>
                              <a:cs typeface="Times New Roman" panose="02020603050405020304" pitchFamily="18" charset="0"/>
                            </a:rPr>
                            <a:t>, </a:t>
                          </a:r>
                        </a:p>
                        <a:p>
                          <a:pPr algn="ctr">
                            <a:lnSpc>
                              <a:spcPct val="100000"/>
                            </a:lnSpc>
                            <a:spcAft>
                              <a:spcPts val="0"/>
                            </a:spcAft>
                            <a:buNone/>
                          </a:pPr>
                          <a:r>
                            <a:rPr lang="en-US" sz="900" dirty="0">
                              <a:effectLst/>
                              <a:latin typeface="+mn-lt"/>
                              <a:ea typeface="Calibri" panose="020F0502020204030204" pitchFamily="34" charset="0"/>
                              <a:cs typeface="Times New Roman" panose="02020603050405020304" pitchFamily="18" charset="0"/>
                            </a:rPr>
                            <a:t>H1 decisive</a:t>
                          </a: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&lt; .001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9771648"/>
                      </a:ext>
                    </a:extLst>
                  </a:tr>
                  <a:tr h="421275">
                    <a:tc rowSpan="3">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Mean RT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lnSpc>
                              <a:spcPct val="100000"/>
                            </a:lnSpc>
                            <a:spcAft>
                              <a:spcPts val="0"/>
                            </a:spcAft>
                            <a:buNone/>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42.94, </a:t>
                          </a:r>
                        </a:p>
                        <a:p>
                          <a:pPr algn="ctr">
                            <a:lnSpc>
                              <a:spcPct val="100000"/>
                            </a:lnSpc>
                            <a:spcAft>
                              <a:spcPts val="0"/>
                            </a:spcAft>
                            <a:buNone/>
                          </a:pPr>
                          <a:r>
                            <a:rPr lang="en-US" sz="900" b="0" dirty="0">
                              <a:effectLst/>
                              <a:latin typeface="+mn-lt"/>
                              <a:ea typeface="Calibri" panose="020F0502020204030204" pitchFamily="34" charset="0"/>
                              <a:cs typeface="Times New Roman" panose="02020603050405020304" pitchFamily="18" charset="0"/>
                            </a:rPr>
                            <a:t>H1 very strong</a:t>
                          </a: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.005</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45481062"/>
                      </a:ext>
                    </a:extLst>
                  </a:tr>
                  <a:tr h="421275">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000000"/>
                              </a:solidFill>
                              <a:effectLst/>
                              <a:latin typeface="+mn-lt"/>
                              <a:ea typeface="Times New Roman" panose="02020603050405020304" pitchFamily="18" charset="0"/>
                              <a:cs typeface="Times New Roman" panose="02020603050405020304" pitchFamily="18" charset="0"/>
                            </a:rPr>
                            <a:t>value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7.24,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moderate</a:t>
                          </a:r>
                        </a:p>
                      </a:txBody>
                      <a:tcPr marL="68580" marR="68580" marT="0" marB="0" anchor="ctr">
                        <a:lnL>
                          <a:noFill/>
                        </a:lnL>
                        <a:lnR>
                          <a:noFill/>
                        </a:lnR>
                        <a:lnT>
                          <a:noFill/>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.007</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997252215"/>
                      </a:ext>
                    </a:extLst>
                  </a:tr>
                  <a:tr h="421275">
                    <a:tc vMerge="1">
                      <a:txBody>
                        <a:bodyPr/>
                        <a:lstStyle/>
                        <a:p>
                          <a:endParaRPr lang="en-US"/>
                        </a:p>
                      </a:txBody>
                      <a:tcPr/>
                    </a:tc>
                    <a:tc>
                      <a:txBody>
                        <a:bodyPr/>
                        <a:lstStyle/>
                        <a:p>
                          <a:pPr algn="ctr">
                            <a:lnSpc>
                              <a:spcPct val="100000"/>
                            </a:lnSpc>
                            <a:spcAft>
                              <a:spcPts val="0"/>
                            </a:spcAft>
                            <a:buNone/>
                          </a:pPr>
                          <a:r>
                            <a:rPr lang="en-US" sz="900" dirty="0">
                              <a:effectLst/>
                              <a:latin typeface="+mn-lt"/>
                              <a:ea typeface="Calibri" panose="020F0502020204030204" pitchFamily="34" charset="0"/>
                              <a:cs typeface="Times New Roman" panose="02020603050405020304" pitchFamily="18" charset="0"/>
                            </a:rPr>
                            <a:t>reward-onset</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3731,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decisive</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&lt; .001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610927"/>
                      </a:ext>
                    </a:extLst>
                  </a:tr>
                  <a:tr h="421275">
                    <a:tc rowSpan="3">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Mean PMET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15.19,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strong</a:t>
                          </a: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03763802"/>
                      </a:ext>
                    </a:extLst>
                  </a:tr>
                  <a:tr h="421275">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000000"/>
                              </a:solidFill>
                              <a:effectLst/>
                              <a:latin typeface="+mn-lt"/>
                              <a:ea typeface="Times New Roman" panose="02020603050405020304" pitchFamily="18" charset="0"/>
                              <a:cs typeface="Times New Roman" panose="02020603050405020304" pitchFamily="18" charset="0"/>
                            </a:rPr>
                            <a:t>value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4.56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moderate</a:t>
                          </a:r>
                        </a:p>
                      </a:txBody>
                      <a:tcPr marL="68580" marR="68580" marT="0" marB="0" anchor="ctr">
                        <a:lnL>
                          <a:noFill/>
                        </a:lnL>
                        <a:lnR>
                          <a:noFill/>
                        </a:lnR>
                        <a:lnT>
                          <a:noFill/>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.012</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273485988"/>
                      </a:ext>
                    </a:extLst>
                  </a:tr>
                  <a:tr h="421275">
                    <a:tc vMerge="1">
                      <a:txBody>
                        <a:bodyPr/>
                        <a:lstStyle/>
                        <a:p>
                          <a:endParaRPr lang="en-US"/>
                        </a:p>
                      </a:txBody>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reward-onset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1492,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decisive</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&lt; .001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3813066"/>
                      </a:ext>
                    </a:extLst>
                  </a:tr>
                  <a:tr h="421275">
                    <a:tc>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Mean MET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900" dirty="0">
                              <a:effectLst/>
                              <a:latin typeface="+mn-lt"/>
                              <a:ea typeface="Calibri" panose="020F0502020204030204" pitchFamily="34" charset="0"/>
                              <a:cs typeface="Times New Roman" panose="02020603050405020304" pitchFamily="18" charset="0"/>
                            </a:rPr>
                            <a:t>value</a:t>
                          </a: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2.34,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mn-lt"/>
                              <a:ea typeface="Calibri" panose="020F0502020204030204" pitchFamily="34" charset="0"/>
                              <a:cs typeface="Times New Roman" panose="02020603050405020304" pitchFamily="18" charset="0"/>
                            </a:rPr>
                            <a:t>H1 anecdotal</a:t>
                          </a: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.015</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183318"/>
                      </a:ext>
                    </a:extLst>
                  </a:tr>
                </a:tbl>
              </a:graphicData>
            </a:graphic>
          </p:graphicFrame>
        </mc:Choice>
        <mc:Fallback>
          <p:graphicFrame>
            <p:nvGraphicFramePr>
              <p:cNvPr id="9" name="Table 8">
                <a:extLst>
                  <a:ext uri="{FF2B5EF4-FFF2-40B4-BE49-F238E27FC236}">
                    <a16:creationId xmlns:a16="http://schemas.microsoft.com/office/drawing/2014/main" id="{DDD68E8F-B720-0C8D-5F8C-6B3DFCCDEA7E}"/>
                  </a:ext>
                </a:extLst>
              </p:cNvPr>
              <p:cNvGraphicFramePr>
                <a:graphicFrameLocks noGrp="1"/>
              </p:cNvGraphicFramePr>
              <p:nvPr>
                <p:extLst>
                  <p:ext uri="{D42A27DB-BD31-4B8C-83A1-F6EECF244321}">
                    <p14:modId xmlns:p14="http://schemas.microsoft.com/office/powerpoint/2010/main" val="1992259469"/>
                  </p:ext>
                </p:extLst>
              </p:nvPr>
            </p:nvGraphicFramePr>
            <p:xfrm>
              <a:off x="548297" y="1982308"/>
              <a:ext cx="3544878" cy="3981651"/>
            </p:xfrm>
            <a:graphic>
              <a:graphicData uri="http://schemas.openxmlformats.org/drawingml/2006/table">
                <a:tbl>
                  <a:tblPr firstRow="1" firstCol="1" bandRow="1"/>
                  <a:tblGrid>
                    <a:gridCol w="809998">
                      <a:extLst>
                        <a:ext uri="{9D8B030D-6E8A-4147-A177-3AD203B41FA5}">
                          <a16:colId xmlns:a16="http://schemas.microsoft.com/office/drawing/2014/main" val="535311918"/>
                        </a:ext>
                      </a:extLst>
                    </a:gridCol>
                    <a:gridCol w="805712">
                      <a:extLst>
                        <a:ext uri="{9D8B030D-6E8A-4147-A177-3AD203B41FA5}">
                          <a16:colId xmlns:a16="http://schemas.microsoft.com/office/drawing/2014/main" val="2897159514"/>
                        </a:ext>
                      </a:extLst>
                    </a:gridCol>
                    <a:gridCol w="1184845">
                      <a:extLst>
                        <a:ext uri="{9D8B030D-6E8A-4147-A177-3AD203B41FA5}">
                          <a16:colId xmlns:a16="http://schemas.microsoft.com/office/drawing/2014/main" val="3788359529"/>
                        </a:ext>
                      </a:extLst>
                    </a:gridCol>
                    <a:gridCol w="744323">
                      <a:extLst>
                        <a:ext uri="{9D8B030D-6E8A-4147-A177-3AD203B41FA5}">
                          <a16:colId xmlns:a16="http://schemas.microsoft.com/office/drawing/2014/main" val="2031927559"/>
                        </a:ext>
                      </a:extLst>
                    </a:gridCol>
                  </a:tblGrid>
                  <a:tr h="611451">
                    <a:tc>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Dependent  variable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Significant effects</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1" dirty="0">
                              <a:solidFill>
                                <a:srgbClr val="000000"/>
                              </a:solidFill>
                              <a:effectLst/>
                              <a:latin typeface="+mn-lt"/>
                              <a:ea typeface="Times New Roman" panose="02020603050405020304" pitchFamily="18" charset="0"/>
                              <a:cs typeface="Times New Roman" panose="02020603050405020304" pitchFamily="18" charset="0"/>
                            </a:rPr>
                            <a:t>BF</a:t>
                          </a:r>
                          <a:r>
                            <a:rPr lang="en-US" sz="900" b="1" i="1" baseline="-25000" dirty="0">
                              <a:solidFill>
                                <a:srgbClr val="000000"/>
                              </a:solidFill>
                              <a:effectLst/>
                              <a:latin typeface="+mn-lt"/>
                              <a:ea typeface="Times New Roman" panose="02020603050405020304" pitchFamily="18" charset="0"/>
                              <a:cs typeface="Times New Roman" panose="02020603050405020304" pitchFamily="18" charset="0"/>
                            </a:rPr>
                            <a:t>incl  </a:t>
                          </a:r>
                          <a:r>
                            <a:rPr lang="en-US" sz="900" b="1" i="0" baseline="0" dirty="0">
                              <a:solidFill>
                                <a:srgbClr val="000000"/>
                              </a:solidFill>
                              <a:effectLst/>
                              <a:latin typeface="+mn-lt"/>
                              <a:ea typeface="Times New Roman" panose="02020603050405020304" pitchFamily="18" charset="0"/>
                              <a:cs typeface="Times New Roman" panose="02020603050405020304" pitchFamily="18" charset="0"/>
                            </a:rPr>
                            <a:t>and corresponding evidence</a:t>
                          </a:r>
                          <a:endParaRPr lang="en-US" sz="900" i="0" baseline="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900" b="1" i="1" dirty="0">
                              <a:solidFill>
                                <a:srgbClr val="000000"/>
                              </a:solidFill>
                              <a:effectLst/>
                              <a:latin typeface="+mn-lt"/>
                              <a:ea typeface="Times New Roman" panose="02020603050405020304" pitchFamily="18" charset="0"/>
                              <a:cs typeface="Times New Roman" panose="02020603050405020304" pitchFamily="18" charset="0"/>
                            </a:rPr>
                            <a:t>p</a:t>
                          </a:r>
                          <a:r>
                            <a:rPr lang="en-US" sz="900" b="1" dirty="0">
                              <a:solidFill>
                                <a:srgbClr val="000000"/>
                              </a:solidFill>
                              <a:effectLst/>
                              <a:latin typeface="+mn-lt"/>
                              <a:ea typeface="Times New Roman" panose="02020603050405020304" pitchFamily="18" charset="0"/>
                              <a:cs typeface="Times New Roman" panose="02020603050405020304" pitchFamily="18" charset="0"/>
                            </a:rPr>
                            <a:t>-value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5929332"/>
                      </a:ext>
                    </a:extLst>
                  </a:tr>
                  <a:tr h="421275">
                    <a:tc>
                      <a:txBody>
                        <a:bodyPr/>
                        <a:lstStyle/>
                        <a:p>
                          <a:pPr algn="ctr">
                            <a:lnSpc>
                              <a:spcPct val="100000"/>
                            </a:lnSpc>
                            <a:spcAft>
                              <a:spcPts val="0"/>
                            </a:spcAft>
                            <a:buNone/>
                          </a:pPr>
                          <a:r>
                            <a:rPr lang="en-US" sz="900" b="1">
                              <a:solidFill>
                                <a:srgbClr val="000000"/>
                              </a:solidFill>
                              <a:effectLst/>
                              <a:latin typeface="+mn-lt"/>
                              <a:ea typeface="Times New Roman" panose="02020603050405020304" pitchFamily="18" charset="0"/>
                              <a:cs typeface="Times New Roman" panose="02020603050405020304" pitchFamily="18" charset="0"/>
                            </a:rPr>
                            <a:t>Accuracy</a:t>
                          </a:r>
                          <a:endParaRPr lang="en-US" sz="90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6410" t="-142857" r="-63590" b="-692857"/>
                          </a:stretch>
                        </a:blip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&lt; .001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9771648"/>
                      </a:ext>
                    </a:extLst>
                  </a:tr>
                  <a:tr h="421275">
                    <a:tc rowSpan="3">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Mean RT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lnSpc>
                              <a:spcPct val="100000"/>
                            </a:lnSpc>
                            <a:spcAft>
                              <a:spcPts val="0"/>
                            </a:spcAft>
                            <a:buNone/>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42.94, </a:t>
                          </a:r>
                        </a:p>
                        <a:p>
                          <a:pPr algn="ctr">
                            <a:lnSpc>
                              <a:spcPct val="100000"/>
                            </a:lnSpc>
                            <a:spcAft>
                              <a:spcPts val="0"/>
                            </a:spcAft>
                            <a:buNone/>
                          </a:pPr>
                          <a:r>
                            <a:rPr lang="en-US" sz="900" b="0" dirty="0">
                              <a:effectLst/>
                              <a:latin typeface="+mn-lt"/>
                              <a:ea typeface="Calibri" panose="020F0502020204030204" pitchFamily="34" charset="0"/>
                              <a:cs typeface="Times New Roman" panose="02020603050405020304" pitchFamily="18" charset="0"/>
                            </a:rPr>
                            <a:t>H1 very strong</a:t>
                          </a: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.005</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45481062"/>
                      </a:ext>
                    </a:extLst>
                  </a:tr>
                  <a:tr h="421275">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000000"/>
                              </a:solidFill>
                              <a:effectLst/>
                              <a:latin typeface="+mn-lt"/>
                              <a:ea typeface="Times New Roman" panose="02020603050405020304" pitchFamily="18" charset="0"/>
                              <a:cs typeface="Times New Roman" panose="02020603050405020304" pitchFamily="18" charset="0"/>
                            </a:rPr>
                            <a:t>value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7.24,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moderate</a:t>
                          </a:r>
                        </a:p>
                      </a:txBody>
                      <a:tcPr marL="68580" marR="68580" marT="0" marB="0" anchor="ctr">
                        <a:lnL>
                          <a:noFill/>
                        </a:lnL>
                        <a:lnR>
                          <a:noFill/>
                        </a:lnR>
                        <a:lnT>
                          <a:noFill/>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.007</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997252215"/>
                      </a:ext>
                    </a:extLst>
                  </a:tr>
                  <a:tr h="421275">
                    <a:tc vMerge="1">
                      <a:txBody>
                        <a:bodyPr/>
                        <a:lstStyle/>
                        <a:p>
                          <a:endParaRPr lang="en-US"/>
                        </a:p>
                      </a:txBody>
                      <a:tcPr/>
                    </a:tc>
                    <a:tc>
                      <a:txBody>
                        <a:bodyPr/>
                        <a:lstStyle/>
                        <a:p>
                          <a:pPr algn="ctr">
                            <a:lnSpc>
                              <a:spcPct val="100000"/>
                            </a:lnSpc>
                            <a:spcAft>
                              <a:spcPts val="0"/>
                            </a:spcAft>
                            <a:buNone/>
                          </a:pPr>
                          <a:r>
                            <a:rPr lang="en-US" sz="900" dirty="0">
                              <a:effectLst/>
                              <a:latin typeface="+mn-lt"/>
                              <a:ea typeface="Calibri" panose="020F0502020204030204" pitchFamily="34" charset="0"/>
                              <a:cs typeface="Times New Roman" panose="02020603050405020304" pitchFamily="18" charset="0"/>
                            </a:rPr>
                            <a:t>reward-onset</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3731,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decisive</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&lt; .001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610927"/>
                      </a:ext>
                    </a:extLst>
                  </a:tr>
                  <a:tr h="421275">
                    <a:tc rowSpan="3">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Mean PMET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coherence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15.19,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strong</a:t>
                          </a: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03763802"/>
                      </a:ext>
                    </a:extLst>
                  </a:tr>
                  <a:tr h="421275">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000000"/>
                              </a:solidFill>
                              <a:effectLst/>
                              <a:latin typeface="+mn-lt"/>
                              <a:ea typeface="Times New Roman" panose="02020603050405020304" pitchFamily="18" charset="0"/>
                              <a:cs typeface="Times New Roman" panose="02020603050405020304" pitchFamily="18" charset="0"/>
                            </a:rPr>
                            <a:t>value</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4.56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moderate</a:t>
                          </a:r>
                        </a:p>
                      </a:txBody>
                      <a:tcPr marL="68580" marR="68580" marT="0" marB="0" anchor="ctr">
                        <a:lnL>
                          <a:noFill/>
                        </a:lnL>
                        <a:lnR>
                          <a:noFill/>
                        </a:lnR>
                        <a:lnT>
                          <a:noFill/>
                        </a:lnT>
                        <a:lnB>
                          <a:noFill/>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.012</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noFill/>
                      </a:tcPr>
                    </a:tc>
                    <a:extLst>
                      <a:ext uri="{0D108BD9-81ED-4DB2-BD59-A6C34878D82A}">
                        <a16:rowId xmlns:a16="http://schemas.microsoft.com/office/drawing/2014/main" val="1273485988"/>
                      </a:ext>
                    </a:extLst>
                  </a:tr>
                  <a:tr h="421275">
                    <a:tc vMerge="1">
                      <a:txBody>
                        <a:bodyPr/>
                        <a:lstStyle/>
                        <a:p>
                          <a:endParaRPr lang="en-US"/>
                        </a:p>
                      </a:txBody>
                      <a:tcPr/>
                    </a:tc>
                    <a:tc>
                      <a:txBody>
                        <a:bodyPr/>
                        <a:lstStyle/>
                        <a:p>
                          <a:pPr algn="ctr">
                            <a:lnSpc>
                              <a:spcPct val="100000"/>
                            </a:lnSpc>
                            <a:spcAft>
                              <a:spcPts val="0"/>
                            </a:spcAft>
                            <a:buNone/>
                          </a:pPr>
                          <a:r>
                            <a:rPr lang="en-US" sz="900" dirty="0">
                              <a:solidFill>
                                <a:srgbClr val="000000"/>
                              </a:solidFill>
                              <a:effectLst/>
                              <a:latin typeface="+mn-lt"/>
                              <a:ea typeface="Times New Roman" panose="02020603050405020304" pitchFamily="18" charset="0"/>
                              <a:cs typeface="Times New Roman" panose="02020603050405020304" pitchFamily="18" charset="0"/>
                            </a:rPr>
                            <a:t>reward-onset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1492,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dirty="0">
                              <a:effectLst/>
                              <a:latin typeface="+mn-lt"/>
                              <a:ea typeface="Calibri" panose="020F0502020204030204" pitchFamily="34" charset="0"/>
                              <a:cs typeface="Times New Roman" panose="02020603050405020304" pitchFamily="18" charset="0"/>
                            </a:rPr>
                            <a:t>H1 decisive</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&lt; .001</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3813066"/>
                      </a:ext>
                    </a:extLst>
                  </a:tr>
                  <a:tr h="421275">
                    <a:tc>
                      <a:txBody>
                        <a:bodyPr/>
                        <a:lstStyle/>
                        <a:p>
                          <a:pPr algn="ctr">
                            <a:lnSpc>
                              <a:spcPct val="100000"/>
                            </a:lnSpc>
                            <a:spcAft>
                              <a:spcPts val="0"/>
                            </a:spcAft>
                            <a:buNone/>
                          </a:pPr>
                          <a:r>
                            <a:rPr lang="en-US" sz="900" b="1" dirty="0">
                              <a:solidFill>
                                <a:srgbClr val="000000"/>
                              </a:solidFill>
                              <a:effectLst/>
                              <a:latin typeface="+mn-lt"/>
                              <a:ea typeface="Times New Roman" panose="02020603050405020304" pitchFamily="18" charset="0"/>
                              <a:cs typeface="Times New Roman" panose="02020603050405020304" pitchFamily="18" charset="0"/>
                            </a:rPr>
                            <a:t>Mean MET</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buNone/>
                          </a:pPr>
                          <a:r>
                            <a:rPr lang="en-US" sz="900" dirty="0">
                              <a:effectLst/>
                              <a:latin typeface="+mn-lt"/>
                              <a:ea typeface="Calibri" panose="020F0502020204030204" pitchFamily="34" charset="0"/>
                              <a:cs typeface="Times New Roman" panose="02020603050405020304" pitchFamily="18" charset="0"/>
                            </a:rPr>
                            <a:t>value</a:t>
                          </a: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mn-lt"/>
                              <a:ea typeface="Calibri" panose="020F0502020204030204" pitchFamily="34" charset="0"/>
                              <a:cs typeface="Times New Roman" panose="02020603050405020304" pitchFamily="18" charset="0"/>
                            </a:rPr>
                            <a:t>BF</a:t>
                          </a:r>
                          <a:r>
                            <a:rPr lang="en-US" sz="900" dirty="0">
                              <a:effectLst/>
                              <a:latin typeface="+mn-lt"/>
                              <a:ea typeface="Calibri" panose="020F0502020204030204" pitchFamily="34" charset="0"/>
                              <a:cs typeface="Times New Roman" panose="02020603050405020304" pitchFamily="18" charset="0"/>
                            </a:rPr>
                            <a:t> = 2.34,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mn-lt"/>
                              <a:ea typeface="Calibri" panose="020F0502020204030204" pitchFamily="34" charset="0"/>
                              <a:cs typeface="Times New Roman" panose="02020603050405020304" pitchFamily="18" charset="0"/>
                            </a:rPr>
                            <a:t>H1 anecdotal</a:t>
                          </a: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mn-lt"/>
                              <a:ea typeface="Times New Roman" panose="02020603050405020304" pitchFamily="18" charset="0"/>
                              <a:cs typeface="Times New Roman" panose="02020603050405020304" pitchFamily="18" charset="0"/>
                            </a:rPr>
                            <a:t>p</a:t>
                          </a:r>
                          <a:r>
                            <a:rPr lang="en-US" sz="900" dirty="0">
                              <a:solidFill>
                                <a:srgbClr val="000000"/>
                              </a:solidFill>
                              <a:effectLst/>
                              <a:latin typeface="+mn-lt"/>
                              <a:ea typeface="Times New Roman" panose="02020603050405020304" pitchFamily="18" charset="0"/>
                              <a:cs typeface="Times New Roman" panose="02020603050405020304" pitchFamily="18" charset="0"/>
                            </a:rPr>
                            <a:t> = .015</a:t>
                          </a:r>
                          <a:endParaRPr lang="en-US" sz="900" dirty="0">
                            <a:effectLst/>
                            <a:latin typeface="+mn-lt"/>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183318"/>
                      </a:ext>
                    </a:extLst>
                  </a:tr>
                </a:tbl>
              </a:graphicData>
            </a:graphic>
          </p:graphicFrame>
        </mc:Fallback>
      </mc:AlternateContent>
      <p:sp>
        <p:nvSpPr>
          <p:cNvPr id="3" name="TextBox 2">
            <a:extLst>
              <a:ext uri="{FF2B5EF4-FFF2-40B4-BE49-F238E27FC236}">
                <a16:creationId xmlns:a16="http://schemas.microsoft.com/office/drawing/2014/main" id="{8B672CB5-C5A5-C9E7-E061-BD3E93FCBF68}"/>
              </a:ext>
            </a:extLst>
          </p:cNvPr>
          <p:cNvSpPr txBox="1"/>
          <p:nvPr/>
        </p:nvSpPr>
        <p:spPr>
          <a:xfrm>
            <a:off x="505049" y="841340"/>
            <a:ext cx="3631375" cy="956672"/>
          </a:xfrm>
          <a:prstGeom prst="rect">
            <a:avLst/>
          </a:prstGeom>
          <a:noFill/>
        </p:spPr>
        <p:txBody>
          <a:bodyPr wrap="square">
            <a:spAutoFit/>
          </a:bodyPr>
          <a:lstStyle/>
          <a:p>
            <a:pPr>
              <a:lnSpc>
                <a:spcPct val="150000"/>
              </a:lnSpc>
              <a:spcBef>
                <a:spcPts val="1200"/>
              </a:spcBef>
              <a:spcAft>
                <a:spcPts val="800"/>
              </a:spcAft>
              <a:buNone/>
            </a:pPr>
            <a:r>
              <a:rPr lang="en-US" sz="1100" b="1" dirty="0">
                <a:effectLst/>
                <a:latin typeface="Times New Roman" panose="02020603050405020304" pitchFamily="18" charset="0"/>
                <a:ea typeface="Calibri" panose="020F0502020204030204" pitchFamily="34" charset="0"/>
              </a:rPr>
              <a:t>Table 1</a:t>
            </a:r>
            <a:endParaRPr lang="en-US" sz="1100" dirty="0">
              <a:effectLst/>
              <a:latin typeface="Times New Roman" panose="02020603050405020304" pitchFamily="18" charset="0"/>
              <a:ea typeface="Calibri" panose="020F0502020204030204" pitchFamily="34" charset="0"/>
            </a:endParaRPr>
          </a:p>
          <a:p>
            <a:pPr>
              <a:spcAft>
                <a:spcPts val="800"/>
              </a:spcAft>
              <a:buNone/>
            </a:pPr>
            <a:r>
              <a:rPr lang="en-US" sz="1100" i="1" dirty="0">
                <a:effectLst/>
                <a:latin typeface="Times New Roman" panose="02020603050405020304" pitchFamily="18" charset="0"/>
                <a:ea typeface="Calibri" panose="020F0502020204030204" pitchFamily="34" charset="0"/>
              </a:rPr>
              <a:t>Significant effects from the ANOVAs on response accuracy, mean response time (RT), mean pre-motor execution time (PMET), and mean motor execution time (MET)</a:t>
            </a:r>
            <a:endParaRPr lang="en-US" sz="1100" dirty="0">
              <a:effectLst/>
              <a:latin typeface="Times New Roman" panose="02020603050405020304" pitchFamily="18" charset="0"/>
              <a:ea typeface="Calibri" panose="020F0502020204030204" pitchFamily="34" charset="0"/>
            </a:endParaRPr>
          </a:p>
        </p:txBody>
      </p:sp>
      <p:pic>
        <p:nvPicPr>
          <p:cNvPr id="4" name="Picture 3">
            <a:extLst>
              <a:ext uri="{FF2B5EF4-FFF2-40B4-BE49-F238E27FC236}">
                <a16:creationId xmlns:a16="http://schemas.microsoft.com/office/drawing/2014/main" id="{47BB93A8-9E40-72B1-EDBC-85C18275CD34}"/>
              </a:ext>
            </a:extLst>
          </p:cNvPr>
          <p:cNvPicPr>
            <a:picLocks noChangeAspect="1"/>
          </p:cNvPicPr>
          <p:nvPr/>
        </p:nvPicPr>
        <p:blipFill>
          <a:blip r:embed="rId3"/>
          <a:stretch>
            <a:fillRect/>
          </a:stretch>
        </p:blipFill>
        <p:spPr>
          <a:xfrm>
            <a:off x="4916629" y="2577773"/>
            <a:ext cx="6963692" cy="1656000"/>
          </a:xfrm>
          <a:prstGeom prst="rect">
            <a:avLst/>
          </a:prstGeom>
        </p:spPr>
      </p:pic>
      <p:pic>
        <p:nvPicPr>
          <p:cNvPr id="6" name="Picture 5">
            <a:extLst>
              <a:ext uri="{FF2B5EF4-FFF2-40B4-BE49-F238E27FC236}">
                <a16:creationId xmlns:a16="http://schemas.microsoft.com/office/drawing/2014/main" id="{94D89A3B-74EE-B02A-1A8B-A7F6D8B58DB4}"/>
              </a:ext>
            </a:extLst>
          </p:cNvPr>
          <p:cNvPicPr>
            <a:picLocks noChangeAspect="1"/>
          </p:cNvPicPr>
          <p:nvPr/>
        </p:nvPicPr>
        <p:blipFill>
          <a:blip r:embed="rId4"/>
          <a:stretch>
            <a:fillRect/>
          </a:stretch>
        </p:blipFill>
        <p:spPr>
          <a:xfrm>
            <a:off x="4916627" y="4509165"/>
            <a:ext cx="6963693" cy="1656000"/>
          </a:xfrm>
          <a:prstGeom prst="rect">
            <a:avLst/>
          </a:prstGeom>
        </p:spPr>
      </p:pic>
      <p:pic>
        <p:nvPicPr>
          <p:cNvPr id="22" name="Picture 21">
            <a:extLst>
              <a:ext uri="{FF2B5EF4-FFF2-40B4-BE49-F238E27FC236}">
                <a16:creationId xmlns:a16="http://schemas.microsoft.com/office/drawing/2014/main" id="{96F05A29-C9A8-BA4A-3A2A-C6A3E26C9941}"/>
              </a:ext>
            </a:extLst>
          </p:cNvPr>
          <p:cNvPicPr>
            <a:picLocks noChangeAspect="1"/>
          </p:cNvPicPr>
          <p:nvPr/>
        </p:nvPicPr>
        <p:blipFill>
          <a:blip r:embed="rId5"/>
          <a:stretch>
            <a:fillRect/>
          </a:stretch>
        </p:blipFill>
        <p:spPr>
          <a:xfrm>
            <a:off x="4916628" y="612825"/>
            <a:ext cx="6963693" cy="1656000"/>
          </a:xfrm>
          <a:prstGeom prst="rect">
            <a:avLst/>
          </a:prstGeom>
        </p:spPr>
      </p:pic>
      <p:sp>
        <p:nvSpPr>
          <p:cNvPr id="24" name="TextBox 23">
            <a:extLst>
              <a:ext uri="{FF2B5EF4-FFF2-40B4-BE49-F238E27FC236}">
                <a16:creationId xmlns:a16="http://schemas.microsoft.com/office/drawing/2014/main" id="{528D0057-ABC1-0DA9-3041-307031B39E37}"/>
              </a:ext>
            </a:extLst>
          </p:cNvPr>
          <p:cNvSpPr txBox="1"/>
          <p:nvPr/>
        </p:nvSpPr>
        <p:spPr>
          <a:xfrm>
            <a:off x="196850" y="153612"/>
            <a:ext cx="1346200" cy="369332"/>
          </a:xfrm>
          <a:prstGeom prst="rect">
            <a:avLst/>
          </a:prstGeom>
          <a:noFill/>
        </p:spPr>
        <p:txBody>
          <a:bodyPr wrap="square">
            <a:spAutoFit/>
          </a:bodyPr>
          <a:lstStyle/>
          <a:p>
            <a:r>
              <a:rPr lang="en-US" sz="1800" b="1" i="1" dirty="0">
                <a:effectLst/>
                <a:latin typeface="Times New Roman" panose="02020603050405020304" pitchFamily="18" charset="0"/>
                <a:ea typeface="Calibri" panose="020F0502020204030204" pitchFamily="34" charset="0"/>
              </a:rPr>
              <a:t>Summary</a:t>
            </a:r>
            <a:endParaRPr lang="en-US" i="1" dirty="0"/>
          </a:p>
        </p:txBody>
      </p:sp>
    </p:spTree>
    <p:extLst>
      <p:ext uri="{BB962C8B-B14F-4D97-AF65-F5344CB8AC3E}">
        <p14:creationId xmlns:p14="http://schemas.microsoft.com/office/powerpoint/2010/main" val="3769070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F63AEC-2DE9-C5C9-7920-2F16BEB79F33}"/>
              </a:ext>
            </a:extLst>
          </p:cNvPr>
          <p:cNvSpPr txBox="1"/>
          <p:nvPr/>
        </p:nvSpPr>
        <p:spPr>
          <a:xfrm>
            <a:off x="585886" y="609270"/>
            <a:ext cx="7315201" cy="830997"/>
          </a:xfrm>
          <a:prstGeom prst="rect">
            <a:avLst/>
          </a:prstGeom>
          <a:noFill/>
        </p:spPr>
        <p:txBody>
          <a:bodyPr wrap="square">
            <a:spAutoFit/>
          </a:bodyPr>
          <a:lstStyle/>
          <a:p>
            <a:r>
              <a:rPr lang="en-US" sz="1600" dirty="0"/>
              <a:t>We observed similar slope of muscle activation between conditions (coherence in grey palette; colors reflect conditions) with no effect of coherence on slope of muscle activation (all </a:t>
            </a:r>
            <a:r>
              <a:rPr lang="en-US" sz="1600" i="1" dirty="0">
                <a:ea typeface="Calibri" panose="020F0502020204030204" pitchFamily="34" charset="0"/>
                <a:cs typeface="Times New Roman" panose="02020603050405020304" pitchFamily="18" charset="0"/>
              </a:rPr>
              <a:t>BF</a:t>
            </a:r>
            <a:r>
              <a:rPr lang="en-US" sz="1600" i="1" baseline="-25000" dirty="0">
                <a:ea typeface="Calibri" panose="020F0502020204030204" pitchFamily="34" charset="0"/>
                <a:cs typeface="Times New Roman" panose="02020603050405020304" pitchFamily="18" charset="0"/>
              </a:rPr>
              <a:t>incl</a:t>
            </a:r>
            <a:r>
              <a:rPr lang="en-US" sz="1600" dirty="0">
                <a:ea typeface="Calibri" panose="020F0502020204030204" pitchFamily="34" charset="0"/>
                <a:cs typeface="Times New Roman" panose="02020603050405020304" pitchFamily="18" charset="0"/>
              </a:rPr>
              <a:t> &lt; 0.33 and </a:t>
            </a:r>
            <a:r>
              <a:rPr lang="en-US" sz="1600" dirty="0"/>
              <a:t> </a:t>
            </a:r>
            <a:r>
              <a:rPr lang="en-US" sz="1600" i="1" dirty="0"/>
              <a:t>p</a:t>
            </a:r>
            <a:r>
              <a:rPr lang="en-US" sz="1600" dirty="0"/>
              <a:t> &gt; .05).</a:t>
            </a:r>
          </a:p>
        </p:txBody>
      </p:sp>
      <p:pic>
        <p:nvPicPr>
          <p:cNvPr id="10" name="Picture 9">
            <a:extLst>
              <a:ext uri="{FF2B5EF4-FFF2-40B4-BE49-F238E27FC236}">
                <a16:creationId xmlns:a16="http://schemas.microsoft.com/office/drawing/2014/main" id="{7231E75C-5FF8-B581-A009-A694F899D182}"/>
              </a:ext>
            </a:extLst>
          </p:cNvPr>
          <p:cNvPicPr>
            <a:picLocks noChangeAspect="1"/>
          </p:cNvPicPr>
          <p:nvPr/>
        </p:nvPicPr>
        <p:blipFill>
          <a:blip r:embed="rId2"/>
          <a:srcRect l="24573" t="5683" r="66028" b="78139"/>
          <a:stretch>
            <a:fillRect/>
          </a:stretch>
        </p:blipFill>
        <p:spPr>
          <a:xfrm>
            <a:off x="8466366" y="602519"/>
            <a:ext cx="1061411" cy="902561"/>
          </a:xfrm>
          <a:prstGeom prst="rect">
            <a:avLst/>
          </a:prstGeom>
        </p:spPr>
      </p:pic>
      <p:pic>
        <p:nvPicPr>
          <p:cNvPr id="39" name="Picture 38">
            <a:extLst>
              <a:ext uri="{FF2B5EF4-FFF2-40B4-BE49-F238E27FC236}">
                <a16:creationId xmlns:a16="http://schemas.microsoft.com/office/drawing/2014/main" id="{BD2F291C-CC1A-EBA6-5D19-4BBB8BCD1B4F}"/>
              </a:ext>
            </a:extLst>
          </p:cNvPr>
          <p:cNvPicPr>
            <a:picLocks noChangeAspect="1"/>
          </p:cNvPicPr>
          <p:nvPr/>
        </p:nvPicPr>
        <p:blipFill>
          <a:blip r:embed="rId3"/>
          <a:srcRect l="39649" t="4619" r="47938" b="71378"/>
          <a:stretch>
            <a:fillRect/>
          </a:stretch>
        </p:blipFill>
        <p:spPr>
          <a:xfrm>
            <a:off x="9678251" y="579659"/>
            <a:ext cx="930548" cy="890220"/>
          </a:xfrm>
          <a:prstGeom prst="rect">
            <a:avLst/>
          </a:prstGeom>
        </p:spPr>
      </p:pic>
      <p:pic>
        <p:nvPicPr>
          <p:cNvPr id="40" name="Picture 39">
            <a:extLst>
              <a:ext uri="{FF2B5EF4-FFF2-40B4-BE49-F238E27FC236}">
                <a16:creationId xmlns:a16="http://schemas.microsoft.com/office/drawing/2014/main" id="{2F911ED6-C49A-DFCD-4530-5E19D555425F}"/>
              </a:ext>
            </a:extLst>
          </p:cNvPr>
          <p:cNvPicPr>
            <a:picLocks noChangeAspect="1"/>
          </p:cNvPicPr>
          <p:nvPr/>
        </p:nvPicPr>
        <p:blipFill>
          <a:blip r:embed="rId3"/>
          <a:srcRect l="85468" t="4648" r="2119" b="71349"/>
          <a:stretch>
            <a:fillRect/>
          </a:stretch>
        </p:blipFill>
        <p:spPr>
          <a:xfrm>
            <a:off x="10753578" y="579658"/>
            <a:ext cx="930547" cy="890219"/>
          </a:xfrm>
          <a:prstGeom prst="rect">
            <a:avLst/>
          </a:prstGeom>
        </p:spPr>
      </p:pic>
      <p:grpSp>
        <p:nvGrpSpPr>
          <p:cNvPr id="2" name="Group 1">
            <a:extLst>
              <a:ext uri="{FF2B5EF4-FFF2-40B4-BE49-F238E27FC236}">
                <a16:creationId xmlns:a16="http://schemas.microsoft.com/office/drawing/2014/main" id="{5E8964EE-E084-671D-1F0E-DB8EA09BB290}"/>
              </a:ext>
            </a:extLst>
          </p:cNvPr>
          <p:cNvGrpSpPr/>
          <p:nvPr/>
        </p:nvGrpSpPr>
        <p:grpSpPr>
          <a:xfrm>
            <a:off x="260565" y="1948947"/>
            <a:ext cx="11737159" cy="4647600"/>
            <a:chOff x="260565" y="1613667"/>
            <a:chExt cx="11737159" cy="4647600"/>
          </a:xfrm>
        </p:grpSpPr>
        <p:pic>
          <p:nvPicPr>
            <p:cNvPr id="3" name="Picture 2">
              <a:extLst>
                <a:ext uri="{FF2B5EF4-FFF2-40B4-BE49-F238E27FC236}">
                  <a16:creationId xmlns:a16="http://schemas.microsoft.com/office/drawing/2014/main" id="{7BE64E1E-40B2-0B9D-B734-D3C6E703ABD9}"/>
                </a:ext>
              </a:extLst>
            </p:cNvPr>
            <p:cNvPicPr>
              <a:picLocks noChangeAspect="1"/>
            </p:cNvPicPr>
            <p:nvPr/>
          </p:nvPicPr>
          <p:blipFill>
            <a:blip r:embed="rId4"/>
            <a:stretch>
              <a:fillRect/>
            </a:stretch>
          </p:blipFill>
          <p:spPr>
            <a:xfrm>
              <a:off x="260565" y="1613667"/>
              <a:ext cx="11737159" cy="4647600"/>
            </a:xfrm>
            <a:prstGeom prst="rect">
              <a:avLst/>
            </a:prstGeom>
          </p:spPr>
        </p:pic>
        <p:pic>
          <p:nvPicPr>
            <p:cNvPr id="6" name="Picture 5">
              <a:extLst>
                <a:ext uri="{FF2B5EF4-FFF2-40B4-BE49-F238E27FC236}">
                  <a16:creationId xmlns:a16="http://schemas.microsoft.com/office/drawing/2014/main" id="{FF902786-D434-5ED5-4A43-EC530D142B76}"/>
                </a:ext>
              </a:extLst>
            </p:cNvPr>
            <p:cNvPicPr>
              <a:picLocks noChangeAspect="1"/>
            </p:cNvPicPr>
            <p:nvPr/>
          </p:nvPicPr>
          <p:blipFill>
            <a:blip r:embed="rId5"/>
            <a:srcRect r="66626" b="50732"/>
            <a:stretch>
              <a:fillRect/>
            </a:stretch>
          </p:blipFill>
          <p:spPr>
            <a:xfrm>
              <a:off x="2361721" y="1864453"/>
              <a:ext cx="1881766" cy="1742400"/>
            </a:xfrm>
            <a:prstGeom prst="rect">
              <a:avLst/>
            </a:prstGeom>
            <a:ln>
              <a:solidFill>
                <a:schemeClr val="bg2">
                  <a:lumMod val="50000"/>
                </a:schemeClr>
              </a:solidFill>
            </a:ln>
          </p:spPr>
        </p:pic>
        <p:pic>
          <p:nvPicPr>
            <p:cNvPr id="7" name="Picture 6">
              <a:extLst>
                <a:ext uri="{FF2B5EF4-FFF2-40B4-BE49-F238E27FC236}">
                  <a16:creationId xmlns:a16="http://schemas.microsoft.com/office/drawing/2014/main" id="{A449EC7E-56BD-6B12-4194-86BAF0600C27}"/>
                </a:ext>
              </a:extLst>
            </p:cNvPr>
            <p:cNvPicPr>
              <a:picLocks noChangeAspect="1"/>
            </p:cNvPicPr>
            <p:nvPr/>
          </p:nvPicPr>
          <p:blipFill>
            <a:blip r:embed="rId5"/>
            <a:srcRect l="33374" r="33252" b="50732"/>
            <a:stretch>
              <a:fillRect/>
            </a:stretch>
          </p:blipFill>
          <p:spPr>
            <a:xfrm>
              <a:off x="6136764" y="1864453"/>
              <a:ext cx="1881766" cy="1742400"/>
            </a:xfrm>
            <a:prstGeom prst="rect">
              <a:avLst/>
            </a:prstGeom>
            <a:ln>
              <a:solidFill>
                <a:schemeClr val="bg2">
                  <a:lumMod val="50000"/>
                </a:schemeClr>
              </a:solidFill>
            </a:ln>
          </p:spPr>
        </p:pic>
        <p:pic>
          <p:nvPicPr>
            <p:cNvPr id="8" name="Picture 7">
              <a:extLst>
                <a:ext uri="{FF2B5EF4-FFF2-40B4-BE49-F238E27FC236}">
                  <a16:creationId xmlns:a16="http://schemas.microsoft.com/office/drawing/2014/main" id="{66BA968B-34AB-DB3E-1864-AACDDD00B605}"/>
                </a:ext>
              </a:extLst>
            </p:cNvPr>
            <p:cNvPicPr>
              <a:picLocks noChangeAspect="1"/>
            </p:cNvPicPr>
            <p:nvPr/>
          </p:nvPicPr>
          <p:blipFill>
            <a:blip r:embed="rId5"/>
            <a:srcRect l="66748" r="993" b="50732"/>
            <a:stretch>
              <a:fillRect/>
            </a:stretch>
          </p:blipFill>
          <p:spPr>
            <a:xfrm>
              <a:off x="9976870" y="1864453"/>
              <a:ext cx="1818890" cy="1742400"/>
            </a:xfrm>
            <a:prstGeom prst="rect">
              <a:avLst/>
            </a:prstGeom>
            <a:ln>
              <a:solidFill>
                <a:schemeClr val="bg2">
                  <a:lumMod val="50000"/>
                </a:schemeClr>
              </a:solidFill>
            </a:ln>
          </p:spPr>
        </p:pic>
        <p:pic>
          <p:nvPicPr>
            <p:cNvPr id="9" name="Picture 8">
              <a:extLst>
                <a:ext uri="{FF2B5EF4-FFF2-40B4-BE49-F238E27FC236}">
                  <a16:creationId xmlns:a16="http://schemas.microsoft.com/office/drawing/2014/main" id="{5B81CD6B-D334-F7E6-BEB3-DADAE800B491}"/>
                </a:ext>
              </a:extLst>
            </p:cNvPr>
            <p:cNvPicPr>
              <a:picLocks noChangeAspect="1"/>
            </p:cNvPicPr>
            <p:nvPr/>
          </p:nvPicPr>
          <p:blipFill>
            <a:blip r:embed="rId5"/>
            <a:srcRect l="653" t="49663" r="67088" b="1069"/>
            <a:stretch>
              <a:fillRect/>
            </a:stretch>
          </p:blipFill>
          <p:spPr>
            <a:xfrm>
              <a:off x="2424597" y="4093340"/>
              <a:ext cx="1818890" cy="1742400"/>
            </a:xfrm>
            <a:prstGeom prst="rect">
              <a:avLst/>
            </a:prstGeom>
            <a:ln>
              <a:solidFill>
                <a:schemeClr val="bg2">
                  <a:lumMod val="50000"/>
                </a:schemeClr>
              </a:solidFill>
            </a:ln>
          </p:spPr>
        </p:pic>
        <p:pic>
          <p:nvPicPr>
            <p:cNvPr id="11" name="Picture 10">
              <a:extLst>
                <a:ext uri="{FF2B5EF4-FFF2-40B4-BE49-F238E27FC236}">
                  <a16:creationId xmlns:a16="http://schemas.microsoft.com/office/drawing/2014/main" id="{C07D8EBB-2B77-81C2-2D06-A13B149C1133}"/>
                </a:ext>
              </a:extLst>
            </p:cNvPr>
            <p:cNvPicPr>
              <a:picLocks noChangeAspect="1"/>
            </p:cNvPicPr>
            <p:nvPr/>
          </p:nvPicPr>
          <p:blipFill>
            <a:blip r:embed="rId5"/>
            <a:srcRect l="33870" t="50000" r="33870" b="732"/>
            <a:stretch>
              <a:fillRect/>
            </a:stretch>
          </p:blipFill>
          <p:spPr>
            <a:xfrm>
              <a:off x="6199640" y="4085720"/>
              <a:ext cx="1818890" cy="1742400"/>
            </a:xfrm>
            <a:prstGeom prst="rect">
              <a:avLst/>
            </a:prstGeom>
            <a:ln>
              <a:solidFill>
                <a:schemeClr val="bg2">
                  <a:lumMod val="50000"/>
                </a:schemeClr>
              </a:solidFill>
            </a:ln>
          </p:spPr>
        </p:pic>
        <p:pic>
          <p:nvPicPr>
            <p:cNvPr id="12" name="Picture 11">
              <a:extLst>
                <a:ext uri="{FF2B5EF4-FFF2-40B4-BE49-F238E27FC236}">
                  <a16:creationId xmlns:a16="http://schemas.microsoft.com/office/drawing/2014/main" id="{54497CFC-8114-F5AC-925D-D44FB16C0459}"/>
                </a:ext>
              </a:extLst>
            </p:cNvPr>
            <p:cNvPicPr>
              <a:picLocks noChangeAspect="1"/>
            </p:cNvPicPr>
            <p:nvPr/>
          </p:nvPicPr>
          <p:blipFill>
            <a:blip r:embed="rId5"/>
            <a:srcRect l="67128" t="50000" r="612" b="732"/>
            <a:stretch>
              <a:fillRect/>
            </a:stretch>
          </p:blipFill>
          <p:spPr>
            <a:xfrm>
              <a:off x="9976871" y="4085720"/>
              <a:ext cx="1818890" cy="1742400"/>
            </a:xfrm>
            <a:prstGeom prst="rect">
              <a:avLst/>
            </a:prstGeom>
            <a:ln>
              <a:solidFill>
                <a:schemeClr val="bg2">
                  <a:lumMod val="50000"/>
                </a:schemeClr>
              </a:solidFill>
            </a:ln>
          </p:spPr>
        </p:pic>
      </p:grpSp>
    </p:spTree>
    <p:extLst>
      <p:ext uri="{BB962C8B-B14F-4D97-AF65-F5344CB8AC3E}">
        <p14:creationId xmlns:p14="http://schemas.microsoft.com/office/powerpoint/2010/main" val="944394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4DA7FFD-CE39-99B9-87BA-E6127CEB19DE}"/>
              </a:ext>
            </a:extLst>
          </p:cNvPr>
          <p:cNvGrpSpPr/>
          <p:nvPr/>
        </p:nvGrpSpPr>
        <p:grpSpPr>
          <a:xfrm>
            <a:off x="6788401" y="728579"/>
            <a:ext cx="5126897" cy="2520000"/>
            <a:chOff x="5538786" y="397570"/>
            <a:chExt cx="5126897" cy="2520000"/>
          </a:xfrm>
        </p:grpSpPr>
        <p:pic>
          <p:nvPicPr>
            <p:cNvPr id="3" name="Picture 2">
              <a:extLst>
                <a:ext uri="{FF2B5EF4-FFF2-40B4-BE49-F238E27FC236}">
                  <a16:creationId xmlns:a16="http://schemas.microsoft.com/office/drawing/2014/main" id="{F0570D1D-6B57-BED6-08B5-A2EF64F9E8CF}"/>
                </a:ext>
              </a:extLst>
            </p:cNvPr>
            <p:cNvPicPr>
              <a:picLocks noChangeAspect="1"/>
            </p:cNvPicPr>
            <p:nvPr/>
          </p:nvPicPr>
          <p:blipFill>
            <a:blip r:embed="rId2"/>
            <a:stretch>
              <a:fillRect/>
            </a:stretch>
          </p:blipFill>
          <p:spPr>
            <a:xfrm>
              <a:off x="5538786" y="397570"/>
              <a:ext cx="5126897" cy="2520000"/>
            </a:xfrm>
            <a:prstGeom prst="rect">
              <a:avLst/>
            </a:prstGeom>
          </p:spPr>
        </p:pic>
        <p:pic>
          <p:nvPicPr>
            <p:cNvPr id="11" name="Picture 10">
              <a:extLst>
                <a:ext uri="{FF2B5EF4-FFF2-40B4-BE49-F238E27FC236}">
                  <a16:creationId xmlns:a16="http://schemas.microsoft.com/office/drawing/2014/main" id="{14627630-ABF5-FD46-3365-EA481679C895}"/>
                </a:ext>
              </a:extLst>
            </p:cNvPr>
            <p:cNvPicPr>
              <a:picLocks noChangeAspect="1"/>
            </p:cNvPicPr>
            <p:nvPr/>
          </p:nvPicPr>
          <p:blipFill>
            <a:blip r:embed="rId3"/>
            <a:stretch>
              <a:fillRect/>
            </a:stretch>
          </p:blipFill>
          <p:spPr>
            <a:xfrm>
              <a:off x="8181739" y="549655"/>
              <a:ext cx="2245738" cy="1908000"/>
            </a:xfrm>
            <a:prstGeom prst="rect">
              <a:avLst/>
            </a:prstGeom>
            <a:ln>
              <a:solidFill>
                <a:schemeClr val="bg2">
                  <a:lumMod val="50000"/>
                </a:schemeClr>
              </a:solidFill>
            </a:ln>
          </p:spPr>
        </p:pic>
      </p:grpSp>
      <p:grpSp>
        <p:nvGrpSpPr>
          <p:cNvPr id="15" name="Group 14">
            <a:extLst>
              <a:ext uri="{FF2B5EF4-FFF2-40B4-BE49-F238E27FC236}">
                <a16:creationId xmlns:a16="http://schemas.microsoft.com/office/drawing/2014/main" id="{B6F642DD-6F3F-45E0-98E1-05391D20B3C4}"/>
              </a:ext>
            </a:extLst>
          </p:cNvPr>
          <p:cNvGrpSpPr/>
          <p:nvPr/>
        </p:nvGrpSpPr>
        <p:grpSpPr>
          <a:xfrm>
            <a:off x="6788402" y="3710940"/>
            <a:ext cx="5126897" cy="2520000"/>
            <a:chOff x="5538786" y="3518620"/>
            <a:chExt cx="5126897" cy="2520000"/>
          </a:xfrm>
        </p:grpSpPr>
        <p:pic>
          <p:nvPicPr>
            <p:cNvPr id="5" name="Picture 4">
              <a:extLst>
                <a:ext uri="{FF2B5EF4-FFF2-40B4-BE49-F238E27FC236}">
                  <a16:creationId xmlns:a16="http://schemas.microsoft.com/office/drawing/2014/main" id="{E092CE6F-74A6-9A53-7D81-4B59049811F4}"/>
                </a:ext>
              </a:extLst>
            </p:cNvPr>
            <p:cNvPicPr>
              <a:picLocks noChangeAspect="1"/>
            </p:cNvPicPr>
            <p:nvPr/>
          </p:nvPicPr>
          <p:blipFill>
            <a:blip r:embed="rId4"/>
            <a:stretch>
              <a:fillRect/>
            </a:stretch>
          </p:blipFill>
          <p:spPr>
            <a:xfrm>
              <a:off x="5538786" y="3518620"/>
              <a:ext cx="5126897" cy="2520000"/>
            </a:xfrm>
            <a:prstGeom prst="rect">
              <a:avLst/>
            </a:prstGeom>
          </p:spPr>
        </p:pic>
        <p:pic>
          <p:nvPicPr>
            <p:cNvPr id="13" name="Picture 12">
              <a:extLst>
                <a:ext uri="{FF2B5EF4-FFF2-40B4-BE49-F238E27FC236}">
                  <a16:creationId xmlns:a16="http://schemas.microsoft.com/office/drawing/2014/main" id="{E4A64247-B6B4-F21F-9CD8-FCABBBEE44E2}"/>
                </a:ext>
              </a:extLst>
            </p:cNvPr>
            <p:cNvPicPr>
              <a:picLocks noChangeAspect="1"/>
            </p:cNvPicPr>
            <p:nvPr/>
          </p:nvPicPr>
          <p:blipFill>
            <a:blip r:embed="rId5"/>
            <a:stretch>
              <a:fillRect/>
            </a:stretch>
          </p:blipFill>
          <p:spPr>
            <a:xfrm>
              <a:off x="8189296" y="3668259"/>
              <a:ext cx="2245738" cy="1908000"/>
            </a:xfrm>
            <a:prstGeom prst="rect">
              <a:avLst/>
            </a:prstGeom>
            <a:ln>
              <a:solidFill>
                <a:schemeClr val="bg2">
                  <a:lumMod val="50000"/>
                </a:schemeClr>
              </a:solidFill>
            </a:ln>
          </p:spPr>
        </p:pic>
      </p:grpSp>
      <p:sp>
        <p:nvSpPr>
          <p:cNvPr id="16" name="TextBox 15">
            <a:extLst>
              <a:ext uri="{FF2B5EF4-FFF2-40B4-BE49-F238E27FC236}">
                <a16:creationId xmlns:a16="http://schemas.microsoft.com/office/drawing/2014/main" id="{1CC1C3F1-BFD0-4FF4-D629-1A6F4B724152}"/>
              </a:ext>
            </a:extLst>
          </p:cNvPr>
          <p:cNvSpPr txBox="1"/>
          <p:nvPr/>
        </p:nvSpPr>
        <p:spPr>
          <a:xfrm>
            <a:off x="8344197" y="2233792"/>
            <a:ext cx="1087157" cy="523220"/>
          </a:xfrm>
          <a:prstGeom prst="rect">
            <a:avLst/>
          </a:prstGeom>
          <a:noFill/>
        </p:spPr>
        <p:txBody>
          <a:bodyPr wrap="none" rtlCol="0">
            <a:spAutoFit/>
          </a:bodyPr>
          <a:lstStyle/>
          <a:p>
            <a:pPr algn="r"/>
            <a:r>
              <a:rPr lang="en-US" sz="1400" i="1" dirty="0"/>
              <a:t>p </a:t>
            </a:r>
            <a:r>
              <a:rPr lang="en-US" sz="1400" dirty="0"/>
              <a:t>= 0.604</a:t>
            </a:r>
          </a:p>
          <a:p>
            <a:pPr algn="r"/>
            <a:r>
              <a:rPr lang="en-US" sz="1400" i="1" dirty="0"/>
              <a:t>BF</a:t>
            </a:r>
            <a:r>
              <a:rPr lang="en-US" sz="1400" i="1" baseline="-25000" dirty="0"/>
              <a:t>incl</a:t>
            </a:r>
            <a:r>
              <a:rPr lang="en-US" sz="1400" i="1" dirty="0"/>
              <a:t> </a:t>
            </a:r>
            <a:r>
              <a:rPr lang="en-US" sz="1400" dirty="0"/>
              <a:t>= 0.33</a:t>
            </a:r>
          </a:p>
        </p:txBody>
      </p:sp>
      <p:sp>
        <p:nvSpPr>
          <p:cNvPr id="17" name="TextBox 16">
            <a:extLst>
              <a:ext uri="{FF2B5EF4-FFF2-40B4-BE49-F238E27FC236}">
                <a16:creationId xmlns:a16="http://schemas.microsoft.com/office/drawing/2014/main" id="{8DE9EEE6-F889-2789-8757-EE6B0CEE976A}"/>
              </a:ext>
            </a:extLst>
          </p:cNvPr>
          <p:cNvSpPr txBox="1"/>
          <p:nvPr/>
        </p:nvSpPr>
        <p:spPr>
          <a:xfrm>
            <a:off x="8329030" y="5216781"/>
            <a:ext cx="1087156" cy="523220"/>
          </a:xfrm>
          <a:prstGeom prst="rect">
            <a:avLst/>
          </a:prstGeom>
          <a:noFill/>
        </p:spPr>
        <p:txBody>
          <a:bodyPr wrap="none" rtlCol="0">
            <a:spAutoFit/>
          </a:bodyPr>
          <a:lstStyle/>
          <a:p>
            <a:pPr algn="r"/>
            <a:r>
              <a:rPr lang="en-US" sz="1400" i="1" dirty="0"/>
              <a:t>p </a:t>
            </a:r>
            <a:r>
              <a:rPr lang="en-US" sz="1400" dirty="0"/>
              <a:t>= 0.142</a:t>
            </a:r>
          </a:p>
          <a:p>
            <a:pPr algn="r"/>
            <a:r>
              <a:rPr lang="en-US" sz="1400" i="1" dirty="0"/>
              <a:t>BF</a:t>
            </a:r>
            <a:r>
              <a:rPr lang="en-US" sz="1400" i="1" baseline="-25000" dirty="0"/>
              <a:t>incl</a:t>
            </a:r>
            <a:r>
              <a:rPr lang="en-US" sz="1400" i="1" dirty="0"/>
              <a:t> </a:t>
            </a:r>
            <a:r>
              <a:rPr lang="en-US" sz="1400" dirty="0"/>
              <a:t>= 0.62</a:t>
            </a:r>
          </a:p>
        </p:txBody>
      </p:sp>
      <p:sp>
        <p:nvSpPr>
          <p:cNvPr id="19" name="TextBox 18">
            <a:extLst>
              <a:ext uri="{FF2B5EF4-FFF2-40B4-BE49-F238E27FC236}">
                <a16:creationId xmlns:a16="http://schemas.microsoft.com/office/drawing/2014/main" id="{933208B3-296B-E516-90F6-602EC88B9B23}"/>
              </a:ext>
            </a:extLst>
          </p:cNvPr>
          <p:cNvSpPr txBox="1"/>
          <p:nvPr/>
        </p:nvSpPr>
        <p:spPr>
          <a:xfrm>
            <a:off x="683107" y="1212607"/>
            <a:ext cx="3058313" cy="923330"/>
          </a:xfrm>
          <a:prstGeom prst="rect">
            <a:avLst/>
          </a:prstGeom>
          <a:noFill/>
        </p:spPr>
        <p:txBody>
          <a:bodyPr wrap="square">
            <a:spAutoFit/>
          </a:bodyPr>
          <a:lstStyle/>
          <a:p>
            <a:pPr>
              <a:spcBef>
                <a:spcPts val="600"/>
              </a:spcBef>
              <a:spcAft>
                <a:spcPts val="600"/>
              </a:spcAft>
            </a:pPr>
            <a:r>
              <a:rPr lang="en-US" i="1" dirty="0"/>
              <a:t>Note</a:t>
            </a:r>
            <a:r>
              <a:rPr lang="en-US" dirty="0"/>
              <a:t>. </a:t>
            </a:r>
            <a:r>
              <a:rPr lang="en-US" sz="1800" dirty="0"/>
              <a:t>Contrary to mean MET, slope of muscle activation did not change between trial value.</a:t>
            </a:r>
          </a:p>
        </p:txBody>
      </p:sp>
      <p:pic>
        <p:nvPicPr>
          <p:cNvPr id="20" name="Picture 19">
            <a:extLst>
              <a:ext uri="{FF2B5EF4-FFF2-40B4-BE49-F238E27FC236}">
                <a16:creationId xmlns:a16="http://schemas.microsoft.com/office/drawing/2014/main" id="{19E77A15-9476-BC1F-2804-B080938558C5}"/>
              </a:ext>
            </a:extLst>
          </p:cNvPr>
          <p:cNvPicPr>
            <a:picLocks noChangeAspect="1"/>
          </p:cNvPicPr>
          <p:nvPr/>
        </p:nvPicPr>
        <p:blipFill>
          <a:blip r:embed="rId6"/>
          <a:srcRect l="74458"/>
          <a:stretch>
            <a:fillRect/>
          </a:stretch>
        </p:blipFill>
        <p:spPr>
          <a:xfrm>
            <a:off x="4377917" y="878782"/>
            <a:ext cx="2051361" cy="1909882"/>
          </a:xfrm>
          <a:prstGeom prst="rect">
            <a:avLst/>
          </a:prstGeom>
        </p:spPr>
      </p:pic>
      <p:pic>
        <p:nvPicPr>
          <p:cNvPr id="21" name="Picture 20">
            <a:extLst>
              <a:ext uri="{FF2B5EF4-FFF2-40B4-BE49-F238E27FC236}">
                <a16:creationId xmlns:a16="http://schemas.microsoft.com/office/drawing/2014/main" id="{BF6EE7F9-0A93-DC48-12CB-43DBE84D0A8E}"/>
              </a:ext>
            </a:extLst>
          </p:cNvPr>
          <p:cNvPicPr>
            <a:picLocks noChangeAspect="1"/>
          </p:cNvPicPr>
          <p:nvPr/>
        </p:nvPicPr>
        <p:blipFill>
          <a:blip r:embed="rId7"/>
          <a:srcRect l="74458"/>
          <a:stretch>
            <a:fillRect/>
          </a:stretch>
        </p:blipFill>
        <p:spPr>
          <a:xfrm>
            <a:off x="4377918" y="3953456"/>
            <a:ext cx="2051361" cy="1909882"/>
          </a:xfrm>
          <a:prstGeom prst="rect">
            <a:avLst/>
          </a:prstGeom>
        </p:spPr>
      </p:pic>
    </p:spTree>
    <p:extLst>
      <p:ext uri="{BB962C8B-B14F-4D97-AF65-F5344CB8AC3E}">
        <p14:creationId xmlns:p14="http://schemas.microsoft.com/office/powerpoint/2010/main" val="1150539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7C5372-9DA8-6EE6-3694-293AA2B76F6C}"/>
              </a:ext>
            </a:extLst>
          </p:cNvPr>
          <p:cNvSpPr txBox="1"/>
          <p:nvPr/>
        </p:nvSpPr>
        <p:spPr>
          <a:xfrm>
            <a:off x="707913" y="867347"/>
            <a:ext cx="10776174" cy="5016758"/>
          </a:xfrm>
          <a:prstGeom prst="rect">
            <a:avLst/>
          </a:prstGeom>
          <a:noFill/>
        </p:spPr>
        <p:txBody>
          <a:bodyPr wrap="square">
            <a:spAutoFit/>
          </a:bodyPr>
          <a:lstStyle/>
          <a:p>
            <a:r>
              <a:rPr lang="fr-FR" sz="1600" dirty="0" err="1"/>
              <a:t>Now</a:t>
            </a:r>
            <a:r>
              <a:rPr lang="fr-FR" sz="1600" dirty="0"/>
              <a:t>, </a:t>
            </a:r>
            <a:r>
              <a:rPr lang="fr-FR" sz="1600" dirty="0" err="1"/>
              <a:t>we</a:t>
            </a:r>
            <a:r>
              <a:rPr lang="fr-FR" sz="1600" dirty="0"/>
              <a:t> </a:t>
            </a:r>
            <a:r>
              <a:rPr lang="fr-FR" sz="1600" dirty="0" err="1"/>
              <a:t>focused</a:t>
            </a:r>
            <a:r>
              <a:rPr lang="fr-FR" sz="1600" dirty="0"/>
              <a:t> on partial muscle activations (PMA) </a:t>
            </a:r>
            <a:r>
              <a:rPr lang="fr-FR" sz="1600" dirty="0" err="1"/>
              <a:t>during</a:t>
            </a:r>
            <a:r>
              <a:rPr lang="fr-FR" sz="1600" dirty="0"/>
              <a:t> the stimulus, delay and response </a:t>
            </a:r>
            <a:r>
              <a:rPr lang="fr-FR" sz="1600" dirty="0" err="1"/>
              <a:t>period</a:t>
            </a:r>
            <a:r>
              <a:rPr lang="en-US" sz="1600" dirty="0"/>
              <a:t>. We computed the average number of PMAs and estimated the PMA rate (events per second) using 0.1-s time bins to capture temporal dynamics. This was represented for EMG channel associated with the response (no effect was observed in the opposite channel).</a:t>
            </a:r>
          </a:p>
          <a:p>
            <a:endParaRPr lang="en-US" sz="1600" dirty="0"/>
          </a:p>
          <a:p>
            <a:r>
              <a:rPr lang="en-US" sz="1600" dirty="0"/>
              <a:t>We analyzed PMA rates using repeated-measures ANOVAs including value, reward-onset timing, coherence, and time bin (0.1 s) as within-subject factors. We first report results from the full model to assess main effects and interactions. </a:t>
            </a:r>
          </a:p>
          <a:p>
            <a:endParaRPr lang="en-US" sz="1600" dirty="0"/>
          </a:p>
          <a:p>
            <a:r>
              <a:rPr lang="en-US" sz="1600" dirty="0"/>
              <a:t>Next, we analyzed marginal means for each factor (reward-onset timing, trial value, coherence), while retaining time as a within-subject factor, as only interactions with time were observed in the full model. This approach simplifies model, increases statistical power, and facilitates clearer interpretation of main effects while preserving temporal dynamics.</a:t>
            </a:r>
          </a:p>
          <a:p>
            <a:endParaRPr lang="en-US" sz="1600" b="1" i="1" dirty="0"/>
          </a:p>
          <a:p>
            <a:endParaRPr lang="en-US" sz="1600" b="1" i="1" dirty="0"/>
          </a:p>
          <a:p>
            <a:endParaRPr lang="en-US" sz="1600" b="1" i="1" dirty="0"/>
          </a:p>
          <a:p>
            <a:endParaRPr lang="en-US" sz="1600" b="1" i="1" dirty="0"/>
          </a:p>
          <a:p>
            <a:endParaRPr lang="en-US" sz="1600" b="1" i="1" dirty="0"/>
          </a:p>
          <a:p>
            <a:endParaRPr lang="en-US" sz="1600" b="1" i="1" dirty="0"/>
          </a:p>
          <a:p>
            <a:endParaRPr lang="en-US" sz="1600" b="1" i="1" dirty="0"/>
          </a:p>
          <a:p>
            <a:endParaRPr lang="en-US" sz="1600" b="1" i="1" dirty="0"/>
          </a:p>
          <a:p>
            <a:r>
              <a:rPr lang="en-US" sz="1600" b="1" i="1" dirty="0"/>
              <a:t>Note.</a:t>
            </a:r>
            <a:r>
              <a:rPr lang="en-US" sz="1600" dirty="0"/>
              <a:t> Bayesian rm ANOVA including all factors (value, reward-onset, coherence, and time bin) was not conducted due to excessive computational cost and time.</a:t>
            </a:r>
          </a:p>
        </p:txBody>
      </p:sp>
    </p:spTree>
    <p:extLst>
      <p:ext uri="{BB962C8B-B14F-4D97-AF65-F5344CB8AC3E}">
        <p14:creationId xmlns:p14="http://schemas.microsoft.com/office/powerpoint/2010/main" val="1855316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9A176-0137-3707-7873-CC326E9D2AD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8E46BB8-B275-08EC-08F4-AD07901162FB}"/>
                  </a:ext>
                </a:extLst>
              </p:cNvPr>
              <p:cNvGraphicFramePr>
                <a:graphicFrameLocks noGrp="1"/>
              </p:cNvGraphicFramePr>
              <p:nvPr>
                <p:extLst>
                  <p:ext uri="{D42A27DB-BD31-4B8C-83A1-F6EECF244321}">
                    <p14:modId xmlns:p14="http://schemas.microsoft.com/office/powerpoint/2010/main" val="508845341"/>
                  </p:ext>
                </p:extLst>
              </p:nvPr>
            </p:nvGraphicFramePr>
            <p:xfrm>
              <a:off x="623570" y="3705833"/>
              <a:ext cx="4485639" cy="2103120"/>
            </p:xfrm>
            <a:graphic>
              <a:graphicData uri="http://schemas.openxmlformats.org/drawingml/2006/table">
                <a:tbl>
                  <a:tblPr firstRow="1" bandRow="1">
                    <a:tableStyleId>{2D5ABB26-0587-4C30-8999-92F81FD0307C}</a:tableStyleId>
                  </a:tblPr>
                  <a:tblGrid>
                    <a:gridCol w="519776">
                      <a:extLst>
                        <a:ext uri="{9D8B030D-6E8A-4147-A177-3AD203B41FA5}">
                          <a16:colId xmlns:a16="http://schemas.microsoft.com/office/drawing/2014/main" val="1927771626"/>
                        </a:ext>
                      </a:extLst>
                    </a:gridCol>
                    <a:gridCol w="1296368">
                      <a:extLst>
                        <a:ext uri="{9D8B030D-6E8A-4147-A177-3AD203B41FA5}">
                          <a16:colId xmlns:a16="http://schemas.microsoft.com/office/drawing/2014/main" val="1854815296"/>
                        </a:ext>
                      </a:extLst>
                    </a:gridCol>
                    <a:gridCol w="739015">
                      <a:extLst>
                        <a:ext uri="{9D8B030D-6E8A-4147-A177-3AD203B41FA5}">
                          <a16:colId xmlns:a16="http://schemas.microsoft.com/office/drawing/2014/main" val="1139802590"/>
                        </a:ext>
                      </a:extLst>
                    </a:gridCol>
                    <a:gridCol w="727928">
                      <a:extLst>
                        <a:ext uri="{9D8B030D-6E8A-4147-A177-3AD203B41FA5}">
                          <a16:colId xmlns:a16="http://schemas.microsoft.com/office/drawing/2014/main" val="3363221118"/>
                        </a:ext>
                      </a:extLst>
                    </a:gridCol>
                    <a:gridCol w="1202552">
                      <a:extLst>
                        <a:ext uri="{9D8B030D-6E8A-4147-A177-3AD203B41FA5}">
                          <a16:colId xmlns:a16="http://schemas.microsoft.com/office/drawing/2014/main" val="2037255389"/>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Significant effects</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0">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Response </a:t>
                          </a:r>
                        </a:p>
                        <a:p>
                          <a:pPr algn="ctr"/>
                          <a:r>
                            <a:rPr lang="en-US" sz="10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0">
                    <a:tc rowSpan="6">
                      <a:txBody>
                        <a:bodyPr/>
                        <a:lstStyle/>
                        <a:p>
                          <a:pPr algn="ctr"/>
                          <a:r>
                            <a:rPr lang="en-US" sz="1000" b="1" dirty="0"/>
                            <a:t>PMA rate</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i="1"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.035</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.007</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.006</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0">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pPr algn="ctr"/>
                          <a:r>
                            <a:rPr lang="en-US" sz="1000" dirty="0"/>
                            <a:t>reward-onset </a:t>
                          </a:r>
                          <a14:m>
                            <m:oMath xmlns:m="http://schemas.openxmlformats.org/officeDocument/2006/math">
                              <m:r>
                                <a:rPr lang="en-US" sz="1000" i="1" smtClean="0">
                                  <a:latin typeface="Cambria Math" panose="02040503050406030204" pitchFamily="18" charset="0"/>
                                  <a:ea typeface="Cambria Math" panose="02040503050406030204" pitchFamily="18" charset="0"/>
                                </a:rPr>
                                <m:t>×</m:t>
                              </m:r>
                              <m:r>
                                <a:rPr lang="fr-FR" sz="1000" b="0" i="1" smtClean="0">
                                  <a:latin typeface="Cambria Math" panose="02040503050406030204" pitchFamily="18" charset="0"/>
                                  <a:ea typeface="Cambria Math" panose="02040503050406030204" pitchFamily="18" charset="0"/>
                                </a:rPr>
                                <m:t> </m:t>
                              </m:r>
                            </m:oMath>
                          </a14:m>
                          <a:r>
                            <a:rPr lang="en-US" sz="1000" dirty="0"/>
                            <a:t>time</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4619975"/>
                      </a:ext>
                    </a:extLst>
                  </a:tr>
                  <a:tr h="0">
                    <a:tc vMerge="1">
                      <a:txBody>
                        <a:bodyPr/>
                        <a:lstStyle/>
                        <a:p>
                          <a:endParaRPr lang="en-US"/>
                        </a:p>
                      </a:txBody>
                      <a:tcPr/>
                    </a:tc>
                    <a:tc>
                      <a:txBody>
                        <a:bodyPr/>
                        <a:lstStyle/>
                        <a:p>
                          <a:pPr algn="ctr"/>
                          <a:r>
                            <a:rPr lang="en-US" sz="1000" dirty="0"/>
                            <a:t>coherence </a:t>
                          </a:r>
                          <a14:m>
                            <m:oMath xmlns:m="http://schemas.openxmlformats.org/officeDocument/2006/math">
                              <m:r>
                                <a:rPr lang="en-US" sz="1000" i="1" smtClean="0">
                                  <a:latin typeface="Cambria Math" panose="02040503050406030204" pitchFamily="18" charset="0"/>
                                  <a:ea typeface="Cambria Math" panose="02040503050406030204" pitchFamily="18" charset="0"/>
                                </a:rPr>
                                <m:t>×</m:t>
                              </m:r>
                              <m:r>
                                <a:rPr lang="fr-FR" sz="1000" b="0" i="1" smtClean="0">
                                  <a:latin typeface="Cambria Math" panose="02040503050406030204" pitchFamily="18" charset="0"/>
                                  <a:ea typeface="Cambria Math" panose="02040503050406030204" pitchFamily="18" charset="0"/>
                                </a:rPr>
                                <m:t> </m:t>
                              </m:r>
                            </m:oMath>
                          </a14:m>
                          <a:r>
                            <a:rPr lang="en-US" sz="10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.034</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1666595"/>
                      </a:ext>
                    </a:extLst>
                  </a:tr>
                </a:tbl>
              </a:graphicData>
            </a:graphic>
          </p:graphicFrame>
        </mc:Choice>
        <mc:Fallback xmlns="">
          <p:graphicFrame>
            <p:nvGraphicFramePr>
              <p:cNvPr id="2" name="Table 1">
                <a:extLst>
                  <a:ext uri="{FF2B5EF4-FFF2-40B4-BE49-F238E27FC236}">
                    <a16:creationId xmlns:a16="http://schemas.microsoft.com/office/drawing/2014/main" id="{38E46BB8-B275-08EC-08F4-AD07901162FB}"/>
                  </a:ext>
                </a:extLst>
              </p:cNvPr>
              <p:cNvGraphicFramePr>
                <a:graphicFrameLocks noGrp="1"/>
              </p:cNvGraphicFramePr>
              <p:nvPr>
                <p:extLst>
                  <p:ext uri="{D42A27DB-BD31-4B8C-83A1-F6EECF244321}">
                    <p14:modId xmlns:p14="http://schemas.microsoft.com/office/powerpoint/2010/main" val="508845341"/>
                  </p:ext>
                </p:extLst>
              </p:nvPr>
            </p:nvGraphicFramePr>
            <p:xfrm>
              <a:off x="623570" y="3705833"/>
              <a:ext cx="4485639" cy="2103120"/>
            </p:xfrm>
            <a:graphic>
              <a:graphicData uri="http://schemas.openxmlformats.org/drawingml/2006/table">
                <a:tbl>
                  <a:tblPr firstRow="1" bandRow="1">
                    <a:tableStyleId>{2D5ABB26-0587-4C30-8999-92F81FD0307C}</a:tableStyleId>
                  </a:tblPr>
                  <a:tblGrid>
                    <a:gridCol w="519776">
                      <a:extLst>
                        <a:ext uri="{9D8B030D-6E8A-4147-A177-3AD203B41FA5}">
                          <a16:colId xmlns:a16="http://schemas.microsoft.com/office/drawing/2014/main" val="1927771626"/>
                        </a:ext>
                      </a:extLst>
                    </a:gridCol>
                    <a:gridCol w="1296368">
                      <a:extLst>
                        <a:ext uri="{9D8B030D-6E8A-4147-A177-3AD203B41FA5}">
                          <a16:colId xmlns:a16="http://schemas.microsoft.com/office/drawing/2014/main" val="1854815296"/>
                        </a:ext>
                      </a:extLst>
                    </a:gridCol>
                    <a:gridCol w="739015">
                      <a:extLst>
                        <a:ext uri="{9D8B030D-6E8A-4147-A177-3AD203B41FA5}">
                          <a16:colId xmlns:a16="http://schemas.microsoft.com/office/drawing/2014/main" val="1139802590"/>
                        </a:ext>
                      </a:extLst>
                    </a:gridCol>
                    <a:gridCol w="727928">
                      <a:extLst>
                        <a:ext uri="{9D8B030D-6E8A-4147-A177-3AD203B41FA5}">
                          <a16:colId xmlns:a16="http://schemas.microsoft.com/office/drawing/2014/main" val="3363221118"/>
                        </a:ext>
                      </a:extLst>
                    </a:gridCol>
                    <a:gridCol w="1202552">
                      <a:extLst>
                        <a:ext uri="{9D8B030D-6E8A-4147-A177-3AD203B41FA5}">
                          <a16:colId xmlns:a16="http://schemas.microsoft.com/office/drawing/2014/main" val="2037255389"/>
                        </a:ext>
                      </a:extLst>
                    </a:gridCol>
                  </a:tblGrid>
                  <a:tr h="243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Significant effects</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396240">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b="1" dirty="0"/>
                            <a:t>Response </a:t>
                          </a:r>
                        </a:p>
                        <a:p>
                          <a:pPr algn="ctr"/>
                          <a:r>
                            <a:rPr lang="en-US" sz="10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243840">
                    <a:tc rowSpan="6">
                      <a:txBody>
                        <a:bodyPr/>
                        <a:lstStyle/>
                        <a:p>
                          <a:pPr algn="ctr"/>
                          <a:r>
                            <a:rPr lang="en-US" sz="1000" b="1" dirty="0"/>
                            <a:t>PMA rate</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i="1"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24384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.035</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24384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10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.007</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.006</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24384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243840">
                    <a:tc vMerge="1">
                      <a:txBody>
                        <a:bodyPr/>
                        <a:lstStyle/>
                        <a:p>
                          <a:endParaRPr lang="en-US"/>
                        </a:p>
                      </a:txBody>
                      <a:tcPr>
                        <a:lnT w="12700" cap="flat" cmpd="sng" algn="ctr">
                          <a:solidFill>
                            <a:schemeClr val="tx1"/>
                          </a:solidFill>
                          <a:prstDash val="solid"/>
                          <a:round/>
                          <a:headEnd type="none" w="med" len="med"/>
                          <a:tailEnd type="none" w="med" len="med"/>
                        </a:lnT>
                      </a:tcPr>
                    </a:tc>
                    <a:tc>
                      <a:txBody>
                        <a:bodyPr/>
                        <a:lstStyle/>
                        <a:p>
                          <a:endParaRPr lang="en-US"/>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9906" t="-665000" r="-206573" b="-112500"/>
                          </a:stretch>
                        </a:blipFill>
                      </a:tcPr>
                    </a:tc>
                    <a:tc>
                      <a:txBody>
                        <a:bodyPr/>
                        <a:lstStyle/>
                        <a:p>
                          <a:pPr algn="ctr"/>
                          <a:r>
                            <a:rPr lang="en-US" sz="10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4619975"/>
                      </a:ext>
                    </a:extLst>
                  </a:tr>
                  <a:tr h="24384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39906" t="-765000" r="-206573" b="-125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.034</a:t>
                          </a: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1666595"/>
                      </a:ext>
                    </a:extLst>
                  </a:tr>
                </a:tbl>
              </a:graphicData>
            </a:graphic>
          </p:graphicFrame>
        </mc:Fallback>
      </mc:AlternateContent>
      <p:pic>
        <p:nvPicPr>
          <p:cNvPr id="25" name="Picture 24">
            <a:extLst>
              <a:ext uri="{FF2B5EF4-FFF2-40B4-BE49-F238E27FC236}">
                <a16:creationId xmlns:a16="http://schemas.microsoft.com/office/drawing/2014/main" id="{9113E553-8EF1-DD85-392B-E6A122B29911}"/>
              </a:ext>
            </a:extLst>
          </p:cNvPr>
          <p:cNvPicPr>
            <a:picLocks noChangeAspect="1"/>
          </p:cNvPicPr>
          <p:nvPr/>
        </p:nvPicPr>
        <p:blipFill>
          <a:blip r:embed="rId3"/>
          <a:stretch>
            <a:fillRect/>
          </a:stretch>
        </p:blipFill>
        <p:spPr>
          <a:xfrm>
            <a:off x="6102350" y="194160"/>
            <a:ext cx="6014081" cy="1980000"/>
          </a:xfrm>
          <a:prstGeom prst="rect">
            <a:avLst/>
          </a:prstGeom>
        </p:spPr>
      </p:pic>
      <p:pic>
        <p:nvPicPr>
          <p:cNvPr id="3" name="Picture 2">
            <a:extLst>
              <a:ext uri="{FF2B5EF4-FFF2-40B4-BE49-F238E27FC236}">
                <a16:creationId xmlns:a16="http://schemas.microsoft.com/office/drawing/2014/main" id="{4E97B1E8-F857-EE44-B792-3A9076F3DA3A}"/>
              </a:ext>
            </a:extLst>
          </p:cNvPr>
          <p:cNvPicPr>
            <a:picLocks noChangeAspect="1"/>
          </p:cNvPicPr>
          <p:nvPr/>
        </p:nvPicPr>
        <p:blipFill>
          <a:blip r:embed="rId4"/>
          <a:stretch>
            <a:fillRect/>
          </a:stretch>
        </p:blipFill>
        <p:spPr>
          <a:xfrm>
            <a:off x="6111850" y="4595068"/>
            <a:ext cx="6014081" cy="1980000"/>
          </a:xfrm>
          <a:prstGeom prst="rect">
            <a:avLst/>
          </a:prstGeom>
        </p:spPr>
      </p:pic>
      <p:sp>
        <p:nvSpPr>
          <p:cNvPr id="12" name="TextBox 11">
            <a:extLst>
              <a:ext uri="{FF2B5EF4-FFF2-40B4-BE49-F238E27FC236}">
                <a16:creationId xmlns:a16="http://schemas.microsoft.com/office/drawing/2014/main" id="{083CE6EA-F988-4B63-C0B7-0E94861C10AC}"/>
              </a:ext>
            </a:extLst>
          </p:cNvPr>
          <p:cNvSpPr txBox="1"/>
          <p:nvPr/>
        </p:nvSpPr>
        <p:spPr>
          <a:xfrm>
            <a:off x="407952" y="647466"/>
            <a:ext cx="5144233" cy="2031325"/>
          </a:xfrm>
          <a:prstGeom prst="rect">
            <a:avLst/>
          </a:prstGeom>
          <a:noFill/>
        </p:spPr>
        <p:txBody>
          <a:bodyPr wrap="square" rtlCol="0">
            <a:spAutoFit/>
          </a:bodyPr>
          <a:lstStyle/>
          <a:p>
            <a:r>
              <a:rPr lang="en-US" sz="1400" b="1" dirty="0"/>
              <a:t>Full ANOVA analysis</a:t>
            </a:r>
          </a:p>
          <a:p>
            <a:endParaRPr lang="en-US" sz="1400" dirty="0"/>
          </a:p>
          <a:p>
            <a:r>
              <a:rPr lang="en-US" sz="1400" dirty="0"/>
              <a:t>We observed main effects of reward-onset timing, coherence, and time, with two interactions: coherence × time (stimulus period) and reward-onset timing × time (delay period).</a:t>
            </a:r>
          </a:p>
          <a:p>
            <a:endParaRPr lang="en-US" sz="1400" dirty="0"/>
          </a:p>
          <a:p>
            <a:r>
              <a:rPr lang="en-US" sz="1400" dirty="0">
                <a:highlight>
                  <a:srgbClr val="FFFF00"/>
                </a:highlight>
              </a:rPr>
              <a:t>In the following slide, we decomposed these effects into marginal analyses while retaining time as a within-subject factor, to simplify interpretation and facilitate visualization (with comparable results).</a:t>
            </a:r>
          </a:p>
        </p:txBody>
      </p:sp>
      <p:pic>
        <p:nvPicPr>
          <p:cNvPr id="16" name="Picture 15">
            <a:extLst>
              <a:ext uri="{FF2B5EF4-FFF2-40B4-BE49-F238E27FC236}">
                <a16:creationId xmlns:a16="http://schemas.microsoft.com/office/drawing/2014/main" id="{022E0A2D-9CA4-515B-1316-BCC2FD542F32}"/>
              </a:ext>
            </a:extLst>
          </p:cNvPr>
          <p:cNvPicPr>
            <a:picLocks noChangeAspect="1"/>
          </p:cNvPicPr>
          <p:nvPr/>
        </p:nvPicPr>
        <p:blipFill>
          <a:blip r:embed="rId5"/>
          <a:stretch>
            <a:fillRect/>
          </a:stretch>
        </p:blipFill>
        <p:spPr>
          <a:xfrm>
            <a:off x="6111850" y="2396548"/>
            <a:ext cx="6014081" cy="1980000"/>
          </a:xfrm>
          <a:prstGeom prst="rect">
            <a:avLst/>
          </a:prstGeom>
        </p:spPr>
      </p:pic>
    </p:spTree>
    <p:extLst>
      <p:ext uri="{BB962C8B-B14F-4D97-AF65-F5344CB8AC3E}">
        <p14:creationId xmlns:p14="http://schemas.microsoft.com/office/powerpoint/2010/main" val="3409937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9D72015D-D415-8170-42E7-E45FB9E09237}"/>
                  </a:ext>
                </a:extLst>
              </p:cNvPr>
              <p:cNvGraphicFramePr>
                <a:graphicFrameLocks noGrp="1"/>
              </p:cNvGraphicFramePr>
              <p:nvPr>
                <p:extLst>
                  <p:ext uri="{D42A27DB-BD31-4B8C-83A1-F6EECF244321}">
                    <p14:modId xmlns:p14="http://schemas.microsoft.com/office/powerpoint/2010/main" val="1969027416"/>
                  </p:ext>
                </p:extLst>
              </p:nvPr>
            </p:nvGraphicFramePr>
            <p:xfrm>
              <a:off x="401498" y="3704868"/>
              <a:ext cx="4956072" cy="2788920"/>
            </p:xfrm>
            <a:graphic>
              <a:graphicData uri="http://schemas.openxmlformats.org/drawingml/2006/table">
                <a:tbl>
                  <a:tblPr firstRow="1" bandRow="1">
                    <a:tableStyleId>{2D5ABB26-0587-4C30-8999-92F81FD0307C}</a:tableStyleId>
                  </a:tblPr>
                  <a:tblGrid>
                    <a:gridCol w="1062962">
                      <a:extLst>
                        <a:ext uri="{9D8B030D-6E8A-4147-A177-3AD203B41FA5}">
                          <a16:colId xmlns:a16="http://schemas.microsoft.com/office/drawing/2014/main" val="1927771626"/>
                        </a:ext>
                      </a:extLst>
                    </a:gridCol>
                    <a:gridCol w="1124637">
                      <a:extLst>
                        <a:ext uri="{9D8B030D-6E8A-4147-A177-3AD203B41FA5}">
                          <a16:colId xmlns:a16="http://schemas.microsoft.com/office/drawing/2014/main" val="1854815296"/>
                        </a:ext>
                      </a:extLst>
                    </a:gridCol>
                    <a:gridCol w="863473">
                      <a:extLst>
                        <a:ext uri="{9D8B030D-6E8A-4147-A177-3AD203B41FA5}">
                          <a16:colId xmlns:a16="http://schemas.microsoft.com/office/drawing/2014/main" val="1139802590"/>
                        </a:ext>
                      </a:extLst>
                    </a:gridCol>
                    <a:gridCol w="884630">
                      <a:extLst>
                        <a:ext uri="{9D8B030D-6E8A-4147-A177-3AD203B41FA5}">
                          <a16:colId xmlns:a16="http://schemas.microsoft.com/office/drawing/2014/main" val="3363221118"/>
                        </a:ext>
                      </a:extLst>
                    </a:gridCol>
                    <a:gridCol w="1020370">
                      <a:extLst>
                        <a:ext uri="{9D8B030D-6E8A-4147-A177-3AD203B41FA5}">
                          <a16:colId xmlns:a16="http://schemas.microsoft.com/office/drawing/2014/main" val="2037255389"/>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PMA rate </a:t>
                          </a:r>
                          <a:endParaRPr lang="en-US" sz="9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Marginal effects</a:t>
                          </a:r>
                          <a:endParaRPr lang="en-US" sz="9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Significant effects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0">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Response </a:t>
                          </a:r>
                        </a:p>
                        <a:p>
                          <a:pPr algn="ctr"/>
                          <a:r>
                            <a:rPr lang="en-US" sz="9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Coherence (A)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.028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14:m>
                            <m:oMath xmlns:m="http://schemas.openxmlformats.org/officeDocument/2006/math">
                              <m:r>
                                <a:rPr lang="fr-FR" sz="900" b="0" i="0" smtClean="0">
                                  <a:latin typeface="Cambria Math" panose="02040503050406030204" pitchFamily="18" charset="0"/>
                                  <a:ea typeface="Cambria Math" panose="02040503050406030204" pitchFamily="18" charset="0"/>
                                </a:rPr>
                                <m:t> </m:t>
                              </m:r>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.034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0">
                    <a:tc rowSpan="3">
                      <a:txBody>
                        <a:bodyPr/>
                        <a:lstStyle/>
                        <a:p>
                          <a:pPr algn="ctr"/>
                          <a:r>
                            <a:rPr lang="en-US" sz="900" b="1" dirty="0"/>
                            <a:t>Reward-onset timing (B)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t>p</a:t>
                          </a:r>
                          <a:r>
                            <a:rPr lang="en-US" sz="900" dirty="0"/>
                            <a:t> = .002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.036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366587"/>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14:m>
                            <m:oMath xmlns:m="http://schemas.openxmlformats.org/officeDocument/2006/math">
                              <m:r>
                                <a:rPr lang="fr-FR" sz="900" b="0" i="0" smtClean="0">
                                  <a:latin typeface="Cambria Math" panose="02040503050406030204" pitchFamily="18" charset="0"/>
                                  <a:ea typeface="Cambria Math" panose="02040503050406030204" pitchFamily="18" charset="0"/>
                                </a:rPr>
                                <m:t> </m:t>
                              </m:r>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478715"/>
                      </a:ext>
                    </a:extLst>
                  </a:tr>
                  <a:tr h="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Value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865163"/>
                      </a:ext>
                    </a:extLst>
                  </a:tr>
                  <a:tr h="0">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291741"/>
                      </a:ext>
                    </a:extLst>
                  </a:tr>
                  <a:tr h="0">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626133"/>
                      </a:ext>
                    </a:extLst>
                  </a:tr>
                </a:tbl>
              </a:graphicData>
            </a:graphic>
          </p:graphicFrame>
        </mc:Choice>
        <mc:Fallback>
          <p:graphicFrame>
            <p:nvGraphicFramePr>
              <p:cNvPr id="6" name="Table 5">
                <a:extLst>
                  <a:ext uri="{FF2B5EF4-FFF2-40B4-BE49-F238E27FC236}">
                    <a16:creationId xmlns:a16="http://schemas.microsoft.com/office/drawing/2014/main" id="{9D72015D-D415-8170-42E7-E45FB9E09237}"/>
                  </a:ext>
                </a:extLst>
              </p:cNvPr>
              <p:cNvGraphicFramePr>
                <a:graphicFrameLocks noGrp="1"/>
              </p:cNvGraphicFramePr>
              <p:nvPr>
                <p:extLst>
                  <p:ext uri="{D42A27DB-BD31-4B8C-83A1-F6EECF244321}">
                    <p14:modId xmlns:p14="http://schemas.microsoft.com/office/powerpoint/2010/main" val="1969027416"/>
                  </p:ext>
                </p:extLst>
              </p:nvPr>
            </p:nvGraphicFramePr>
            <p:xfrm>
              <a:off x="401498" y="3704868"/>
              <a:ext cx="4956072" cy="2788920"/>
            </p:xfrm>
            <a:graphic>
              <a:graphicData uri="http://schemas.openxmlformats.org/drawingml/2006/table">
                <a:tbl>
                  <a:tblPr firstRow="1" bandRow="1">
                    <a:tableStyleId>{2D5ABB26-0587-4C30-8999-92F81FD0307C}</a:tableStyleId>
                  </a:tblPr>
                  <a:tblGrid>
                    <a:gridCol w="1062962">
                      <a:extLst>
                        <a:ext uri="{9D8B030D-6E8A-4147-A177-3AD203B41FA5}">
                          <a16:colId xmlns:a16="http://schemas.microsoft.com/office/drawing/2014/main" val="1927771626"/>
                        </a:ext>
                      </a:extLst>
                    </a:gridCol>
                    <a:gridCol w="1124637">
                      <a:extLst>
                        <a:ext uri="{9D8B030D-6E8A-4147-A177-3AD203B41FA5}">
                          <a16:colId xmlns:a16="http://schemas.microsoft.com/office/drawing/2014/main" val="1854815296"/>
                        </a:ext>
                      </a:extLst>
                    </a:gridCol>
                    <a:gridCol w="863473">
                      <a:extLst>
                        <a:ext uri="{9D8B030D-6E8A-4147-A177-3AD203B41FA5}">
                          <a16:colId xmlns:a16="http://schemas.microsoft.com/office/drawing/2014/main" val="1139802590"/>
                        </a:ext>
                      </a:extLst>
                    </a:gridCol>
                    <a:gridCol w="884630">
                      <a:extLst>
                        <a:ext uri="{9D8B030D-6E8A-4147-A177-3AD203B41FA5}">
                          <a16:colId xmlns:a16="http://schemas.microsoft.com/office/drawing/2014/main" val="3363221118"/>
                        </a:ext>
                      </a:extLst>
                    </a:gridCol>
                    <a:gridCol w="1020370">
                      <a:extLst>
                        <a:ext uri="{9D8B030D-6E8A-4147-A177-3AD203B41FA5}">
                          <a16:colId xmlns:a16="http://schemas.microsoft.com/office/drawing/2014/main" val="2037255389"/>
                        </a:ext>
                      </a:extLst>
                    </a:gridCol>
                  </a:tblGrid>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PMA rate </a:t>
                          </a:r>
                          <a:endParaRPr lang="en-US" sz="9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Marginal effects</a:t>
                          </a:r>
                          <a:endParaRPr lang="en-US" sz="9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Significant effects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365760">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Response </a:t>
                          </a:r>
                        </a:p>
                        <a:p>
                          <a:pPr algn="ctr"/>
                          <a:r>
                            <a:rPr lang="en-US" sz="9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22860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Coherence (A)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.028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5109" t="-529730" r="-247826" b="-61891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.034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228600">
                    <a:tc rowSpan="3">
                      <a:txBody>
                        <a:bodyPr/>
                        <a:lstStyle/>
                        <a:p>
                          <a:pPr algn="ctr"/>
                          <a:r>
                            <a:rPr lang="en-US" sz="900" b="1" dirty="0"/>
                            <a:t>Reward-onset timing (B)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t>p</a:t>
                          </a:r>
                          <a:r>
                            <a:rPr lang="en-US" sz="900" dirty="0"/>
                            <a:t> = .002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.036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366587"/>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5109" t="-835135" r="-247826" b="-31351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478715"/>
                      </a:ext>
                    </a:extLst>
                  </a:tr>
                  <a:tr h="22860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Value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865163"/>
                      </a:ext>
                    </a:extLst>
                  </a:tr>
                  <a:tr h="228600">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291741"/>
                      </a:ext>
                    </a:extLst>
                  </a:tr>
                  <a:tr h="228600">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5109" t="-1107895" r="-247826" b="-7895"/>
                          </a:stretch>
                        </a:blipFill>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626133"/>
                      </a:ext>
                    </a:extLst>
                  </a:tr>
                </a:tbl>
              </a:graphicData>
            </a:graphic>
          </p:graphicFrame>
        </mc:Fallback>
      </mc:AlternateContent>
      <p:pic>
        <p:nvPicPr>
          <p:cNvPr id="16" name="Picture 15">
            <a:extLst>
              <a:ext uri="{FF2B5EF4-FFF2-40B4-BE49-F238E27FC236}">
                <a16:creationId xmlns:a16="http://schemas.microsoft.com/office/drawing/2014/main" id="{6FB6EB7B-B352-15C0-5B3C-8109CE33E7F0}"/>
              </a:ext>
            </a:extLst>
          </p:cNvPr>
          <p:cNvPicPr>
            <a:picLocks noChangeAspect="1"/>
          </p:cNvPicPr>
          <p:nvPr/>
        </p:nvPicPr>
        <p:blipFill>
          <a:blip r:embed="rId3"/>
          <a:stretch>
            <a:fillRect/>
          </a:stretch>
        </p:blipFill>
        <p:spPr>
          <a:xfrm>
            <a:off x="6105500" y="2439000"/>
            <a:ext cx="6014082" cy="1980000"/>
          </a:xfrm>
          <a:prstGeom prst="rect">
            <a:avLst/>
          </a:prstGeom>
        </p:spPr>
      </p:pic>
      <p:pic>
        <p:nvPicPr>
          <p:cNvPr id="18" name="Picture 17">
            <a:extLst>
              <a:ext uri="{FF2B5EF4-FFF2-40B4-BE49-F238E27FC236}">
                <a16:creationId xmlns:a16="http://schemas.microsoft.com/office/drawing/2014/main" id="{D3188A77-4BE6-5C28-24E2-845453EF0484}"/>
              </a:ext>
            </a:extLst>
          </p:cNvPr>
          <p:cNvPicPr>
            <a:picLocks noChangeAspect="1"/>
          </p:cNvPicPr>
          <p:nvPr/>
        </p:nvPicPr>
        <p:blipFill>
          <a:blip r:embed="rId4"/>
          <a:stretch>
            <a:fillRect/>
          </a:stretch>
        </p:blipFill>
        <p:spPr>
          <a:xfrm>
            <a:off x="6105500" y="194160"/>
            <a:ext cx="6014082" cy="1980000"/>
          </a:xfrm>
          <a:prstGeom prst="rect">
            <a:avLst/>
          </a:prstGeom>
        </p:spPr>
      </p:pic>
      <p:pic>
        <p:nvPicPr>
          <p:cNvPr id="20" name="Picture 19">
            <a:extLst>
              <a:ext uri="{FF2B5EF4-FFF2-40B4-BE49-F238E27FC236}">
                <a16:creationId xmlns:a16="http://schemas.microsoft.com/office/drawing/2014/main" id="{DB063E82-F72F-33E5-372E-4C803A629789}"/>
              </a:ext>
            </a:extLst>
          </p:cNvPr>
          <p:cNvPicPr>
            <a:picLocks noChangeAspect="1"/>
          </p:cNvPicPr>
          <p:nvPr/>
        </p:nvPicPr>
        <p:blipFill>
          <a:blip r:embed="rId5"/>
          <a:stretch>
            <a:fillRect/>
          </a:stretch>
        </p:blipFill>
        <p:spPr>
          <a:xfrm>
            <a:off x="6105500" y="4606359"/>
            <a:ext cx="6014082" cy="1980000"/>
          </a:xfrm>
          <a:prstGeom prst="rect">
            <a:avLst/>
          </a:prstGeom>
        </p:spPr>
      </p:pic>
      <p:sp>
        <p:nvSpPr>
          <p:cNvPr id="21" name="TextBox 20">
            <a:extLst>
              <a:ext uri="{FF2B5EF4-FFF2-40B4-BE49-F238E27FC236}">
                <a16:creationId xmlns:a16="http://schemas.microsoft.com/office/drawing/2014/main" id="{6F221A5A-669D-D631-C498-B5C354AF350A}"/>
              </a:ext>
            </a:extLst>
          </p:cNvPr>
          <p:cNvSpPr txBox="1"/>
          <p:nvPr/>
        </p:nvSpPr>
        <p:spPr>
          <a:xfrm>
            <a:off x="362333" y="348972"/>
            <a:ext cx="5144233" cy="2893100"/>
          </a:xfrm>
          <a:prstGeom prst="rect">
            <a:avLst/>
          </a:prstGeom>
          <a:noFill/>
        </p:spPr>
        <p:txBody>
          <a:bodyPr wrap="square" rtlCol="0">
            <a:spAutoFit/>
          </a:bodyPr>
          <a:lstStyle/>
          <a:p>
            <a:r>
              <a:rPr lang="en-US" sz="1300" b="1" dirty="0"/>
              <a:t>Marginal means</a:t>
            </a:r>
          </a:p>
          <a:p>
            <a:endParaRPr lang="en-US" sz="1300" b="1" dirty="0"/>
          </a:p>
          <a:p>
            <a:r>
              <a:rPr lang="en-US" sz="1300" dirty="0"/>
              <a:t>During the </a:t>
            </a:r>
            <a:r>
              <a:rPr lang="en-US" sz="1300" u="sng" dirty="0"/>
              <a:t>stimulus period</a:t>
            </a:r>
            <a:r>
              <a:rPr lang="en-US" sz="1300" dirty="0"/>
              <a:t>, PMA rate followed an accumulation-like pattern, with a stronger increase over time for higher coherence than for lower coherence.</a:t>
            </a:r>
          </a:p>
          <a:p>
            <a:endParaRPr lang="en-US" sz="1300" dirty="0"/>
          </a:p>
          <a:p>
            <a:r>
              <a:rPr lang="en-US" sz="1300" dirty="0"/>
              <a:t>During the </a:t>
            </a:r>
            <a:r>
              <a:rPr lang="en-US" sz="1300" u="sng" dirty="0"/>
              <a:t>delay period</a:t>
            </a:r>
            <a:r>
              <a:rPr lang="en-US" sz="1300" dirty="0"/>
              <a:t>, PMA rate followed the predictions of our model framework, showing a sustained increase over time and higher activity for high coherence trials (A). PMA rate was reduced for the RS reward-onset timing as the RS approached (B), and no difference was observed between regular and critical trials (C).</a:t>
            </a:r>
          </a:p>
          <a:p>
            <a:endParaRPr lang="en-US" sz="1300" dirty="0"/>
          </a:p>
          <a:p>
            <a:r>
              <a:rPr lang="en-US" sz="1300" dirty="0"/>
              <a:t>During the </a:t>
            </a:r>
            <a:r>
              <a:rPr lang="en-US" sz="1300" u="sng" dirty="0"/>
              <a:t>response period</a:t>
            </a:r>
            <a:r>
              <a:rPr lang="en-US" sz="1300" dirty="0"/>
              <a:t>, PMA activity showed a similar pattern to the delay period, with main effects of coherence and reward-onset timing.</a:t>
            </a:r>
          </a:p>
        </p:txBody>
      </p:sp>
      <p:sp>
        <p:nvSpPr>
          <p:cNvPr id="22" name="TextBox 21">
            <a:extLst>
              <a:ext uri="{FF2B5EF4-FFF2-40B4-BE49-F238E27FC236}">
                <a16:creationId xmlns:a16="http://schemas.microsoft.com/office/drawing/2014/main" id="{C692C5BE-BD10-8642-B41F-AADECF55C042}"/>
              </a:ext>
            </a:extLst>
          </p:cNvPr>
          <p:cNvSpPr txBox="1"/>
          <p:nvPr/>
        </p:nvSpPr>
        <p:spPr>
          <a:xfrm>
            <a:off x="5613057" y="896862"/>
            <a:ext cx="505267" cy="369332"/>
          </a:xfrm>
          <a:prstGeom prst="rect">
            <a:avLst/>
          </a:prstGeom>
          <a:noFill/>
        </p:spPr>
        <p:txBody>
          <a:bodyPr wrap="none" rtlCol="0">
            <a:spAutoFit/>
          </a:bodyPr>
          <a:lstStyle/>
          <a:p>
            <a:r>
              <a:rPr lang="en-US" dirty="0"/>
              <a:t>(A)</a:t>
            </a:r>
          </a:p>
        </p:txBody>
      </p:sp>
      <p:sp>
        <p:nvSpPr>
          <p:cNvPr id="23" name="TextBox 22">
            <a:extLst>
              <a:ext uri="{FF2B5EF4-FFF2-40B4-BE49-F238E27FC236}">
                <a16:creationId xmlns:a16="http://schemas.microsoft.com/office/drawing/2014/main" id="{09205A97-DF88-D5DC-EF92-3FFCE35370E9}"/>
              </a:ext>
            </a:extLst>
          </p:cNvPr>
          <p:cNvSpPr txBox="1"/>
          <p:nvPr/>
        </p:nvSpPr>
        <p:spPr>
          <a:xfrm>
            <a:off x="5613057" y="3072646"/>
            <a:ext cx="492443" cy="369332"/>
          </a:xfrm>
          <a:prstGeom prst="rect">
            <a:avLst/>
          </a:prstGeom>
          <a:noFill/>
        </p:spPr>
        <p:txBody>
          <a:bodyPr wrap="none" rtlCol="0">
            <a:spAutoFit/>
          </a:bodyPr>
          <a:lstStyle/>
          <a:p>
            <a:r>
              <a:rPr lang="en-US" dirty="0"/>
              <a:t>(B)</a:t>
            </a:r>
          </a:p>
        </p:txBody>
      </p:sp>
      <p:sp>
        <p:nvSpPr>
          <p:cNvPr id="24" name="TextBox 23">
            <a:extLst>
              <a:ext uri="{FF2B5EF4-FFF2-40B4-BE49-F238E27FC236}">
                <a16:creationId xmlns:a16="http://schemas.microsoft.com/office/drawing/2014/main" id="{CCF26432-B896-465F-9EEB-A5015DF450D7}"/>
              </a:ext>
            </a:extLst>
          </p:cNvPr>
          <p:cNvSpPr txBox="1"/>
          <p:nvPr/>
        </p:nvSpPr>
        <p:spPr>
          <a:xfrm>
            <a:off x="5603791" y="5279624"/>
            <a:ext cx="492443" cy="369332"/>
          </a:xfrm>
          <a:prstGeom prst="rect">
            <a:avLst/>
          </a:prstGeom>
          <a:noFill/>
        </p:spPr>
        <p:txBody>
          <a:bodyPr wrap="none" rtlCol="0">
            <a:spAutoFit/>
          </a:bodyPr>
          <a:lstStyle/>
          <a:p>
            <a:r>
              <a:rPr lang="en-US" dirty="0"/>
              <a:t>(C)</a:t>
            </a:r>
          </a:p>
        </p:txBody>
      </p:sp>
    </p:spTree>
    <p:extLst>
      <p:ext uri="{BB962C8B-B14F-4D97-AF65-F5344CB8AC3E}">
        <p14:creationId xmlns:p14="http://schemas.microsoft.com/office/powerpoint/2010/main" val="1038842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789790EA-6C81-4CD0-FBCA-571175B285C1}"/>
                  </a:ext>
                </a:extLst>
              </p:cNvPr>
              <p:cNvGraphicFramePr>
                <a:graphicFrameLocks noGrp="1"/>
              </p:cNvGraphicFramePr>
              <p:nvPr>
                <p:extLst>
                  <p:ext uri="{D42A27DB-BD31-4B8C-83A1-F6EECF244321}">
                    <p14:modId xmlns:p14="http://schemas.microsoft.com/office/powerpoint/2010/main" val="1448726430"/>
                  </p:ext>
                </p:extLst>
              </p:nvPr>
            </p:nvGraphicFramePr>
            <p:xfrm>
              <a:off x="6755998" y="1576783"/>
              <a:ext cx="4713943" cy="4218264"/>
            </p:xfrm>
            <a:graphic>
              <a:graphicData uri="http://schemas.openxmlformats.org/drawingml/2006/table">
                <a:tbl>
                  <a:tblPr firstRow="1" bandRow="1">
                    <a:tableStyleId>{2D5ABB26-0587-4C30-8999-92F81FD0307C}</a:tableStyleId>
                  </a:tblPr>
                  <a:tblGrid>
                    <a:gridCol w="891916">
                      <a:extLst>
                        <a:ext uri="{9D8B030D-6E8A-4147-A177-3AD203B41FA5}">
                          <a16:colId xmlns:a16="http://schemas.microsoft.com/office/drawing/2014/main" val="1927771626"/>
                        </a:ext>
                      </a:extLst>
                    </a:gridCol>
                    <a:gridCol w="830580">
                      <a:extLst>
                        <a:ext uri="{9D8B030D-6E8A-4147-A177-3AD203B41FA5}">
                          <a16:colId xmlns:a16="http://schemas.microsoft.com/office/drawing/2014/main" val="1854815296"/>
                        </a:ext>
                      </a:extLst>
                    </a:gridCol>
                    <a:gridCol w="807720">
                      <a:extLst>
                        <a:ext uri="{9D8B030D-6E8A-4147-A177-3AD203B41FA5}">
                          <a16:colId xmlns:a16="http://schemas.microsoft.com/office/drawing/2014/main" val="1139802590"/>
                        </a:ext>
                      </a:extLst>
                    </a:gridCol>
                    <a:gridCol w="1188720">
                      <a:extLst>
                        <a:ext uri="{9D8B030D-6E8A-4147-A177-3AD203B41FA5}">
                          <a16:colId xmlns:a16="http://schemas.microsoft.com/office/drawing/2014/main" val="3363221118"/>
                        </a:ext>
                      </a:extLst>
                    </a:gridCol>
                    <a:gridCol w="995007">
                      <a:extLst>
                        <a:ext uri="{9D8B030D-6E8A-4147-A177-3AD203B41FA5}">
                          <a16:colId xmlns:a16="http://schemas.microsoft.com/office/drawing/2014/main" val="2037255389"/>
                        </a:ext>
                      </a:extLst>
                    </a:gridCol>
                  </a:tblGrid>
                  <a:tr h="4115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PMA rate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Significant effects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411538">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Response </a:t>
                          </a:r>
                        </a:p>
                        <a:p>
                          <a:pPr algn="ctr"/>
                          <a:r>
                            <a:rPr lang="en-US" sz="9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411538">
                    <a:tc rowSpan="3">
                      <a:txBody>
                        <a:bodyPr/>
                        <a:lstStyle/>
                        <a:p>
                          <a:pPr algn="ctr"/>
                          <a:r>
                            <a:rPr lang="en-US" sz="900" b="1" dirty="0"/>
                            <a:t>Reward-onset timing </a:t>
                          </a:r>
                          <a:r>
                            <a:rPr lang="en-US" sz="900" dirty="0"/>
                            <a:t>(averaged across value and coherence)</a:t>
                          </a:r>
                        </a:p>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t>p</a:t>
                          </a:r>
                          <a:r>
                            <a:rPr lang="en-US" sz="900" dirty="0"/>
                            <a:t> = .002</a:t>
                          </a:r>
                        </a:p>
                        <a:p>
                          <a:pPr algn="ctr"/>
                          <a:r>
                            <a:rPr lang="en-US" sz="900" i="1" dirty="0"/>
                            <a:t>BF</a:t>
                          </a:r>
                          <a:r>
                            <a:rPr lang="en-US" sz="900" i="1" baseline="-25000" dirty="0"/>
                            <a:t>incl</a:t>
                          </a:r>
                          <a:r>
                            <a:rPr lang="en-US" sz="900" dirty="0"/>
                            <a:t> = 25.7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.036</a:t>
                          </a:r>
                        </a:p>
                        <a:p>
                          <a:pPr algn="ctr"/>
                          <a:r>
                            <a:rPr lang="en-US" sz="900" i="1" dirty="0"/>
                            <a:t>BF</a:t>
                          </a:r>
                          <a:r>
                            <a:rPr lang="en-US" sz="900" i="1" baseline="-25000" dirty="0"/>
                            <a:t>incl</a:t>
                          </a:r>
                          <a:r>
                            <a:rPr lang="en-US" sz="900" dirty="0"/>
                            <a:t> = 3.8</a:t>
                          </a:r>
                          <a:endParaRPr lang="en-US" sz="900" i="0" dirty="0">
                            <a:solidFill>
                              <a:schemeClr val="tx1">
                                <a:lumMod val="50000"/>
                                <a:lumOff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565</a:t>
                          </a:r>
                          <a:endPar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99</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p>
                          <a:pPr algn="ct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16</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411538">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Coherence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(averaged across value and reward)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18.4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54.9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.028</a:t>
                          </a:r>
                        </a:p>
                        <a:p>
                          <a:pPr algn="ctr"/>
                          <a:r>
                            <a:rPr lang="en-US" sz="900" i="1" dirty="0"/>
                            <a:t>BF</a:t>
                          </a:r>
                          <a:r>
                            <a:rPr lang="en-US" sz="900" i="1" baseline="-25000" dirty="0"/>
                            <a:t>incl</a:t>
                          </a:r>
                          <a:r>
                            <a:rPr lang="en-US" sz="900" dirty="0"/>
                            <a:t> = 3.77</a:t>
                          </a:r>
                          <a:endParaRPr lang="en-US" sz="900" i="0" dirty="0">
                            <a:solidFill>
                              <a:schemeClr val="tx1">
                                <a:lumMod val="50000"/>
                                <a:lumOff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366587"/>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552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99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p>
                          <a:pPr algn="ct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.034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478715"/>
                      </a:ext>
                    </a:extLst>
                  </a:tr>
                  <a:tr h="257211">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(averaged across coherence and reward)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865163"/>
                      </a:ext>
                    </a:extLst>
                  </a:tr>
                  <a:tr h="411538">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558</a:t>
                          </a:r>
                          <a:endPar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99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291741"/>
                      </a:ext>
                    </a:extLst>
                  </a:tr>
                  <a:tr h="257211">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626133"/>
                      </a:ext>
                    </a:extLst>
                  </a:tr>
                </a:tbl>
              </a:graphicData>
            </a:graphic>
          </p:graphicFrame>
        </mc:Choice>
        <mc:Fallback>
          <p:graphicFrame>
            <p:nvGraphicFramePr>
              <p:cNvPr id="2" name="Table 1">
                <a:extLst>
                  <a:ext uri="{FF2B5EF4-FFF2-40B4-BE49-F238E27FC236}">
                    <a16:creationId xmlns:a16="http://schemas.microsoft.com/office/drawing/2014/main" id="{789790EA-6C81-4CD0-FBCA-571175B285C1}"/>
                  </a:ext>
                </a:extLst>
              </p:cNvPr>
              <p:cNvGraphicFramePr>
                <a:graphicFrameLocks noGrp="1"/>
              </p:cNvGraphicFramePr>
              <p:nvPr>
                <p:extLst>
                  <p:ext uri="{D42A27DB-BD31-4B8C-83A1-F6EECF244321}">
                    <p14:modId xmlns:p14="http://schemas.microsoft.com/office/powerpoint/2010/main" val="1448726430"/>
                  </p:ext>
                </p:extLst>
              </p:nvPr>
            </p:nvGraphicFramePr>
            <p:xfrm>
              <a:off x="6755998" y="1576783"/>
              <a:ext cx="4713943" cy="4218264"/>
            </p:xfrm>
            <a:graphic>
              <a:graphicData uri="http://schemas.openxmlformats.org/drawingml/2006/table">
                <a:tbl>
                  <a:tblPr firstRow="1" bandRow="1">
                    <a:tableStyleId>{2D5ABB26-0587-4C30-8999-92F81FD0307C}</a:tableStyleId>
                  </a:tblPr>
                  <a:tblGrid>
                    <a:gridCol w="891916">
                      <a:extLst>
                        <a:ext uri="{9D8B030D-6E8A-4147-A177-3AD203B41FA5}">
                          <a16:colId xmlns:a16="http://schemas.microsoft.com/office/drawing/2014/main" val="1927771626"/>
                        </a:ext>
                      </a:extLst>
                    </a:gridCol>
                    <a:gridCol w="830580">
                      <a:extLst>
                        <a:ext uri="{9D8B030D-6E8A-4147-A177-3AD203B41FA5}">
                          <a16:colId xmlns:a16="http://schemas.microsoft.com/office/drawing/2014/main" val="1854815296"/>
                        </a:ext>
                      </a:extLst>
                    </a:gridCol>
                    <a:gridCol w="807720">
                      <a:extLst>
                        <a:ext uri="{9D8B030D-6E8A-4147-A177-3AD203B41FA5}">
                          <a16:colId xmlns:a16="http://schemas.microsoft.com/office/drawing/2014/main" val="1139802590"/>
                        </a:ext>
                      </a:extLst>
                    </a:gridCol>
                    <a:gridCol w="1188720">
                      <a:extLst>
                        <a:ext uri="{9D8B030D-6E8A-4147-A177-3AD203B41FA5}">
                          <a16:colId xmlns:a16="http://schemas.microsoft.com/office/drawing/2014/main" val="3363221118"/>
                        </a:ext>
                      </a:extLst>
                    </a:gridCol>
                    <a:gridCol w="995007">
                      <a:extLst>
                        <a:ext uri="{9D8B030D-6E8A-4147-A177-3AD203B41FA5}">
                          <a16:colId xmlns:a16="http://schemas.microsoft.com/office/drawing/2014/main" val="2037255389"/>
                        </a:ext>
                      </a:extLst>
                    </a:gridCol>
                  </a:tblGrid>
                  <a:tr h="4115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effectLst/>
                              <a:latin typeface="Times New Roman" panose="02020603050405020304" pitchFamily="18" charset="0"/>
                              <a:ea typeface="Calibri" panose="020F0502020204030204" pitchFamily="34" charset="0"/>
                              <a:cs typeface="Times New Roman" panose="02020603050405020304" pitchFamily="18" charset="0"/>
                            </a:rPr>
                            <a:t>PMA rate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Significant effects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411538">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Response </a:t>
                          </a:r>
                        </a:p>
                        <a:p>
                          <a:pPr algn="ctr"/>
                          <a:r>
                            <a:rPr lang="en-US" sz="9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411538">
                    <a:tc rowSpan="3">
                      <a:txBody>
                        <a:bodyPr/>
                        <a:lstStyle/>
                        <a:p>
                          <a:pPr algn="ctr"/>
                          <a:r>
                            <a:rPr lang="en-US" sz="900" b="1" dirty="0"/>
                            <a:t>Reward-onset timing </a:t>
                          </a:r>
                          <a:r>
                            <a:rPr lang="en-US" sz="900" dirty="0"/>
                            <a:t>(averaged across value and coherence)</a:t>
                          </a:r>
                        </a:p>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t>p</a:t>
                          </a:r>
                          <a:r>
                            <a:rPr lang="en-US" sz="900" dirty="0"/>
                            <a:t> = .002</a:t>
                          </a:r>
                        </a:p>
                        <a:p>
                          <a:pPr algn="ctr"/>
                          <a:r>
                            <a:rPr lang="en-US" sz="900" i="1" dirty="0"/>
                            <a:t>BF</a:t>
                          </a:r>
                          <a:r>
                            <a:rPr lang="en-US" sz="900" i="1" baseline="-25000" dirty="0"/>
                            <a:t>incl</a:t>
                          </a:r>
                          <a:r>
                            <a:rPr lang="en-US" sz="900" dirty="0"/>
                            <a:t> = 25.7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.036</a:t>
                          </a:r>
                        </a:p>
                        <a:p>
                          <a:pPr algn="ctr"/>
                          <a:r>
                            <a:rPr lang="en-US" sz="900" i="1" dirty="0"/>
                            <a:t>BF</a:t>
                          </a:r>
                          <a:r>
                            <a:rPr lang="en-US" sz="900" i="1" baseline="-25000" dirty="0"/>
                            <a:t>incl</a:t>
                          </a:r>
                          <a:r>
                            <a:rPr lang="en-US" sz="900" dirty="0"/>
                            <a:t> = 3.8</a:t>
                          </a:r>
                          <a:endParaRPr lang="en-US" sz="900" i="0" dirty="0">
                            <a:solidFill>
                              <a:schemeClr val="tx1">
                                <a:lumMod val="50000"/>
                                <a:lumOff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565</a:t>
                          </a:r>
                          <a:endPar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99</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6569" t="-397059" r="-359124" b="-523529"/>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16</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411538">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Coherence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(averaged across value and reward)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18.4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.006</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54.9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solidFill>
                                <a:schemeClr val="tx1"/>
                              </a:solidFill>
                            </a:rPr>
                            <a:t>p = </a:t>
                          </a:r>
                          <a:r>
                            <a:rPr lang="en-US" sz="900" i="0" dirty="0">
                              <a:solidFill>
                                <a:schemeClr val="tx1"/>
                              </a:solidFill>
                            </a:rPr>
                            <a:t>.028</a:t>
                          </a:r>
                        </a:p>
                        <a:p>
                          <a:pPr algn="ctr"/>
                          <a:r>
                            <a:rPr lang="en-US" sz="900" i="1" dirty="0"/>
                            <a:t>BF</a:t>
                          </a:r>
                          <a:r>
                            <a:rPr lang="en-US" sz="900" i="1" baseline="-25000" dirty="0"/>
                            <a:t>incl</a:t>
                          </a:r>
                          <a:r>
                            <a:rPr lang="en-US" sz="900" dirty="0"/>
                            <a:t> = 3.77</a:t>
                          </a:r>
                          <a:endParaRPr lang="en-US" sz="900" i="0" dirty="0">
                            <a:solidFill>
                              <a:schemeClr val="tx1">
                                <a:lumMod val="50000"/>
                                <a:lumOff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9366587"/>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552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99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411538">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6569" t="-695588" r="-359124" b="-225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 .034</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478715"/>
                      </a:ext>
                    </a:extLst>
                  </a:tr>
                  <a:tr h="257211">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t>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(averaged across coherence and reward)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865163"/>
                      </a:ext>
                    </a:extLst>
                  </a:tr>
                  <a:tr h="411538">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 558</a:t>
                          </a:r>
                          <a:endPar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p</a:t>
                          </a:r>
                          <a:r>
                            <a:rPr lang="en-US" sz="900" dirty="0"/>
                            <a:t> &lt; .001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t>BF</a:t>
                          </a:r>
                          <a:r>
                            <a:rPr lang="en-US" sz="900" i="1" baseline="-25000" dirty="0"/>
                            <a:t>incl</a:t>
                          </a:r>
                          <a:r>
                            <a:rPr lang="en-US" sz="900" dirty="0"/>
                            <a:t>  &gt; 10</a:t>
                          </a:r>
                          <a:r>
                            <a:rPr lang="en-US" sz="900" baseline="30000" dirty="0"/>
                            <a:t>99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291741"/>
                      </a:ext>
                    </a:extLst>
                  </a:tr>
                  <a:tr h="257211">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6569" t="-1550000" r="-359124" b="-2381"/>
                          </a:stretch>
                        </a:blipFill>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626133"/>
                      </a:ext>
                    </a:extLst>
                  </a:tr>
                </a:tbl>
              </a:graphicData>
            </a:graphic>
          </p:graphicFrame>
        </mc:Fallback>
      </mc:AlternateContent>
      <p:sp>
        <p:nvSpPr>
          <p:cNvPr id="3" name="TextBox 2">
            <a:extLst>
              <a:ext uri="{FF2B5EF4-FFF2-40B4-BE49-F238E27FC236}">
                <a16:creationId xmlns:a16="http://schemas.microsoft.com/office/drawing/2014/main" id="{F3DC7889-81DE-582C-8B0C-7875C8C2C97A}"/>
              </a:ext>
            </a:extLst>
          </p:cNvPr>
          <p:cNvSpPr txBox="1"/>
          <p:nvPr/>
        </p:nvSpPr>
        <p:spPr>
          <a:xfrm>
            <a:off x="6654398" y="902655"/>
            <a:ext cx="5080402" cy="6001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3</a:t>
            </a:r>
            <a:endParaRPr kumimoji="0" lang="en-US" altLang="en-US" sz="11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1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Significant effects </a:t>
            </a:r>
            <a:r>
              <a:rPr lang="en-US" altLang="en-US" sz="1100" i="1" dirty="0">
                <a:latin typeface="Times New Roman" panose="02020603050405020304" pitchFamily="18" charset="0"/>
                <a:ea typeface="Calibri" panose="020F0502020204030204" pitchFamily="34" charset="0"/>
                <a:cs typeface="Times New Roman" panose="02020603050405020304" pitchFamily="18" charset="0"/>
              </a:rPr>
              <a:t>from marginal mean</a:t>
            </a:r>
            <a:r>
              <a:rPr kumimoji="0" lang="en-US" altLang="en-US" sz="11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ANOVAs on partial muscle activation (PMA) rate in the electromyographic channel of the responding effector</a:t>
            </a:r>
            <a:r>
              <a:rPr lang="en-US" altLang="en-US" sz="1100" i="1" dirty="0">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across task periods</a:t>
            </a:r>
            <a:endParaRPr kumimoji="0" lang="en-US" altLang="en-US" sz="1100" b="0" i="0" u="none" strike="noStrike" cap="none" normalizeH="0" baseline="0" dirty="0">
              <a:ln>
                <a:noFill/>
              </a:ln>
              <a:solidFill>
                <a:schemeClr val="tx1"/>
              </a:solidFill>
              <a:effectLst/>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5EBD34E5-0113-4C13-6152-3FF3AA7B4507}"/>
                  </a:ext>
                </a:extLst>
              </p:cNvPr>
              <p:cNvGraphicFramePr>
                <a:graphicFrameLocks noGrp="1"/>
              </p:cNvGraphicFramePr>
              <p:nvPr>
                <p:extLst>
                  <p:ext uri="{D42A27DB-BD31-4B8C-83A1-F6EECF244321}">
                    <p14:modId xmlns:p14="http://schemas.microsoft.com/office/powerpoint/2010/main" val="3719663645"/>
                  </p:ext>
                </p:extLst>
              </p:nvPr>
            </p:nvGraphicFramePr>
            <p:xfrm>
              <a:off x="496106" y="1732655"/>
              <a:ext cx="5009344" cy="4465320"/>
            </p:xfrm>
            <a:graphic>
              <a:graphicData uri="http://schemas.openxmlformats.org/drawingml/2006/table">
                <a:tbl>
                  <a:tblPr firstRow="1" bandRow="1">
                    <a:tableStyleId>{2D5ABB26-0587-4C30-8999-92F81FD0307C}</a:tableStyleId>
                  </a:tblPr>
                  <a:tblGrid>
                    <a:gridCol w="513127">
                      <a:extLst>
                        <a:ext uri="{9D8B030D-6E8A-4147-A177-3AD203B41FA5}">
                          <a16:colId xmlns:a16="http://schemas.microsoft.com/office/drawing/2014/main" val="1927771626"/>
                        </a:ext>
                      </a:extLst>
                    </a:gridCol>
                    <a:gridCol w="2096723">
                      <a:extLst>
                        <a:ext uri="{9D8B030D-6E8A-4147-A177-3AD203B41FA5}">
                          <a16:colId xmlns:a16="http://schemas.microsoft.com/office/drawing/2014/main" val="1854815296"/>
                        </a:ext>
                      </a:extLst>
                    </a:gridCol>
                    <a:gridCol w="761194">
                      <a:extLst>
                        <a:ext uri="{9D8B030D-6E8A-4147-A177-3AD203B41FA5}">
                          <a16:colId xmlns:a16="http://schemas.microsoft.com/office/drawing/2014/main" val="1139802590"/>
                        </a:ext>
                      </a:extLst>
                    </a:gridCol>
                    <a:gridCol w="635806">
                      <a:extLst>
                        <a:ext uri="{9D8B030D-6E8A-4147-A177-3AD203B41FA5}">
                          <a16:colId xmlns:a16="http://schemas.microsoft.com/office/drawing/2014/main" val="3363221118"/>
                        </a:ext>
                      </a:extLst>
                    </a:gridCol>
                    <a:gridCol w="1002494">
                      <a:extLst>
                        <a:ext uri="{9D8B030D-6E8A-4147-A177-3AD203B41FA5}">
                          <a16:colId xmlns:a16="http://schemas.microsoft.com/office/drawing/2014/main" val="2037255389"/>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Effect tested</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0">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Response </a:t>
                          </a:r>
                        </a:p>
                        <a:p>
                          <a:pPr algn="ctr"/>
                          <a:r>
                            <a:rPr lang="en-US" sz="9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0">
                    <a:tc rowSpan="15">
                      <a:txBody>
                        <a:bodyPr/>
                        <a:lstStyle/>
                        <a:p>
                          <a:pPr algn="ctr"/>
                          <a:r>
                            <a:rPr lang="en-US" sz="900" b="1" dirty="0"/>
                            <a:t>PMA rate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.035</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.007</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.006</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478715"/>
                      </a:ext>
                    </a:extLst>
                  </a:tr>
                  <a:tr h="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oMath>
                          </a14:m>
                          <a:r>
                            <a:rPr lang="en-US" sz="900" dirty="0"/>
                            <a:t> coherence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865163"/>
                      </a:ext>
                    </a:extLst>
                  </a:tr>
                  <a:tr h="0">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14:m>
                            <m:oMath xmlns:m="http://schemas.openxmlformats.org/officeDocument/2006/math">
                              <m:r>
                                <a:rPr lang="fr-FR" sz="900" b="0" i="0" smtClean="0">
                                  <a:latin typeface="Cambria Math" panose="02040503050406030204" pitchFamily="18" charset="0"/>
                                  <a:ea typeface="Cambria Math" panose="02040503050406030204" pitchFamily="18" charset="0"/>
                                </a:rPr>
                                <m:t> </m:t>
                              </m:r>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coherence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291741"/>
                      </a:ext>
                    </a:extLst>
                  </a:tr>
                  <a:tr h="0">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value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1998976"/>
                      </a:ext>
                    </a:extLst>
                  </a:tr>
                  <a:tr h="0">
                    <a:tc vMerge="1">
                      <a:txBody>
                        <a:bodyPr/>
                        <a:lstStyle/>
                        <a:p>
                          <a:endParaRPr lang="en-US"/>
                        </a:p>
                      </a:txBody>
                      <a:tcPr/>
                    </a:tc>
                    <a:tc>
                      <a:txBody>
                        <a:bodyPr/>
                        <a:lstStyle/>
                        <a:p>
                          <a:pPr algn="l"/>
                          <a:r>
                            <a:rPr lang="en-US" sz="900" dirty="0"/>
                            <a:t>reward-onset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4619975"/>
                      </a:ext>
                    </a:extLst>
                  </a:tr>
                  <a:tr h="0">
                    <a:tc vMerge="1">
                      <a:txBody>
                        <a:bodyPr/>
                        <a:lstStyle/>
                        <a:p>
                          <a:endParaRPr lang="en-US"/>
                        </a:p>
                      </a:txBody>
                      <a:tcPr/>
                    </a:tc>
                    <a:tc>
                      <a:txBody>
                        <a:bodyPr/>
                        <a:lstStyle/>
                        <a:p>
                          <a:pPr algn="l"/>
                          <a:r>
                            <a:rPr lang="en-US" sz="900" dirty="0"/>
                            <a:t>coherence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.034</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1666595"/>
                      </a:ext>
                    </a:extLst>
                  </a:tr>
                  <a:tr h="0">
                    <a:tc vMerge="1">
                      <a:txBody>
                        <a:bodyPr/>
                        <a:lstStyle/>
                        <a:p>
                          <a:endParaRPr lang="en-US"/>
                        </a:p>
                      </a:txBody>
                      <a:tcPr/>
                    </a:tc>
                    <a:tc>
                      <a:txBody>
                        <a:bodyPr/>
                        <a:lstStyle/>
                        <a:p>
                          <a:pPr algn="l"/>
                          <a:r>
                            <a:rPr lang="en-US" sz="900" dirty="0"/>
                            <a:t>value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reward-onset </a:t>
                          </a:r>
                          <a14:m>
                            <m:oMath xmlns:m="http://schemas.openxmlformats.org/officeDocument/2006/math">
                              <m:r>
                                <a:rPr lang="en-US" sz="900" i="1" smtClean="0">
                                  <a:latin typeface="Cambria Math" panose="02040503050406030204" pitchFamily="18" charset="0"/>
                                  <a:ea typeface="Cambria Math" panose="02040503050406030204" pitchFamily="18" charset="0"/>
                                </a:rPr>
                                <m:t>×</m:t>
                              </m:r>
                            </m:oMath>
                          </a14:m>
                          <a:r>
                            <a:rPr lang="en-US" sz="900" dirty="0"/>
                            <a:t> coherence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6268705"/>
                      </a:ext>
                    </a:extLst>
                  </a:tr>
                  <a:tr h="0">
                    <a:tc vMerge="1">
                      <a:txBody>
                        <a:bodyPr/>
                        <a:lstStyle/>
                        <a:p>
                          <a:endParaRPr lang="en-US"/>
                        </a:p>
                      </a:txBody>
                      <a:tcPr/>
                    </a:tc>
                    <a:tc>
                      <a:txBody>
                        <a:bodyPr/>
                        <a:lstStyle/>
                        <a:p>
                          <a:pPr algn="l"/>
                          <a14:m>
                            <m:oMath xmlns:m="http://schemas.openxmlformats.org/officeDocument/2006/math">
                              <m:r>
                                <m:rPr>
                                  <m:nor/>
                                </m:rPr>
                                <a:rPr lang="en-US" sz="900" dirty="0" smtClean="0"/>
                                <m:t>value</m:t>
                              </m:r>
                              <m:r>
                                <m:rPr>
                                  <m:nor/>
                                </m:rPr>
                                <a:rPr lang="en-US" sz="900" dirty="0" smtClean="0"/>
                                <m:t> </m:t>
                              </m:r>
                              <m:r>
                                <a:rPr lang="en-US" sz="900" i="1" smtClean="0">
                                  <a:latin typeface="Cambria Math" panose="02040503050406030204" pitchFamily="18" charset="0"/>
                                  <a:ea typeface="Cambria Math" panose="02040503050406030204" pitchFamily="18" charset="0"/>
                                </a:rPr>
                                <m:t>×</m:t>
                              </m:r>
                              <m:r>
                                <m:rPr>
                                  <m:nor/>
                                </m:rPr>
                                <a:rPr lang="en-US" sz="900" dirty="0"/>
                                <m:t>reward</m:t>
                              </m:r>
                              <m:r>
                                <m:rPr>
                                  <m:nor/>
                                </m:rPr>
                                <a:rPr lang="fr-FR" sz="900" b="0" i="0" dirty="0" smtClean="0"/>
                                <m:t>−</m:t>
                              </m:r>
                              <m:r>
                                <m:rPr>
                                  <m:nor/>
                                </m:rPr>
                                <a:rPr lang="en-US" sz="900" dirty="0"/>
                                <m:t>onset</m:t>
                              </m:r>
                              <m:r>
                                <a:rPr lang="en-US" sz="900" i="1" smtClean="0">
                                  <a:latin typeface="Cambria Math" panose="02040503050406030204" pitchFamily="18" charset="0"/>
                                  <a:ea typeface="Cambria Math" panose="02040503050406030204" pitchFamily="18" charset="0"/>
                                </a:rPr>
                                <m:t>×</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6470676"/>
                      </a:ext>
                    </a:extLst>
                  </a:tr>
                  <a:tr h="0">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nor/>
                                </m:rPr>
                                <a:rPr lang="en-US" sz="900" dirty="0" smtClean="0"/>
                                <m:t>value</m:t>
                              </m:r>
                              <m:r>
                                <a:rPr lang="en-US" sz="900" i="1" smtClean="0">
                                  <a:latin typeface="Cambria Math" panose="02040503050406030204" pitchFamily="18" charset="0"/>
                                  <a:ea typeface="Cambria Math" panose="02040503050406030204" pitchFamily="18" charset="0"/>
                                </a:rPr>
                                <m:t>×</m:t>
                              </m:r>
                            </m:oMath>
                          </a14:m>
                          <a:r>
                            <a:rPr lang="en-US" sz="900" dirty="0"/>
                            <a:t> coherence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327293"/>
                      </a:ext>
                    </a:extLst>
                  </a:tr>
                  <a:tr h="0">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nor/>
                                </m:rPr>
                                <a:rPr lang="en-US" sz="900" dirty="0" smtClean="0"/>
                                <m:t>reward</m:t>
                              </m:r>
                              <m:r>
                                <m:rPr>
                                  <m:nor/>
                                </m:rPr>
                                <a:rPr lang="fr-FR" sz="900" b="0" i="0" dirty="0" smtClean="0"/>
                                <m:t>−</m:t>
                              </m:r>
                              <m:r>
                                <m:rPr>
                                  <m:nor/>
                                </m:rPr>
                                <a:rPr lang="en-US" sz="900" dirty="0" smtClean="0"/>
                                <m:t>onset</m:t>
                              </m:r>
                              <m:r>
                                <a:rPr lang="en-US" sz="900" i="1" smtClean="0">
                                  <a:latin typeface="Cambria Math" panose="02040503050406030204" pitchFamily="18" charset="0"/>
                                  <a:ea typeface="Cambria Math" panose="02040503050406030204" pitchFamily="18" charset="0"/>
                                </a:rPr>
                                <m:t>×</m:t>
                              </m:r>
                            </m:oMath>
                          </a14:m>
                          <a:r>
                            <a:rPr lang="en-US" sz="900" dirty="0"/>
                            <a:t> coherence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0416640"/>
                      </a:ext>
                    </a:extLst>
                  </a:tr>
                  <a:tr h="132975">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nor/>
                                </m:rPr>
                                <a:rPr lang="en-US" sz="900" dirty="0" smtClean="0"/>
                                <m:t>value</m:t>
                              </m:r>
                              <m:r>
                                <a:rPr lang="en-US" sz="900" i="1" smtClean="0">
                                  <a:latin typeface="Cambria Math" panose="02040503050406030204" pitchFamily="18" charset="0"/>
                                  <a:ea typeface="Cambria Math" panose="02040503050406030204" pitchFamily="18" charset="0"/>
                                </a:rPr>
                                <m:t>×</m:t>
                              </m:r>
                              <m:r>
                                <m:rPr>
                                  <m:nor/>
                                </m:rPr>
                                <a:rPr lang="en-US" sz="900" dirty="0" smtClean="0"/>
                                <m:t>reward</m:t>
                              </m:r>
                              <m:r>
                                <m:rPr>
                                  <m:nor/>
                                </m:rPr>
                                <a:rPr lang="fr-FR" sz="900" b="0" i="0" dirty="0" smtClean="0"/>
                                <m:t>−</m:t>
                              </m:r>
                              <m:r>
                                <m:rPr>
                                  <m:nor/>
                                </m:rPr>
                                <a:rPr lang="en-US" sz="900" dirty="0" smtClean="0"/>
                                <m:t>onset</m:t>
                              </m:r>
                              <m:r>
                                <a:rPr lang="en-US" sz="900" i="1" smtClean="0">
                                  <a:latin typeface="Cambria Math" panose="02040503050406030204" pitchFamily="18" charset="0"/>
                                  <a:ea typeface="Cambria Math" panose="02040503050406030204" pitchFamily="18" charset="0"/>
                                </a:rPr>
                                <m:t>×</m:t>
                              </m:r>
                            </m:oMath>
                          </a14:m>
                          <a:r>
                            <a:rPr lang="en-US" sz="900" dirty="0"/>
                            <a:t> coherence </a:t>
                          </a:r>
                          <a14:m>
                            <m:oMath xmlns:m="http://schemas.openxmlformats.org/officeDocument/2006/math">
                              <m:r>
                                <a:rPr lang="en-US" sz="900" i="1" smtClean="0">
                                  <a:latin typeface="Cambria Math" panose="02040503050406030204" pitchFamily="18" charset="0"/>
                                  <a:ea typeface="Cambria Math" panose="02040503050406030204" pitchFamily="18" charset="0"/>
                                </a:rPr>
                                <m:t>×</m:t>
                              </m:r>
                              <m:r>
                                <a:rPr lang="fr-FR" sz="900" b="0" i="1" smtClean="0">
                                  <a:latin typeface="Cambria Math" panose="02040503050406030204" pitchFamily="18" charset="0"/>
                                  <a:ea typeface="Cambria Math" panose="02040503050406030204" pitchFamily="18" charset="0"/>
                                </a:rPr>
                                <m:t> </m:t>
                              </m:r>
                            </m:oMath>
                          </a14:m>
                          <a:r>
                            <a:rPr lang="en-US" sz="900" dirty="0"/>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772207"/>
                      </a:ext>
                    </a:extLst>
                  </a:tr>
                  <a:tr h="0">
                    <a:tc gridSpan="5">
                      <a:txBody>
                        <a:bodyPr/>
                        <a:lstStyle/>
                        <a:p>
                          <a:pPr algn="l"/>
                          <a:r>
                            <a:rPr lang="en-US" sz="700" i="1" dirty="0"/>
                            <a:t>Note</a:t>
                          </a:r>
                          <a:r>
                            <a:rPr lang="en-US" sz="700" dirty="0"/>
                            <a:t>. Bayesian rm ANOVA including all factors (value, reward-onset, coherence, and time bin) was not conducted due to excessive computational cost and 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9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7027116"/>
                      </a:ext>
                    </a:extLst>
                  </a:tr>
                </a:tbl>
              </a:graphicData>
            </a:graphic>
          </p:graphicFrame>
        </mc:Choice>
        <mc:Fallback>
          <p:graphicFrame>
            <p:nvGraphicFramePr>
              <p:cNvPr id="4" name="Table 3">
                <a:extLst>
                  <a:ext uri="{FF2B5EF4-FFF2-40B4-BE49-F238E27FC236}">
                    <a16:creationId xmlns:a16="http://schemas.microsoft.com/office/drawing/2014/main" id="{5EBD34E5-0113-4C13-6152-3FF3AA7B4507}"/>
                  </a:ext>
                </a:extLst>
              </p:cNvPr>
              <p:cNvGraphicFramePr>
                <a:graphicFrameLocks noGrp="1"/>
              </p:cNvGraphicFramePr>
              <p:nvPr>
                <p:extLst>
                  <p:ext uri="{D42A27DB-BD31-4B8C-83A1-F6EECF244321}">
                    <p14:modId xmlns:p14="http://schemas.microsoft.com/office/powerpoint/2010/main" val="3719663645"/>
                  </p:ext>
                </p:extLst>
              </p:nvPr>
            </p:nvGraphicFramePr>
            <p:xfrm>
              <a:off x="496106" y="1732655"/>
              <a:ext cx="5009344" cy="4465320"/>
            </p:xfrm>
            <a:graphic>
              <a:graphicData uri="http://schemas.openxmlformats.org/drawingml/2006/table">
                <a:tbl>
                  <a:tblPr firstRow="1" bandRow="1">
                    <a:tableStyleId>{2D5ABB26-0587-4C30-8999-92F81FD0307C}</a:tableStyleId>
                  </a:tblPr>
                  <a:tblGrid>
                    <a:gridCol w="513127">
                      <a:extLst>
                        <a:ext uri="{9D8B030D-6E8A-4147-A177-3AD203B41FA5}">
                          <a16:colId xmlns:a16="http://schemas.microsoft.com/office/drawing/2014/main" val="1927771626"/>
                        </a:ext>
                      </a:extLst>
                    </a:gridCol>
                    <a:gridCol w="2096723">
                      <a:extLst>
                        <a:ext uri="{9D8B030D-6E8A-4147-A177-3AD203B41FA5}">
                          <a16:colId xmlns:a16="http://schemas.microsoft.com/office/drawing/2014/main" val="1854815296"/>
                        </a:ext>
                      </a:extLst>
                    </a:gridCol>
                    <a:gridCol w="761194">
                      <a:extLst>
                        <a:ext uri="{9D8B030D-6E8A-4147-A177-3AD203B41FA5}">
                          <a16:colId xmlns:a16="http://schemas.microsoft.com/office/drawing/2014/main" val="1139802590"/>
                        </a:ext>
                      </a:extLst>
                    </a:gridCol>
                    <a:gridCol w="635806">
                      <a:extLst>
                        <a:ext uri="{9D8B030D-6E8A-4147-A177-3AD203B41FA5}">
                          <a16:colId xmlns:a16="http://schemas.microsoft.com/office/drawing/2014/main" val="3363221118"/>
                        </a:ext>
                      </a:extLst>
                    </a:gridCol>
                    <a:gridCol w="1002494">
                      <a:extLst>
                        <a:ext uri="{9D8B030D-6E8A-4147-A177-3AD203B41FA5}">
                          <a16:colId xmlns:a16="http://schemas.microsoft.com/office/drawing/2014/main" val="2037255389"/>
                        </a:ext>
                      </a:extLst>
                    </a:gridCol>
                  </a:tblGrid>
                  <a:tr h="2286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Effect tested</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753054"/>
                      </a:ext>
                    </a:extLst>
                  </a:tr>
                  <a:tr h="365760">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Stimulus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Delay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dirty="0"/>
                            <a:t>Response </a:t>
                          </a:r>
                        </a:p>
                        <a:p>
                          <a:pPr algn="ctr"/>
                          <a:r>
                            <a:rPr lang="en-US" sz="900" b="1" dirty="0"/>
                            <a:t>(0-0.2s from 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037226"/>
                      </a:ext>
                    </a:extLst>
                  </a:tr>
                  <a:tr h="228600">
                    <a:tc rowSpan="15">
                      <a:txBody>
                        <a:bodyPr/>
                        <a:lstStyle/>
                        <a:p>
                          <a:pPr algn="ctr"/>
                          <a:r>
                            <a:rPr lang="en-US" sz="900" b="1" dirty="0"/>
                            <a:t>PMA rate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dirty="0">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i="1"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0682013"/>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reward-onset</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.035</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337490"/>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coherence</a:t>
                          </a: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.007</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.006</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268174"/>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.025</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985949"/>
                      </a:ext>
                    </a:extLst>
                  </a:tr>
                  <a:tr h="228600">
                    <a:tc vMerge="1">
                      <a:txBody>
                        <a:bodyPr/>
                        <a:lstStyle/>
                        <a:p>
                          <a:pPr algn="ctr"/>
                          <a:endParaRPr lang="en-US" sz="1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670270" r="-114493" b="-1216216"/>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478715"/>
                      </a:ext>
                    </a:extLst>
                  </a:tr>
                  <a:tr h="22860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750000" r="-114493" b="-1084211"/>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8865163"/>
                      </a:ext>
                    </a:extLst>
                  </a:tr>
                  <a:tr h="228600">
                    <a:tc vMerge="1">
                      <a:txBody>
                        <a:bodyPr/>
                        <a:lstStyle/>
                        <a:p>
                          <a:pPr algn="ct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872973" r="-114493" b="-1013514"/>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4291741"/>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947368" r="-114493" b="-886842"/>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1998976"/>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1075676" r="-114493" b="-810811"/>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&lt; .001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4619975"/>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1144737" r="-114493" b="-68947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9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.034</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1666595"/>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1278378" r="-114493" b="-608108"/>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6268705"/>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1342105" r="-114493" b="-492105"/>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6470676"/>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1481081" r="-114493" b="-405405"/>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327293"/>
                      </a:ext>
                    </a:extLst>
                  </a:tr>
                  <a:tr h="22860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348" t="-1539474" r="-114493" b="-294737"/>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0416640"/>
                      </a:ext>
                    </a:extLst>
                  </a:tr>
                  <a:tr h="365760">
                    <a:tc vMerge="1">
                      <a:txBody>
                        <a:bodyPr/>
                        <a:lstStyle/>
                        <a:p>
                          <a:endParaRPr lang="en-US"/>
                        </a:p>
                      </a:txBody>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4348" t="-1038333" r="-114493" b="-86667"/>
                          </a:stretch>
                        </a:blipFill>
                      </a:tcPr>
                    </a:tc>
                    <a:tc>
                      <a:txBody>
                        <a:bodyPr/>
                        <a:lstStyle/>
                        <a:p>
                          <a:pPr algn="ctr"/>
                          <a:r>
                            <a:rPr lang="en-US" sz="900" dirty="0"/>
                            <a:t>_</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_</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2772207"/>
                      </a:ext>
                    </a:extLst>
                  </a:tr>
                  <a:tr h="304800">
                    <a:tc gridSpan="5">
                      <a:txBody>
                        <a:bodyPr/>
                        <a:lstStyle/>
                        <a:p>
                          <a:pPr algn="l"/>
                          <a:r>
                            <a:rPr lang="en-US" sz="700" i="1" dirty="0"/>
                            <a:t>Note</a:t>
                          </a:r>
                          <a:r>
                            <a:rPr lang="en-US" sz="700" dirty="0"/>
                            <a:t>. Bayesian rm ANOVA including all factors (value, reward-onset, coherence, and time bin) was not conducted due to excessive computational cost and time.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9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7027116"/>
                      </a:ext>
                    </a:extLst>
                  </a:tr>
                </a:tbl>
              </a:graphicData>
            </a:graphic>
          </p:graphicFrame>
        </mc:Fallback>
      </mc:AlternateContent>
      <p:sp>
        <p:nvSpPr>
          <p:cNvPr id="8" name="TextBox 7">
            <a:extLst>
              <a:ext uri="{FF2B5EF4-FFF2-40B4-BE49-F238E27FC236}">
                <a16:creationId xmlns:a16="http://schemas.microsoft.com/office/drawing/2014/main" id="{34E498EA-1748-9CC8-26DA-F911EBD40C5B}"/>
              </a:ext>
            </a:extLst>
          </p:cNvPr>
          <p:cNvSpPr txBox="1"/>
          <p:nvPr/>
        </p:nvSpPr>
        <p:spPr>
          <a:xfrm>
            <a:off x="438150" y="900939"/>
            <a:ext cx="4737100" cy="6001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2</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Significant effects from the full ANOVAs on partial muscle activation (PMA) rate in the EMG channel of the responding effector</a:t>
            </a:r>
            <a:r>
              <a:rPr lang="en-US" altLang="en-US" sz="1100" i="1" dirty="0">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across task periods</a:t>
            </a:r>
            <a:endParaRPr kumimoji="0" lang="en-US" altLang="en-US" sz="1100" b="0" i="0" u="none" strike="noStrike" cap="none" normalizeH="0" baseline="0" dirty="0">
              <a:ln>
                <a:noFill/>
              </a:ln>
              <a:solidFill>
                <a:schemeClr val="tx1"/>
              </a:solidFill>
              <a:effectLst/>
            </a:endParaRPr>
          </a:p>
        </p:txBody>
      </p:sp>
      <p:sp>
        <p:nvSpPr>
          <p:cNvPr id="5" name="TextBox 23">
            <a:extLst>
              <a:ext uri="{FF2B5EF4-FFF2-40B4-BE49-F238E27FC236}">
                <a16:creationId xmlns:a16="http://schemas.microsoft.com/office/drawing/2014/main" id="{4D36D8D4-CC20-82BD-5345-181E68B7AD02}"/>
              </a:ext>
            </a:extLst>
          </p:cNvPr>
          <p:cNvSpPr txBox="1"/>
          <p:nvPr/>
        </p:nvSpPr>
        <p:spPr>
          <a:xfrm>
            <a:off x="196850" y="153612"/>
            <a:ext cx="1346200" cy="369332"/>
          </a:xfrm>
          <a:prstGeom prst="rect">
            <a:avLst/>
          </a:prstGeom>
          <a:noFill/>
        </p:spPr>
        <p:txBody>
          <a:bodyPr wrap="square">
            <a:spAutoFit/>
          </a:bodyPr>
          <a:lstStyle/>
          <a:p>
            <a:r>
              <a:rPr lang="en-US" sz="1800" b="1" i="1" dirty="0">
                <a:effectLst/>
                <a:latin typeface="Times New Roman" panose="02020603050405020304" pitchFamily="18" charset="0"/>
                <a:ea typeface="Calibri" panose="020F0502020204030204" pitchFamily="34" charset="0"/>
              </a:rPr>
              <a:t>Summary</a:t>
            </a:r>
            <a:endParaRPr lang="en-US" i="1" dirty="0"/>
          </a:p>
        </p:txBody>
      </p:sp>
    </p:spTree>
    <p:extLst>
      <p:ext uri="{BB962C8B-B14F-4D97-AF65-F5344CB8AC3E}">
        <p14:creationId xmlns:p14="http://schemas.microsoft.com/office/powerpoint/2010/main" val="3210748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 coins arrondis 38">
            <a:extLst>
              <a:ext uri="{FF2B5EF4-FFF2-40B4-BE49-F238E27FC236}">
                <a16:creationId xmlns:a16="http://schemas.microsoft.com/office/drawing/2014/main" id="{606BC9CF-0AA0-2FAB-5363-A488E5706F35}"/>
              </a:ext>
            </a:extLst>
          </p:cNvPr>
          <p:cNvSpPr/>
          <p:nvPr/>
        </p:nvSpPr>
        <p:spPr>
          <a:xfrm>
            <a:off x="492074" y="2367819"/>
            <a:ext cx="3312000" cy="4047456"/>
          </a:xfrm>
          <a:prstGeom prst="roundRect">
            <a:avLst>
              <a:gd name="adj" fmla="val 1532"/>
            </a:avLst>
          </a:prstGeom>
          <a:solidFill>
            <a:srgbClr val="CBB491">
              <a:alpha val="10196"/>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C74D902-A237-40EC-2DF9-DD7C4A26ED9B}"/>
              </a:ext>
            </a:extLst>
          </p:cNvPr>
          <p:cNvSpPr txBox="1"/>
          <p:nvPr/>
        </p:nvSpPr>
        <p:spPr>
          <a:xfrm>
            <a:off x="738454" y="3032940"/>
            <a:ext cx="261610"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C00000"/>
                </a:solidFill>
                <a:latin typeface="+mj-lt"/>
              </a:rPr>
              <a:t>g</a:t>
            </a:r>
          </a:p>
        </p:txBody>
      </p:sp>
      <p:cxnSp>
        <p:nvCxnSpPr>
          <p:cNvPr id="5" name="Straight Connector 9">
            <a:extLst>
              <a:ext uri="{FF2B5EF4-FFF2-40B4-BE49-F238E27FC236}">
                <a16:creationId xmlns:a16="http://schemas.microsoft.com/office/drawing/2014/main" id="{A72AC262-5BB7-5F3B-00CB-840868037342}"/>
              </a:ext>
            </a:extLst>
          </p:cNvPr>
          <p:cNvCxnSpPr>
            <a:cxnSpLocks noChangeAspect="1"/>
          </p:cNvCxnSpPr>
          <p:nvPr/>
        </p:nvCxnSpPr>
        <p:spPr>
          <a:xfrm flipV="1">
            <a:off x="1719800" y="3031301"/>
            <a:ext cx="462301" cy="621926"/>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12" name="Straight Connector 24">
            <a:extLst>
              <a:ext uri="{FF2B5EF4-FFF2-40B4-BE49-F238E27FC236}">
                <a16:creationId xmlns:a16="http://schemas.microsoft.com/office/drawing/2014/main" id="{987D0623-B018-0583-22B0-B86EC4D9890C}"/>
              </a:ext>
            </a:extLst>
          </p:cNvPr>
          <p:cNvCxnSpPr>
            <a:cxnSpLocks/>
          </p:cNvCxnSpPr>
          <p:nvPr/>
        </p:nvCxnSpPr>
        <p:spPr>
          <a:xfrm>
            <a:off x="3334107" y="2725286"/>
            <a:ext cx="0" cy="1800000"/>
          </a:xfrm>
          <a:prstGeom prst="line">
            <a:avLst/>
          </a:prstGeom>
        </p:spPr>
        <p:style>
          <a:lnRef idx="2">
            <a:schemeClr val="dk1"/>
          </a:lnRef>
          <a:fillRef idx="0">
            <a:schemeClr val="dk1"/>
          </a:fillRef>
          <a:effectRef idx="1">
            <a:schemeClr val="dk1"/>
          </a:effectRef>
          <a:fontRef idx="minor">
            <a:schemeClr val="tx1"/>
          </a:fontRef>
        </p:style>
      </p:cxnSp>
      <p:sp>
        <p:nvSpPr>
          <p:cNvPr id="13" name="TextBox 28">
            <a:extLst>
              <a:ext uri="{FF2B5EF4-FFF2-40B4-BE49-F238E27FC236}">
                <a16:creationId xmlns:a16="http://schemas.microsoft.com/office/drawing/2014/main" id="{65D71583-5FB3-8D7D-8A5D-9B69543177A0}"/>
              </a:ext>
            </a:extLst>
          </p:cNvPr>
          <p:cNvSpPr txBox="1"/>
          <p:nvPr/>
        </p:nvSpPr>
        <p:spPr>
          <a:xfrm>
            <a:off x="1312263" y="2472917"/>
            <a:ext cx="372218"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ysClr val="windowText" lastClr="000000"/>
                </a:solidFill>
                <a:latin typeface="+mj-lt"/>
              </a:rPr>
              <a:t>RS</a:t>
            </a:r>
          </a:p>
        </p:txBody>
      </p:sp>
      <p:sp>
        <p:nvSpPr>
          <p:cNvPr id="16" name="TextBox 40">
            <a:extLst>
              <a:ext uri="{FF2B5EF4-FFF2-40B4-BE49-F238E27FC236}">
                <a16:creationId xmlns:a16="http://schemas.microsoft.com/office/drawing/2014/main" id="{356A3E06-4B53-92F9-11B1-41CA41CAC477}"/>
              </a:ext>
            </a:extLst>
          </p:cNvPr>
          <p:cNvSpPr txBox="1"/>
          <p:nvPr/>
        </p:nvSpPr>
        <p:spPr>
          <a:xfrm>
            <a:off x="2937032" y="2440531"/>
            <a:ext cx="774571" cy="276999"/>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ysClr val="windowText" lastClr="000000"/>
                </a:solidFill>
                <a:latin typeface="+mj-lt"/>
              </a:rPr>
              <a:t>Response</a:t>
            </a:r>
          </a:p>
        </p:txBody>
      </p:sp>
      <p:cxnSp>
        <p:nvCxnSpPr>
          <p:cNvPr id="24" name="Straight Connector 33">
            <a:extLst>
              <a:ext uri="{FF2B5EF4-FFF2-40B4-BE49-F238E27FC236}">
                <a16:creationId xmlns:a16="http://schemas.microsoft.com/office/drawing/2014/main" id="{89FA7496-DC7F-7FE0-1608-B1F28DAE385F}"/>
              </a:ext>
            </a:extLst>
          </p:cNvPr>
          <p:cNvCxnSpPr>
            <a:cxnSpLocks/>
          </p:cNvCxnSpPr>
          <p:nvPr/>
        </p:nvCxnSpPr>
        <p:spPr>
          <a:xfrm>
            <a:off x="967201" y="3201526"/>
            <a:ext cx="1620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sp>
        <p:nvSpPr>
          <p:cNvPr id="41" name="TextBox 23">
            <a:extLst>
              <a:ext uri="{FF2B5EF4-FFF2-40B4-BE49-F238E27FC236}">
                <a16:creationId xmlns:a16="http://schemas.microsoft.com/office/drawing/2014/main" id="{9AC2C8C5-A941-E66F-D19B-CA48E716AEB6}"/>
              </a:ext>
            </a:extLst>
          </p:cNvPr>
          <p:cNvSpPr txBox="1"/>
          <p:nvPr/>
        </p:nvSpPr>
        <p:spPr>
          <a:xfrm>
            <a:off x="686742" y="4076380"/>
            <a:ext cx="611973" cy="400110"/>
          </a:xfrm>
          <a:prstGeom prst="rect">
            <a:avLst/>
          </a:prstGeom>
          <a:noFill/>
          <a:ln w="3175">
            <a:no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latin typeface="+mj-lt"/>
              </a:rPr>
              <a:t>Delay period</a:t>
            </a:r>
          </a:p>
        </p:txBody>
      </p:sp>
      <p:sp>
        <p:nvSpPr>
          <p:cNvPr id="48" name="TextBox 23">
            <a:extLst>
              <a:ext uri="{FF2B5EF4-FFF2-40B4-BE49-F238E27FC236}">
                <a16:creationId xmlns:a16="http://schemas.microsoft.com/office/drawing/2014/main" id="{D2C5D6D1-7878-F9F2-FC9E-B2DDFFCA74E1}"/>
              </a:ext>
            </a:extLst>
          </p:cNvPr>
          <p:cNvSpPr txBox="1"/>
          <p:nvPr/>
        </p:nvSpPr>
        <p:spPr>
          <a:xfrm>
            <a:off x="492074" y="1734601"/>
            <a:ext cx="3312000" cy="58477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latin typeface="+mj-lt"/>
              </a:rPr>
              <a:t>(A) </a:t>
            </a:r>
          </a:p>
          <a:p>
            <a:pPr algn="ctr"/>
            <a:r>
              <a:rPr lang="en-US" sz="1600" dirty="0">
                <a:latin typeface="+mj-lt"/>
              </a:rPr>
              <a:t>Stimulus discriminability</a:t>
            </a:r>
          </a:p>
        </p:txBody>
      </p:sp>
      <p:cxnSp>
        <p:nvCxnSpPr>
          <p:cNvPr id="96" name="Straight Connector 24">
            <a:extLst>
              <a:ext uri="{FF2B5EF4-FFF2-40B4-BE49-F238E27FC236}">
                <a16:creationId xmlns:a16="http://schemas.microsoft.com/office/drawing/2014/main" id="{1793D9E6-A0C7-700D-8D55-B5DB25184AB0}"/>
              </a:ext>
            </a:extLst>
          </p:cNvPr>
          <p:cNvCxnSpPr>
            <a:cxnSpLocks/>
          </p:cNvCxnSpPr>
          <p:nvPr/>
        </p:nvCxnSpPr>
        <p:spPr>
          <a:xfrm>
            <a:off x="1488207" y="2725286"/>
            <a:ext cx="0" cy="1800000"/>
          </a:xfrm>
          <a:prstGeom prst="line">
            <a:avLst/>
          </a:prstGeom>
        </p:spPr>
        <p:style>
          <a:lnRef idx="2">
            <a:schemeClr val="dk1"/>
          </a:lnRef>
          <a:fillRef idx="0">
            <a:schemeClr val="dk1"/>
          </a:fillRef>
          <a:effectRef idx="1">
            <a:schemeClr val="dk1"/>
          </a:effectRef>
          <a:fontRef idx="minor">
            <a:schemeClr val="tx1"/>
          </a:fontRef>
        </p:style>
      </p:cxnSp>
      <p:grpSp>
        <p:nvGrpSpPr>
          <p:cNvPr id="181" name="Groupe 180">
            <a:extLst>
              <a:ext uri="{FF2B5EF4-FFF2-40B4-BE49-F238E27FC236}">
                <a16:creationId xmlns:a16="http://schemas.microsoft.com/office/drawing/2014/main" id="{5491AC94-A4EF-AD1D-5D31-9E77CFA6B05B}"/>
              </a:ext>
            </a:extLst>
          </p:cNvPr>
          <p:cNvGrpSpPr/>
          <p:nvPr/>
        </p:nvGrpSpPr>
        <p:grpSpPr>
          <a:xfrm>
            <a:off x="651351" y="3967072"/>
            <a:ext cx="1056889" cy="4"/>
            <a:chOff x="379750" y="2690894"/>
            <a:chExt cx="1056889" cy="4"/>
          </a:xfrm>
        </p:grpSpPr>
        <p:cxnSp>
          <p:nvCxnSpPr>
            <p:cNvPr id="20" name="Straight Connector 29">
              <a:extLst>
                <a:ext uri="{FF2B5EF4-FFF2-40B4-BE49-F238E27FC236}">
                  <a16:creationId xmlns:a16="http://schemas.microsoft.com/office/drawing/2014/main" id="{7D527605-E8F6-D61B-5FEF-ECB4752A69D2}"/>
                </a:ext>
              </a:extLst>
            </p:cNvPr>
            <p:cNvCxnSpPr>
              <a:cxnSpLocks/>
            </p:cNvCxnSpPr>
            <p:nvPr/>
          </p:nvCxnSpPr>
          <p:spPr>
            <a:xfrm flipH="1" flipV="1">
              <a:off x="572639" y="2690898"/>
              <a:ext cx="864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99" name="Straight Connector 29">
              <a:extLst>
                <a:ext uri="{FF2B5EF4-FFF2-40B4-BE49-F238E27FC236}">
                  <a16:creationId xmlns:a16="http://schemas.microsoft.com/office/drawing/2014/main" id="{B3764288-0D88-DD4F-85B2-352A60FEE151}"/>
                </a:ext>
              </a:extLst>
            </p:cNvPr>
            <p:cNvCxnSpPr>
              <a:cxnSpLocks/>
            </p:cNvCxnSpPr>
            <p:nvPr/>
          </p:nvCxnSpPr>
          <p:spPr>
            <a:xfrm flipH="1" flipV="1">
              <a:off x="501994" y="2690896"/>
              <a:ext cx="18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101" name="Straight Connector 29">
              <a:extLst>
                <a:ext uri="{FF2B5EF4-FFF2-40B4-BE49-F238E27FC236}">
                  <a16:creationId xmlns:a16="http://schemas.microsoft.com/office/drawing/2014/main" id="{F60896DB-4A88-EDDB-C833-66960B4CEF10}"/>
                </a:ext>
              </a:extLst>
            </p:cNvPr>
            <p:cNvCxnSpPr>
              <a:cxnSpLocks/>
            </p:cNvCxnSpPr>
            <p:nvPr/>
          </p:nvCxnSpPr>
          <p:spPr>
            <a:xfrm flipH="1" flipV="1">
              <a:off x="432933" y="2690895"/>
              <a:ext cx="18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103" name="Straight Connector 29">
              <a:extLst>
                <a:ext uri="{FF2B5EF4-FFF2-40B4-BE49-F238E27FC236}">
                  <a16:creationId xmlns:a16="http://schemas.microsoft.com/office/drawing/2014/main" id="{643C515C-0639-C19E-43C5-CD8885608591}"/>
                </a:ext>
              </a:extLst>
            </p:cNvPr>
            <p:cNvCxnSpPr>
              <a:cxnSpLocks/>
            </p:cNvCxnSpPr>
            <p:nvPr/>
          </p:nvCxnSpPr>
          <p:spPr>
            <a:xfrm flipH="1" flipV="1">
              <a:off x="379750" y="2690894"/>
              <a:ext cx="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grpSp>
      <p:sp>
        <p:nvSpPr>
          <p:cNvPr id="106" name="Rectangle : coins arrondis 105">
            <a:extLst>
              <a:ext uri="{FF2B5EF4-FFF2-40B4-BE49-F238E27FC236}">
                <a16:creationId xmlns:a16="http://schemas.microsoft.com/office/drawing/2014/main" id="{B4879631-0105-3E2C-D56F-8E64D3D871E7}"/>
              </a:ext>
            </a:extLst>
          </p:cNvPr>
          <p:cNvSpPr/>
          <p:nvPr/>
        </p:nvSpPr>
        <p:spPr>
          <a:xfrm>
            <a:off x="4437457" y="2367819"/>
            <a:ext cx="3312000" cy="4047456"/>
          </a:xfrm>
          <a:prstGeom prst="roundRect">
            <a:avLst>
              <a:gd name="adj" fmla="val 1292"/>
            </a:avLst>
          </a:prstGeom>
          <a:solidFill>
            <a:srgbClr val="CBB491">
              <a:alpha val="10196"/>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9">
            <a:extLst>
              <a:ext uri="{FF2B5EF4-FFF2-40B4-BE49-F238E27FC236}">
                <a16:creationId xmlns:a16="http://schemas.microsoft.com/office/drawing/2014/main" id="{9C69C304-5486-818A-AEDC-035E4A796024}"/>
              </a:ext>
            </a:extLst>
          </p:cNvPr>
          <p:cNvCxnSpPr>
            <a:cxnSpLocks/>
          </p:cNvCxnSpPr>
          <p:nvPr/>
        </p:nvCxnSpPr>
        <p:spPr>
          <a:xfrm flipV="1">
            <a:off x="5589348" y="2974988"/>
            <a:ext cx="679785" cy="914503"/>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09" name="Straight Arrow Connector 11">
            <a:extLst>
              <a:ext uri="{FF2B5EF4-FFF2-40B4-BE49-F238E27FC236}">
                <a16:creationId xmlns:a16="http://schemas.microsoft.com/office/drawing/2014/main" id="{53F151F7-FE51-9ABD-EF56-63B1EF018C09}"/>
              </a:ext>
            </a:extLst>
          </p:cNvPr>
          <p:cNvCxnSpPr/>
          <p:nvPr/>
        </p:nvCxnSpPr>
        <p:spPr>
          <a:xfrm>
            <a:off x="5376147" y="4295329"/>
            <a:ext cx="1044000" cy="0"/>
          </a:xfrm>
          <a:prstGeom prst="straightConnector1">
            <a:avLst/>
          </a:prstGeom>
          <a:ln>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2">
            <a:extLst>
              <a:ext uri="{FF2B5EF4-FFF2-40B4-BE49-F238E27FC236}">
                <a16:creationId xmlns:a16="http://schemas.microsoft.com/office/drawing/2014/main" id="{83BCC6C7-3829-CB84-F28C-FD00A079E536}"/>
              </a:ext>
            </a:extLst>
          </p:cNvPr>
          <p:cNvCxnSpPr/>
          <p:nvPr/>
        </p:nvCxnSpPr>
        <p:spPr>
          <a:xfrm flipV="1">
            <a:off x="7195000" y="4187817"/>
            <a:ext cx="180000" cy="6567"/>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1" name="Straight Arrow Connector 18">
            <a:extLst>
              <a:ext uri="{FF2B5EF4-FFF2-40B4-BE49-F238E27FC236}">
                <a16:creationId xmlns:a16="http://schemas.microsoft.com/office/drawing/2014/main" id="{01D2F20E-1876-8F97-8AA1-70B121256082}"/>
              </a:ext>
            </a:extLst>
          </p:cNvPr>
          <p:cNvCxnSpPr/>
          <p:nvPr/>
        </p:nvCxnSpPr>
        <p:spPr>
          <a:xfrm>
            <a:off x="5373278" y="4189115"/>
            <a:ext cx="720000"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2" name="Straight Arrow Connector 19">
            <a:extLst>
              <a:ext uri="{FF2B5EF4-FFF2-40B4-BE49-F238E27FC236}">
                <a16:creationId xmlns:a16="http://schemas.microsoft.com/office/drawing/2014/main" id="{94637429-3109-2542-6F2A-E2D0E3635FE7}"/>
              </a:ext>
            </a:extLst>
          </p:cNvPr>
          <p:cNvCxnSpPr/>
          <p:nvPr/>
        </p:nvCxnSpPr>
        <p:spPr>
          <a:xfrm>
            <a:off x="7087944" y="4291928"/>
            <a:ext cx="288000" cy="0"/>
          </a:xfrm>
          <a:prstGeom prst="straightConnector1">
            <a:avLst/>
          </a:prstGeom>
          <a:ln>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3" name="TextBox 29">
            <a:extLst>
              <a:ext uri="{FF2B5EF4-FFF2-40B4-BE49-F238E27FC236}">
                <a16:creationId xmlns:a16="http://schemas.microsoft.com/office/drawing/2014/main" id="{EE582203-6261-DE44-3A75-08AFFF0EF7CB}"/>
              </a:ext>
            </a:extLst>
          </p:cNvPr>
          <p:cNvSpPr txBox="1"/>
          <p:nvPr/>
        </p:nvSpPr>
        <p:spPr>
          <a:xfrm>
            <a:off x="5337159" y="4333066"/>
            <a:ext cx="90120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rgbClr val="000000"/>
                </a:solidFill>
                <a:latin typeface="+mj-lt"/>
              </a:rPr>
              <a:t>mean PMET</a:t>
            </a:r>
          </a:p>
        </p:txBody>
      </p:sp>
      <p:cxnSp>
        <p:nvCxnSpPr>
          <p:cNvPr id="114" name="Straight Connector 24">
            <a:extLst>
              <a:ext uri="{FF2B5EF4-FFF2-40B4-BE49-F238E27FC236}">
                <a16:creationId xmlns:a16="http://schemas.microsoft.com/office/drawing/2014/main" id="{75F09AC0-2B87-1F11-84E4-97E7E76DEB20}"/>
              </a:ext>
            </a:extLst>
          </p:cNvPr>
          <p:cNvCxnSpPr>
            <a:cxnSpLocks/>
          </p:cNvCxnSpPr>
          <p:nvPr/>
        </p:nvCxnSpPr>
        <p:spPr>
          <a:xfrm>
            <a:off x="7381090" y="2725286"/>
            <a:ext cx="0" cy="1800000"/>
          </a:xfrm>
          <a:prstGeom prst="line">
            <a:avLst/>
          </a:prstGeom>
        </p:spPr>
        <p:style>
          <a:lnRef idx="2">
            <a:schemeClr val="dk1"/>
          </a:lnRef>
          <a:fillRef idx="0">
            <a:schemeClr val="dk1"/>
          </a:fillRef>
          <a:effectRef idx="1">
            <a:schemeClr val="dk1"/>
          </a:effectRef>
          <a:fontRef idx="minor">
            <a:schemeClr val="tx1"/>
          </a:fontRef>
        </p:style>
      </p:cxnSp>
      <p:sp>
        <p:nvSpPr>
          <p:cNvPr id="115" name="TextBox 28">
            <a:extLst>
              <a:ext uri="{FF2B5EF4-FFF2-40B4-BE49-F238E27FC236}">
                <a16:creationId xmlns:a16="http://schemas.microsoft.com/office/drawing/2014/main" id="{C4315F56-B724-1DBF-6766-5BB64BDA0D1E}"/>
              </a:ext>
            </a:extLst>
          </p:cNvPr>
          <p:cNvSpPr txBox="1"/>
          <p:nvPr/>
        </p:nvSpPr>
        <p:spPr>
          <a:xfrm>
            <a:off x="5182716" y="2472917"/>
            <a:ext cx="372218"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ysClr val="windowText" lastClr="000000"/>
                </a:solidFill>
                <a:latin typeface="+mj-lt"/>
              </a:rPr>
              <a:t>RS</a:t>
            </a:r>
          </a:p>
        </p:txBody>
      </p:sp>
      <p:sp>
        <p:nvSpPr>
          <p:cNvPr id="116" name="TextBox 40">
            <a:extLst>
              <a:ext uri="{FF2B5EF4-FFF2-40B4-BE49-F238E27FC236}">
                <a16:creationId xmlns:a16="http://schemas.microsoft.com/office/drawing/2014/main" id="{F87D80F3-8F15-7C71-F749-CBEF389B64D0}"/>
              </a:ext>
            </a:extLst>
          </p:cNvPr>
          <p:cNvSpPr txBox="1"/>
          <p:nvPr/>
        </p:nvSpPr>
        <p:spPr>
          <a:xfrm>
            <a:off x="6984015" y="2440531"/>
            <a:ext cx="774571" cy="276999"/>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ysClr val="windowText" lastClr="000000"/>
                </a:solidFill>
                <a:latin typeface="+mj-lt"/>
              </a:rPr>
              <a:t>Response</a:t>
            </a:r>
          </a:p>
        </p:txBody>
      </p:sp>
      <p:cxnSp>
        <p:nvCxnSpPr>
          <p:cNvPr id="117" name="Straight Connector 1">
            <a:extLst>
              <a:ext uri="{FF2B5EF4-FFF2-40B4-BE49-F238E27FC236}">
                <a16:creationId xmlns:a16="http://schemas.microsoft.com/office/drawing/2014/main" id="{F8B56F33-893B-DA20-5F43-7730EF3304A4}"/>
              </a:ext>
            </a:extLst>
          </p:cNvPr>
          <p:cNvCxnSpPr>
            <a:cxnSpLocks noChangeAspect="1"/>
          </p:cNvCxnSpPr>
          <p:nvPr/>
        </p:nvCxnSpPr>
        <p:spPr>
          <a:xfrm flipV="1">
            <a:off x="5598368" y="2988914"/>
            <a:ext cx="1068896" cy="937503"/>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118" name="Straight Connector 29">
            <a:extLst>
              <a:ext uri="{FF2B5EF4-FFF2-40B4-BE49-F238E27FC236}">
                <a16:creationId xmlns:a16="http://schemas.microsoft.com/office/drawing/2014/main" id="{FD0DE666-5A34-93B1-4856-B0381730C347}"/>
              </a:ext>
            </a:extLst>
          </p:cNvPr>
          <p:cNvCxnSpPr>
            <a:cxnSpLocks/>
          </p:cNvCxnSpPr>
          <p:nvPr/>
        </p:nvCxnSpPr>
        <p:spPr>
          <a:xfrm flipH="1" flipV="1">
            <a:off x="4723762" y="3889491"/>
            <a:ext cx="864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19" name="Straight Connector 31">
            <a:extLst>
              <a:ext uri="{FF2B5EF4-FFF2-40B4-BE49-F238E27FC236}">
                <a16:creationId xmlns:a16="http://schemas.microsoft.com/office/drawing/2014/main" id="{9CA0F8A3-B16C-0B8A-DE53-5DD8D6D5AC3A}"/>
              </a:ext>
            </a:extLst>
          </p:cNvPr>
          <p:cNvCxnSpPr>
            <a:cxnSpLocks/>
          </p:cNvCxnSpPr>
          <p:nvPr/>
        </p:nvCxnSpPr>
        <p:spPr>
          <a:xfrm flipH="1">
            <a:off x="4726146" y="3926528"/>
            <a:ext cx="86400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sp>
        <p:nvSpPr>
          <p:cNvPr id="120" name="TextBox 29">
            <a:extLst>
              <a:ext uri="{FF2B5EF4-FFF2-40B4-BE49-F238E27FC236}">
                <a16:creationId xmlns:a16="http://schemas.microsoft.com/office/drawing/2014/main" id="{ECEFF182-C376-37E5-CC65-6C166F111FE1}"/>
              </a:ext>
            </a:extLst>
          </p:cNvPr>
          <p:cNvSpPr txBox="1"/>
          <p:nvPr/>
        </p:nvSpPr>
        <p:spPr>
          <a:xfrm>
            <a:off x="6627967" y="4333066"/>
            <a:ext cx="822661"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dirty="0">
                <a:solidFill>
                  <a:srgbClr val="000000"/>
                </a:solidFill>
                <a:latin typeface="+mj-lt"/>
              </a:rPr>
              <a:t>mean MET</a:t>
            </a:r>
          </a:p>
        </p:txBody>
      </p:sp>
      <p:cxnSp>
        <p:nvCxnSpPr>
          <p:cNvPr id="122" name="Straight Connector 9">
            <a:extLst>
              <a:ext uri="{FF2B5EF4-FFF2-40B4-BE49-F238E27FC236}">
                <a16:creationId xmlns:a16="http://schemas.microsoft.com/office/drawing/2014/main" id="{7931F9BA-6299-AA98-DB06-C501957D64C5}"/>
              </a:ext>
            </a:extLst>
          </p:cNvPr>
          <p:cNvCxnSpPr>
            <a:cxnSpLocks noChangeAspect="1"/>
          </p:cNvCxnSpPr>
          <p:nvPr/>
        </p:nvCxnSpPr>
        <p:spPr>
          <a:xfrm flipV="1">
            <a:off x="7218302" y="2972607"/>
            <a:ext cx="157748" cy="212215"/>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sp>
        <p:nvSpPr>
          <p:cNvPr id="125" name="TextBox 23">
            <a:extLst>
              <a:ext uri="{FF2B5EF4-FFF2-40B4-BE49-F238E27FC236}">
                <a16:creationId xmlns:a16="http://schemas.microsoft.com/office/drawing/2014/main" id="{F5BA6B53-8EAA-98BF-D292-E7C151EBEABC}"/>
              </a:ext>
            </a:extLst>
          </p:cNvPr>
          <p:cNvSpPr txBox="1"/>
          <p:nvPr/>
        </p:nvSpPr>
        <p:spPr>
          <a:xfrm>
            <a:off x="4563545" y="4069940"/>
            <a:ext cx="611973" cy="400110"/>
          </a:xfrm>
          <a:prstGeom prst="rect">
            <a:avLst/>
          </a:prstGeom>
          <a:noFill/>
          <a:ln w="3175">
            <a:no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latin typeface="+mj-lt"/>
              </a:rPr>
              <a:t>Delay period</a:t>
            </a:r>
          </a:p>
        </p:txBody>
      </p:sp>
      <p:sp>
        <p:nvSpPr>
          <p:cNvPr id="127" name="TextBox 23">
            <a:extLst>
              <a:ext uri="{FF2B5EF4-FFF2-40B4-BE49-F238E27FC236}">
                <a16:creationId xmlns:a16="http://schemas.microsoft.com/office/drawing/2014/main" id="{CD3F7BDE-F177-0D74-4C94-99F993BDAF4B}"/>
              </a:ext>
            </a:extLst>
          </p:cNvPr>
          <p:cNvSpPr txBox="1"/>
          <p:nvPr/>
        </p:nvSpPr>
        <p:spPr>
          <a:xfrm>
            <a:off x="4417264" y="1749727"/>
            <a:ext cx="3312001" cy="58477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latin typeface="+mj-lt"/>
              </a:rPr>
              <a:t>(B) </a:t>
            </a:r>
          </a:p>
          <a:p>
            <a:pPr algn="ctr"/>
            <a:r>
              <a:rPr lang="en-US" sz="1600" dirty="0"/>
              <a:t>Trial value</a:t>
            </a:r>
          </a:p>
        </p:txBody>
      </p:sp>
      <p:cxnSp>
        <p:nvCxnSpPr>
          <p:cNvPr id="128" name="Straight Connector 24">
            <a:extLst>
              <a:ext uri="{FF2B5EF4-FFF2-40B4-BE49-F238E27FC236}">
                <a16:creationId xmlns:a16="http://schemas.microsoft.com/office/drawing/2014/main" id="{9B410BFD-78C8-A089-D387-924AF9759D1E}"/>
              </a:ext>
            </a:extLst>
          </p:cNvPr>
          <p:cNvCxnSpPr>
            <a:cxnSpLocks/>
          </p:cNvCxnSpPr>
          <p:nvPr/>
        </p:nvCxnSpPr>
        <p:spPr>
          <a:xfrm>
            <a:off x="5365010" y="2725286"/>
            <a:ext cx="0" cy="180000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29">
            <a:extLst>
              <a:ext uri="{FF2B5EF4-FFF2-40B4-BE49-F238E27FC236}">
                <a16:creationId xmlns:a16="http://schemas.microsoft.com/office/drawing/2014/main" id="{B9593258-4961-A7C4-732D-78E210CDBD99}"/>
              </a:ext>
            </a:extLst>
          </p:cNvPr>
          <p:cNvCxnSpPr>
            <a:cxnSpLocks/>
          </p:cNvCxnSpPr>
          <p:nvPr/>
        </p:nvCxnSpPr>
        <p:spPr>
          <a:xfrm flipH="1" flipV="1">
            <a:off x="4653117" y="3889489"/>
            <a:ext cx="18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30" name="Straight Connector 31">
            <a:extLst>
              <a:ext uri="{FF2B5EF4-FFF2-40B4-BE49-F238E27FC236}">
                <a16:creationId xmlns:a16="http://schemas.microsoft.com/office/drawing/2014/main" id="{9AFC3BDE-7319-1D4E-8F92-8C28F8330355}"/>
              </a:ext>
            </a:extLst>
          </p:cNvPr>
          <p:cNvCxnSpPr>
            <a:cxnSpLocks/>
          </p:cNvCxnSpPr>
          <p:nvPr/>
        </p:nvCxnSpPr>
        <p:spPr>
          <a:xfrm flipH="1">
            <a:off x="4652326" y="3926526"/>
            <a:ext cx="1800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131" name="Straight Connector 29">
            <a:extLst>
              <a:ext uri="{FF2B5EF4-FFF2-40B4-BE49-F238E27FC236}">
                <a16:creationId xmlns:a16="http://schemas.microsoft.com/office/drawing/2014/main" id="{C25CEDDA-AC89-B55A-C204-68A9D84B04E4}"/>
              </a:ext>
            </a:extLst>
          </p:cNvPr>
          <p:cNvCxnSpPr>
            <a:cxnSpLocks/>
          </p:cNvCxnSpPr>
          <p:nvPr/>
        </p:nvCxnSpPr>
        <p:spPr>
          <a:xfrm flipH="1" flipV="1">
            <a:off x="4584056" y="3889488"/>
            <a:ext cx="18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32" name="Straight Connector 31">
            <a:extLst>
              <a:ext uri="{FF2B5EF4-FFF2-40B4-BE49-F238E27FC236}">
                <a16:creationId xmlns:a16="http://schemas.microsoft.com/office/drawing/2014/main" id="{217DECAD-A68F-E856-08F4-ACBA0E228883}"/>
              </a:ext>
            </a:extLst>
          </p:cNvPr>
          <p:cNvCxnSpPr>
            <a:cxnSpLocks/>
          </p:cNvCxnSpPr>
          <p:nvPr/>
        </p:nvCxnSpPr>
        <p:spPr>
          <a:xfrm flipH="1">
            <a:off x="4583265" y="3926525"/>
            <a:ext cx="1800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133" name="Straight Connector 29">
            <a:extLst>
              <a:ext uri="{FF2B5EF4-FFF2-40B4-BE49-F238E27FC236}">
                <a16:creationId xmlns:a16="http://schemas.microsoft.com/office/drawing/2014/main" id="{E57E101B-AADF-B60C-87F7-D7FC0199F808}"/>
              </a:ext>
            </a:extLst>
          </p:cNvPr>
          <p:cNvCxnSpPr>
            <a:cxnSpLocks/>
          </p:cNvCxnSpPr>
          <p:nvPr/>
        </p:nvCxnSpPr>
        <p:spPr>
          <a:xfrm flipH="1" flipV="1">
            <a:off x="4530873" y="3889487"/>
            <a:ext cx="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34" name="Straight Connector 31">
            <a:extLst>
              <a:ext uri="{FF2B5EF4-FFF2-40B4-BE49-F238E27FC236}">
                <a16:creationId xmlns:a16="http://schemas.microsoft.com/office/drawing/2014/main" id="{57052280-EFC5-30EE-C603-ACF57D8A225A}"/>
              </a:ext>
            </a:extLst>
          </p:cNvPr>
          <p:cNvCxnSpPr>
            <a:cxnSpLocks/>
          </p:cNvCxnSpPr>
          <p:nvPr/>
        </p:nvCxnSpPr>
        <p:spPr>
          <a:xfrm flipH="1">
            <a:off x="4533257" y="3926524"/>
            <a:ext cx="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sp>
        <p:nvSpPr>
          <p:cNvPr id="136" name="Rectangle : coins arrondis 135">
            <a:extLst>
              <a:ext uri="{FF2B5EF4-FFF2-40B4-BE49-F238E27FC236}">
                <a16:creationId xmlns:a16="http://schemas.microsoft.com/office/drawing/2014/main" id="{E251B3C7-048D-035D-C770-52848E721B46}"/>
              </a:ext>
            </a:extLst>
          </p:cNvPr>
          <p:cNvSpPr/>
          <p:nvPr/>
        </p:nvSpPr>
        <p:spPr>
          <a:xfrm>
            <a:off x="8361885" y="2372659"/>
            <a:ext cx="3312000" cy="4047456"/>
          </a:xfrm>
          <a:prstGeom prst="roundRect">
            <a:avLst>
              <a:gd name="adj" fmla="val 1292"/>
            </a:avLst>
          </a:prstGeom>
          <a:solidFill>
            <a:srgbClr val="CBB491">
              <a:alpha val="10196"/>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3">
            <a:extLst>
              <a:ext uri="{FF2B5EF4-FFF2-40B4-BE49-F238E27FC236}">
                <a16:creationId xmlns:a16="http://schemas.microsoft.com/office/drawing/2014/main" id="{29D9C084-F951-61DD-EA3C-20B39F4A147A}"/>
              </a:ext>
            </a:extLst>
          </p:cNvPr>
          <p:cNvSpPr txBox="1"/>
          <p:nvPr/>
        </p:nvSpPr>
        <p:spPr>
          <a:xfrm>
            <a:off x="8653840" y="3022402"/>
            <a:ext cx="261610"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C00000"/>
                </a:solidFill>
                <a:latin typeface="+mj-lt"/>
              </a:rPr>
              <a:t>g</a:t>
            </a:r>
          </a:p>
        </p:txBody>
      </p:sp>
      <p:cxnSp>
        <p:nvCxnSpPr>
          <p:cNvPr id="138" name="Straight Connector 9">
            <a:extLst>
              <a:ext uri="{FF2B5EF4-FFF2-40B4-BE49-F238E27FC236}">
                <a16:creationId xmlns:a16="http://schemas.microsoft.com/office/drawing/2014/main" id="{8AADB320-788B-3592-BE75-1296DC5F5CE8}"/>
              </a:ext>
            </a:extLst>
          </p:cNvPr>
          <p:cNvCxnSpPr>
            <a:cxnSpLocks noChangeAspect="1"/>
          </p:cNvCxnSpPr>
          <p:nvPr/>
        </p:nvCxnSpPr>
        <p:spPr>
          <a:xfrm flipV="1">
            <a:off x="9639630" y="3041143"/>
            <a:ext cx="679785" cy="914503"/>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139" name="Straight Arrow Connector 11">
            <a:extLst>
              <a:ext uri="{FF2B5EF4-FFF2-40B4-BE49-F238E27FC236}">
                <a16:creationId xmlns:a16="http://schemas.microsoft.com/office/drawing/2014/main" id="{7D813F8D-775C-7767-CC1D-D4D6DA656B2D}"/>
              </a:ext>
            </a:extLst>
          </p:cNvPr>
          <p:cNvCxnSpPr/>
          <p:nvPr/>
        </p:nvCxnSpPr>
        <p:spPr>
          <a:xfrm>
            <a:off x="9413301" y="4219108"/>
            <a:ext cx="576000" cy="0"/>
          </a:xfrm>
          <a:prstGeom prst="straightConnector1">
            <a:avLst/>
          </a:prstGeom>
          <a:ln>
            <a:solidFill>
              <a:srgbClr val="A569B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1" name="Straight Arrow Connector 18">
            <a:extLst>
              <a:ext uri="{FF2B5EF4-FFF2-40B4-BE49-F238E27FC236}">
                <a16:creationId xmlns:a16="http://schemas.microsoft.com/office/drawing/2014/main" id="{5E5B5715-4D78-1CF4-2451-A9840EE6321F}"/>
              </a:ext>
            </a:extLst>
          </p:cNvPr>
          <p:cNvCxnSpPr/>
          <p:nvPr/>
        </p:nvCxnSpPr>
        <p:spPr>
          <a:xfrm>
            <a:off x="9413301" y="4129333"/>
            <a:ext cx="576000" cy="0"/>
          </a:xfrm>
          <a:prstGeom prst="straightConnector1">
            <a:avLst/>
          </a:prstGeom>
          <a:ln>
            <a:solidFill>
              <a:srgbClr val="D59BD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4" name="Straight Connector 24">
            <a:extLst>
              <a:ext uri="{FF2B5EF4-FFF2-40B4-BE49-F238E27FC236}">
                <a16:creationId xmlns:a16="http://schemas.microsoft.com/office/drawing/2014/main" id="{1262E103-68C0-2509-ACBF-C6CF1FD5B373}"/>
              </a:ext>
            </a:extLst>
          </p:cNvPr>
          <p:cNvCxnSpPr>
            <a:cxnSpLocks/>
          </p:cNvCxnSpPr>
          <p:nvPr/>
        </p:nvCxnSpPr>
        <p:spPr>
          <a:xfrm>
            <a:off x="11235669" y="2730126"/>
            <a:ext cx="0" cy="1800000"/>
          </a:xfrm>
          <a:prstGeom prst="line">
            <a:avLst/>
          </a:prstGeom>
        </p:spPr>
        <p:style>
          <a:lnRef idx="2">
            <a:schemeClr val="dk1"/>
          </a:lnRef>
          <a:fillRef idx="0">
            <a:schemeClr val="dk1"/>
          </a:fillRef>
          <a:effectRef idx="1">
            <a:schemeClr val="dk1"/>
          </a:effectRef>
          <a:fontRef idx="minor">
            <a:schemeClr val="tx1"/>
          </a:fontRef>
        </p:style>
      </p:cxnSp>
      <p:sp>
        <p:nvSpPr>
          <p:cNvPr id="145" name="TextBox 28">
            <a:extLst>
              <a:ext uri="{FF2B5EF4-FFF2-40B4-BE49-F238E27FC236}">
                <a16:creationId xmlns:a16="http://schemas.microsoft.com/office/drawing/2014/main" id="{F2BBA349-66FE-97B5-9904-E57BAF40D999}"/>
              </a:ext>
            </a:extLst>
          </p:cNvPr>
          <p:cNvSpPr txBox="1"/>
          <p:nvPr/>
        </p:nvSpPr>
        <p:spPr>
          <a:xfrm>
            <a:off x="9221445" y="2477757"/>
            <a:ext cx="372218"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ysClr val="windowText" lastClr="000000"/>
                </a:solidFill>
                <a:latin typeface="+mj-lt"/>
              </a:rPr>
              <a:t>RS</a:t>
            </a:r>
          </a:p>
        </p:txBody>
      </p:sp>
      <p:sp>
        <p:nvSpPr>
          <p:cNvPr id="146" name="TextBox 40">
            <a:extLst>
              <a:ext uri="{FF2B5EF4-FFF2-40B4-BE49-F238E27FC236}">
                <a16:creationId xmlns:a16="http://schemas.microsoft.com/office/drawing/2014/main" id="{4FAB6893-EA60-4784-2327-449021C5E148}"/>
              </a:ext>
            </a:extLst>
          </p:cNvPr>
          <p:cNvSpPr txBox="1"/>
          <p:nvPr/>
        </p:nvSpPr>
        <p:spPr>
          <a:xfrm>
            <a:off x="10838594" y="2445371"/>
            <a:ext cx="774571" cy="276999"/>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ysClr val="windowText" lastClr="000000"/>
                </a:solidFill>
                <a:latin typeface="+mj-lt"/>
              </a:rPr>
              <a:t>Response</a:t>
            </a:r>
          </a:p>
        </p:txBody>
      </p:sp>
      <p:cxnSp>
        <p:nvCxnSpPr>
          <p:cNvPr id="151" name="Straight Connector 33">
            <a:extLst>
              <a:ext uri="{FF2B5EF4-FFF2-40B4-BE49-F238E27FC236}">
                <a16:creationId xmlns:a16="http://schemas.microsoft.com/office/drawing/2014/main" id="{F27B4819-0D7D-ED19-5959-698362AAA69B}"/>
              </a:ext>
            </a:extLst>
          </p:cNvPr>
          <p:cNvCxnSpPr>
            <a:cxnSpLocks/>
          </p:cNvCxnSpPr>
          <p:nvPr/>
        </p:nvCxnSpPr>
        <p:spPr>
          <a:xfrm>
            <a:off x="8882733" y="3193489"/>
            <a:ext cx="1584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sp>
        <p:nvSpPr>
          <p:cNvPr id="155" name="TextBox 23">
            <a:extLst>
              <a:ext uri="{FF2B5EF4-FFF2-40B4-BE49-F238E27FC236}">
                <a16:creationId xmlns:a16="http://schemas.microsoft.com/office/drawing/2014/main" id="{32EBE1C7-4107-AE0B-8EC5-D02346051892}"/>
              </a:ext>
            </a:extLst>
          </p:cNvPr>
          <p:cNvSpPr txBox="1"/>
          <p:nvPr/>
        </p:nvSpPr>
        <p:spPr>
          <a:xfrm>
            <a:off x="8602274" y="4068343"/>
            <a:ext cx="611973" cy="400110"/>
          </a:xfrm>
          <a:prstGeom prst="rect">
            <a:avLst/>
          </a:prstGeom>
          <a:noFill/>
          <a:ln w="3175">
            <a:no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latin typeface="+mj-lt"/>
              </a:rPr>
              <a:t>Delay period</a:t>
            </a:r>
          </a:p>
        </p:txBody>
      </p:sp>
      <p:sp>
        <p:nvSpPr>
          <p:cNvPr id="157" name="TextBox 23">
            <a:extLst>
              <a:ext uri="{FF2B5EF4-FFF2-40B4-BE49-F238E27FC236}">
                <a16:creationId xmlns:a16="http://schemas.microsoft.com/office/drawing/2014/main" id="{E6FEED13-FB88-7587-A03D-4AE78A0AB519}"/>
              </a:ext>
            </a:extLst>
          </p:cNvPr>
          <p:cNvSpPr txBox="1"/>
          <p:nvPr/>
        </p:nvSpPr>
        <p:spPr>
          <a:xfrm>
            <a:off x="8388175" y="1751356"/>
            <a:ext cx="3312000" cy="58477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latin typeface="+mj-lt"/>
              </a:rPr>
              <a:t>(C)</a:t>
            </a:r>
          </a:p>
          <a:p>
            <a:pPr algn="ctr"/>
            <a:r>
              <a:rPr lang="en-US" sz="1600" dirty="0">
                <a:latin typeface="+mj-lt"/>
              </a:rPr>
              <a:t>Reward-onset timing</a:t>
            </a:r>
          </a:p>
        </p:txBody>
      </p:sp>
      <p:cxnSp>
        <p:nvCxnSpPr>
          <p:cNvPr id="158" name="Straight Connector 24">
            <a:extLst>
              <a:ext uri="{FF2B5EF4-FFF2-40B4-BE49-F238E27FC236}">
                <a16:creationId xmlns:a16="http://schemas.microsoft.com/office/drawing/2014/main" id="{5C4494E9-30F9-7F9A-A6FD-80C9FCEC205C}"/>
              </a:ext>
            </a:extLst>
          </p:cNvPr>
          <p:cNvCxnSpPr>
            <a:cxnSpLocks/>
          </p:cNvCxnSpPr>
          <p:nvPr/>
        </p:nvCxnSpPr>
        <p:spPr>
          <a:xfrm>
            <a:off x="9403739" y="2730126"/>
            <a:ext cx="0" cy="1800000"/>
          </a:xfrm>
          <a:prstGeom prst="line">
            <a:avLst/>
          </a:prstGeom>
        </p:spPr>
        <p:style>
          <a:lnRef idx="2">
            <a:schemeClr val="dk1"/>
          </a:lnRef>
          <a:fillRef idx="0">
            <a:schemeClr val="dk1"/>
          </a:fillRef>
          <a:effectRef idx="1">
            <a:schemeClr val="dk1"/>
          </a:effectRef>
          <a:fontRef idx="minor">
            <a:schemeClr val="tx1"/>
          </a:fontRef>
        </p:style>
      </p:cxnSp>
      <p:sp>
        <p:nvSpPr>
          <p:cNvPr id="175" name="TextBox 29">
            <a:extLst>
              <a:ext uri="{FF2B5EF4-FFF2-40B4-BE49-F238E27FC236}">
                <a16:creationId xmlns:a16="http://schemas.microsoft.com/office/drawing/2014/main" id="{1C9080A6-B6EF-1762-6FF5-A9D112069D3D}"/>
              </a:ext>
            </a:extLst>
          </p:cNvPr>
          <p:cNvSpPr txBox="1"/>
          <p:nvPr/>
        </p:nvSpPr>
        <p:spPr>
          <a:xfrm>
            <a:off x="1448217" y="4359702"/>
            <a:ext cx="90120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rgbClr val="000000"/>
                </a:solidFill>
                <a:latin typeface="+mj-lt"/>
              </a:rPr>
              <a:t>mean PMET</a:t>
            </a:r>
          </a:p>
        </p:txBody>
      </p:sp>
      <p:sp>
        <p:nvSpPr>
          <p:cNvPr id="176" name="TextBox 29">
            <a:extLst>
              <a:ext uri="{FF2B5EF4-FFF2-40B4-BE49-F238E27FC236}">
                <a16:creationId xmlns:a16="http://schemas.microsoft.com/office/drawing/2014/main" id="{1D42A927-C24C-51BA-55A3-441A0ADBD5F0}"/>
              </a:ext>
            </a:extLst>
          </p:cNvPr>
          <p:cNvSpPr txBox="1"/>
          <p:nvPr/>
        </p:nvSpPr>
        <p:spPr>
          <a:xfrm>
            <a:off x="2568845" y="4359702"/>
            <a:ext cx="822661"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dirty="0">
                <a:solidFill>
                  <a:srgbClr val="000000"/>
                </a:solidFill>
                <a:latin typeface="+mj-lt"/>
              </a:rPr>
              <a:t>mean MET</a:t>
            </a:r>
          </a:p>
        </p:txBody>
      </p:sp>
      <p:sp>
        <p:nvSpPr>
          <p:cNvPr id="177" name="TextBox 29">
            <a:extLst>
              <a:ext uri="{FF2B5EF4-FFF2-40B4-BE49-F238E27FC236}">
                <a16:creationId xmlns:a16="http://schemas.microsoft.com/office/drawing/2014/main" id="{F1D4B4B0-EB45-8C3A-17CA-DB05AB883443}"/>
              </a:ext>
            </a:extLst>
          </p:cNvPr>
          <p:cNvSpPr txBox="1"/>
          <p:nvPr/>
        </p:nvSpPr>
        <p:spPr>
          <a:xfrm>
            <a:off x="9377461" y="4331469"/>
            <a:ext cx="90120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rgbClr val="000000"/>
                </a:solidFill>
                <a:latin typeface="+mj-lt"/>
              </a:rPr>
              <a:t>mean PMET</a:t>
            </a:r>
          </a:p>
        </p:txBody>
      </p:sp>
      <p:sp>
        <p:nvSpPr>
          <p:cNvPr id="178" name="TextBox 29">
            <a:extLst>
              <a:ext uri="{FF2B5EF4-FFF2-40B4-BE49-F238E27FC236}">
                <a16:creationId xmlns:a16="http://schemas.microsoft.com/office/drawing/2014/main" id="{3F465DCA-C58F-5AF1-C0C3-B1169096CADF}"/>
              </a:ext>
            </a:extLst>
          </p:cNvPr>
          <p:cNvSpPr txBox="1"/>
          <p:nvPr/>
        </p:nvSpPr>
        <p:spPr>
          <a:xfrm>
            <a:off x="10490469" y="4331469"/>
            <a:ext cx="822661"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dirty="0">
                <a:solidFill>
                  <a:srgbClr val="000000"/>
                </a:solidFill>
                <a:latin typeface="+mj-lt"/>
              </a:rPr>
              <a:t>mean MET</a:t>
            </a:r>
          </a:p>
        </p:txBody>
      </p:sp>
      <p:grpSp>
        <p:nvGrpSpPr>
          <p:cNvPr id="182" name="Groupe 181">
            <a:extLst>
              <a:ext uri="{FF2B5EF4-FFF2-40B4-BE49-F238E27FC236}">
                <a16:creationId xmlns:a16="http://schemas.microsoft.com/office/drawing/2014/main" id="{ADEBB926-66F9-816B-A624-08255220AADF}"/>
              </a:ext>
            </a:extLst>
          </p:cNvPr>
          <p:cNvGrpSpPr/>
          <p:nvPr/>
        </p:nvGrpSpPr>
        <p:grpSpPr>
          <a:xfrm>
            <a:off x="655656" y="3657803"/>
            <a:ext cx="1056889" cy="4"/>
            <a:chOff x="379750" y="2690894"/>
            <a:chExt cx="1056889" cy="4"/>
          </a:xfrm>
        </p:grpSpPr>
        <p:cxnSp>
          <p:nvCxnSpPr>
            <p:cNvPr id="183" name="Straight Connector 29">
              <a:extLst>
                <a:ext uri="{FF2B5EF4-FFF2-40B4-BE49-F238E27FC236}">
                  <a16:creationId xmlns:a16="http://schemas.microsoft.com/office/drawing/2014/main" id="{70E2E123-F88F-F2E6-8FFF-2639C25A53CE}"/>
                </a:ext>
              </a:extLst>
            </p:cNvPr>
            <p:cNvCxnSpPr>
              <a:cxnSpLocks/>
            </p:cNvCxnSpPr>
            <p:nvPr/>
          </p:nvCxnSpPr>
          <p:spPr>
            <a:xfrm flipH="1" flipV="1">
              <a:off x="572639" y="2690898"/>
              <a:ext cx="864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184" name="Straight Connector 29">
              <a:extLst>
                <a:ext uri="{FF2B5EF4-FFF2-40B4-BE49-F238E27FC236}">
                  <a16:creationId xmlns:a16="http://schemas.microsoft.com/office/drawing/2014/main" id="{D0F56D57-42DD-213C-AAFA-783B22662A02}"/>
                </a:ext>
              </a:extLst>
            </p:cNvPr>
            <p:cNvCxnSpPr>
              <a:cxnSpLocks/>
            </p:cNvCxnSpPr>
            <p:nvPr/>
          </p:nvCxnSpPr>
          <p:spPr>
            <a:xfrm flipH="1" flipV="1">
              <a:off x="501994" y="2690896"/>
              <a:ext cx="18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185" name="Straight Connector 29">
              <a:extLst>
                <a:ext uri="{FF2B5EF4-FFF2-40B4-BE49-F238E27FC236}">
                  <a16:creationId xmlns:a16="http://schemas.microsoft.com/office/drawing/2014/main" id="{FADB22C7-6D7E-4E58-0A7A-58CAA97E41AB}"/>
                </a:ext>
              </a:extLst>
            </p:cNvPr>
            <p:cNvCxnSpPr>
              <a:cxnSpLocks/>
            </p:cNvCxnSpPr>
            <p:nvPr/>
          </p:nvCxnSpPr>
          <p:spPr>
            <a:xfrm flipH="1" flipV="1">
              <a:off x="432933" y="2690895"/>
              <a:ext cx="18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186" name="Straight Connector 29">
              <a:extLst>
                <a:ext uri="{FF2B5EF4-FFF2-40B4-BE49-F238E27FC236}">
                  <a16:creationId xmlns:a16="http://schemas.microsoft.com/office/drawing/2014/main" id="{635F02B3-F1FA-98A0-3C54-4B7D16F90FE2}"/>
                </a:ext>
              </a:extLst>
            </p:cNvPr>
            <p:cNvCxnSpPr>
              <a:cxnSpLocks/>
            </p:cNvCxnSpPr>
            <p:nvPr/>
          </p:nvCxnSpPr>
          <p:spPr>
            <a:xfrm flipH="1" flipV="1">
              <a:off x="379750" y="2690894"/>
              <a:ext cx="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grpSp>
      <p:grpSp>
        <p:nvGrpSpPr>
          <p:cNvPr id="187" name="Groupe 186">
            <a:extLst>
              <a:ext uri="{FF2B5EF4-FFF2-40B4-BE49-F238E27FC236}">
                <a16:creationId xmlns:a16="http://schemas.microsoft.com/office/drawing/2014/main" id="{E07029DC-949D-8075-A356-6FBCE9BD87BB}"/>
              </a:ext>
            </a:extLst>
          </p:cNvPr>
          <p:cNvGrpSpPr/>
          <p:nvPr/>
        </p:nvGrpSpPr>
        <p:grpSpPr>
          <a:xfrm>
            <a:off x="651724" y="3812115"/>
            <a:ext cx="1056889" cy="4"/>
            <a:chOff x="379750" y="2690894"/>
            <a:chExt cx="1056889" cy="4"/>
          </a:xfrm>
        </p:grpSpPr>
        <p:cxnSp>
          <p:nvCxnSpPr>
            <p:cNvPr id="188" name="Straight Connector 29">
              <a:extLst>
                <a:ext uri="{FF2B5EF4-FFF2-40B4-BE49-F238E27FC236}">
                  <a16:creationId xmlns:a16="http://schemas.microsoft.com/office/drawing/2014/main" id="{5EFA1CBF-67BF-709D-1CD7-01188364761F}"/>
                </a:ext>
              </a:extLst>
            </p:cNvPr>
            <p:cNvCxnSpPr>
              <a:cxnSpLocks/>
            </p:cNvCxnSpPr>
            <p:nvPr/>
          </p:nvCxnSpPr>
          <p:spPr>
            <a:xfrm flipH="1" flipV="1">
              <a:off x="572639" y="2690898"/>
              <a:ext cx="864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189" name="Straight Connector 29">
              <a:extLst>
                <a:ext uri="{FF2B5EF4-FFF2-40B4-BE49-F238E27FC236}">
                  <a16:creationId xmlns:a16="http://schemas.microsoft.com/office/drawing/2014/main" id="{45207C45-BF4F-6C5F-C15F-FB9B619466E7}"/>
                </a:ext>
              </a:extLst>
            </p:cNvPr>
            <p:cNvCxnSpPr>
              <a:cxnSpLocks/>
            </p:cNvCxnSpPr>
            <p:nvPr/>
          </p:nvCxnSpPr>
          <p:spPr>
            <a:xfrm flipH="1" flipV="1">
              <a:off x="501994" y="2690896"/>
              <a:ext cx="18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190" name="Straight Connector 29">
              <a:extLst>
                <a:ext uri="{FF2B5EF4-FFF2-40B4-BE49-F238E27FC236}">
                  <a16:creationId xmlns:a16="http://schemas.microsoft.com/office/drawing/2014/main" id="{5AA51715-BE4E-DC06-9A3C-CB25352AC4A0}"/>
                </a:ext>
              </a:extLst>
            </p:cNvPr>
            <p:cNvCxnSpPr>
              <a:cxnSpLocks/>
            </p:cNvCxnSpPr>
            <p:nvPr/>
          </p:nvCxnSpPr>
          <p:spPr>
            <a:xfrm flipH="1" flipV="1">
              <a:off x="432933" y="2690895"/>
              <a:ext cx="18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191" name="Straight Connector 29">
              <a:extLst>
                <a:ext uri="{FF2B5EF4-FFF2-40B4-BE49-F238E27FC236}">
                  <a16:creationId xmlns:a16="http://schemas.microsoft.com/office/drawing/2014/main" id="{A760284B-DAEC-4413-A7E9-F357AEDE8149}"/>
                </a:ext>
              </a:extLst>
            </p:cNvPr>
            <p:cNvCxnSpPr>
              <a:cxnSpLocks/>
            </p:cNvCxnSpPr>
            <p:nvPr/>
          </p:nvCxnSpPr>
          <p:spPr>
            <a:xfrm flipH="1" flipV="1">
              <a:off x="379750" y="2690894"/>
              <a:ext cx="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grpSp>
      <p:cxnSp>
        <p:nvCxnSpPr>
          <p:cNvPr id="192" name="Straight Connector 9">
            <a:extLst>
              <a:ext uri="{FF2B5EF4-FFF2-40B4-BE49-F238E27FC236}">
                <a16:creationId xmlns:a16="http://schemas.microsoft.com/office/drawing/2014/main" id="{BC12F249-CE7E-63E4-6CA9-EB3846256D4F}"/>
              </a:ext>
            </a:extLst>
          </p:cNvPr>
          <p:cNvCxnSpPr>
            <a:cxnSpLocks noChangeAspect="1"/>
          </p:cNvCxnSpPr>
          <p:nvPr/>
        </p:nvCxnSpPr>
        <p:spPr>
          <a:xfrm flipV="1">
            <a:off x="1722974" y="3030050"/>
            <a:ext cx="579705" cy="779867"/>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193" name="Straight Connector 9">
            <a:extLst>
              <a:ext uri="{FF2B5EF4-FFF2-40B4-BE49-F238E27FC236}">
                <a16:creationId xmlns:a16="http://schemas.microsoft.com/office/drawing/2014/main" id="{925AD6E1-F2F0-815C-8731-1303F7471EE4}"/>
              </a:ext>
            </a:extLst>
          </p:cNvPr>
          <p:cNvCxnSpPr>
            <a:cxnSpLocks noChangeAspect="1"/>
          </p:cNvCxnSpPr>
          <p:nvPr/>
        </p:nvCxnSpPr>
        <p:spPr>
          <a:xfrm flipV="1">
            <a:off x="1725966" y="3029256"/>
            <a:ext cx="698135" cy="939189"/>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199" name="Straight Arrow Connector 18">
            <a:extLst>
              <a:ext uri="{FF2B5EF4-FFF2-40B4-BE49-F238E27FC236}">
                <a16:creationId xmlns:a16="http://schemas.microsoft.com/office/drawing/2014/main" id="{0850ED73-CF61-99E7-9559-0B36BD6C107E}"/>
              </a:ext>
            </a:extLst>
          </p:cNvPr>
          <p:cNvCxnSpPr/>
          <p:nvPr/>
        </p:nvCxnSpPr>
        <p:spPr>
          <a:xfrm>
            <a:off x="1495197" y="4137478"/>
            <a:ext cx="558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0" name="Straight Arrow Connector 18">
            <a:extLst>
              <a:ext uri="{FF2B5EF4-FFF2-40B4-BE49-F238E27FC236}">
                <a16:creationId xmlns:a16="http://schemas.microsoft.com/office/drawing/2014/main" id="{CD57DE97-9F03-7581-AB6E-3FF0BC853E8E}"/>
              </a:ext>
            </a:extLst>
          </p:cNvPr>
          <p:cNvCxnSpPr/>
          <p:nvPr/>
        </p:nvCxnSpPr>
        <p:spPr>
          <a:xfrm>
            <a:off x="1495427" y="4227050"/>
            <a:ext cx="673200" cy="0"/>
          </a:xfrm>
          <a:prstGeom prst="straightConnector1">
            <a:avLst/>
          </a:prstGeom>
          <a:ln>
            <a:solidFill>
              <a:srgbClr val="7F7F7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1" name="Straight Arrow Connector 18">
            <a:extLst>
              <a:ext uri="{FF2B5EF4-FFF2-40B4-BE49-F238E27FC236}">
                <a16:creationId xmlns:a16="http://schemas.microsoft.com/office/drawing/2014/main" id="{5AE7FE09-4A4C-DBF0-8E05-CF2F7702A1B9}"/>
              </a:ext>
            </a:extLst>
          </p:cNvPr>
          <p:cNvCxnSpPr/>
          <p:nvPr/>
        </p:nvCxnSpPr>
        <p:spPr>
          <a:xfrm>
            <a:off x="1493026" y="4323964"/>
            <a:ext cx="828000" cy="0"/>
          </a:xfrm>
          <a:prstGeom prst="straightConnector1">
            <a:avLst/>
          </a:prstGeom>
          <a:ln>
            <a:solidFill>
              <a:srgbClr val="BFBFB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2" name="Straight Connector 9">
            <a:extLst>
              <a:ext uri="{FF2B5EF4-FFF2-40B4-BE49-F238E27FC236}">
                <a16:creationId xmlns:a16="http://schemas.microsoft.com/office/drawing/2014/main" id="{41388618-8F9F-0CDD-F226-287AD9957D28}"/>
              </a:ext>
            </a:extLst>
          </p:cNvPr>
          <p:cNvCxnSpPr>
            <a:cxnSpLocks noChangeAspect="1"/>
          </p:cNvCxnSpPr>
          <p:nvPr/>
        </p:nvCxnSpPr>
        <p:spPr>
          <a:xfrm flipV="1">
            <a:off x="3135213" y="2957175"/>
            <a:ext cx="178096" cy="239589"/>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203" name="Straight Connector 9">
            <a:extLst>
              <a:ext uri="{FF2B5EF4-FFF2-40B4-BE49-F238E27FC236}">
                <a16:creationId xmlns:a16="http://schemas.microsoft.com/office/drawing/2014/main" id="{2C6BC06C-9BCF-A7D7-D8A4-DBF1E93C7A16}"/>
              </a:ext>
            </a:extLst>
          </p:cNvPr>
          <p:cNvCxnSpPr>
            <a:cxnSpLocks noChangeAspect="1"/>
          </p:cNvCxnSpPr>
          <p:nvPr/>
        </p:nvCxnSpPr>
        <p:spPr>
          <a:xfrm flipV="1">
            <a:off x="3167674" y="2996220"/>
            <a:ext cx="147302" cy="198163"/>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204" name="Straight Connector 9">
            <a:extLst>
              <a:ext uri="{FF2B5EF4-FFF2-40B4-BE49-F238E27FC236}">
                <a16:creationId xmlns:a16="http://schemas.microsoft.com/office/drawing/2014/main" id="{10C4F549-2B2D-7911-0E21-E0BE4DC09585}"/>
              </a:ext>
            </a:extLst>
          </p:cNvPr>
          <p:cNvCxnSpPr>
            <a:cxnSpLocks noChangeAspect="1"/>
          </p:cNvCxnSpPr>
          <p:nvPr/>
        </p:nvCxnSpPr>
        <p:spPr>
          <a:xfrm flipV="1">
            <a:off x="3200216" y="3025018"/>
            <a:ext cx="131205" cy="176508"/>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208" name="Straight Connector 33">
            <a:extLst>
              <a:ext uri="{FF2B5EF4-FFF2-40B4-BE49-F238E27FC236}">
                <a16:creationId xmlns:a16="http://schemas.microsoft.com/office/drawing/2014/main" id="{C560A6A9-07E8-9D70-B051-FB8215D5244B}"/>
              </a:ext>
            </a:extLst>
          </p:cNvPr>
          <p:cNvCxnSpPr>
            <a:cxnSpLocks/>
          </p:cNvCxnSpPr>
          <p:nvPr/>
        </p:nvCxnSpPr>
        <p:spPr>
          <a:xfrm>
            <a:off x="2841920" y="3201526"/>
            <a:ext cx="648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209" name="Straight Arrow Connector 18">
            <a:extLst>
              <a:ext uri="{FF2B5EF4-FFF2-40B4-BE49-F238E27FC236}">
                <a16:creationId xmlns:a16="http://schemas.microsoft.com/office/drawing/2014/main" id="{3BBDEF1D-4EE9-CDEE-BD4A-78FEF569024A}"/>
              </a:ext>
            </a:extLst>
          </p:cNvPr>
          <p:cNvCxnSpPr/>
          <p:nvPr/>
        </p:nvCxnSpPr>
        <p:spPr>
          <a:xfrm>
            <a:off x="3126108" y="4137478"/>
            <a:ext cx="198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0" name="Straight Arrow Connector 18">
            <a:extLst>
              <a:ext uri="{FF2B5EF4-FFF2-40B4-BE49-F238E27FC236}">
                <a16:creationId xmlns:a16="http://schemas.microsoft.com/office/drawing/2014/main" id="{697E25F6-A199-368E-15CE-E5C89A716FA5}"/>
              </a:ext>
            </a:extLst>
          </p:cNvPr>
          <p:cNvCxnSpPr/>
          <p:nvPr/>
        </p:nvCxnSpPr>
        <p:spPr>
          <a:xfrm>
            <a:off x="3126338" y="4227050"/>
            <a:ext cx="198000" cy="0"/>
          </a:xfrm>
          <a:prstGeom prst="straightConnector1">
            <a:avLst/>
          </a:prstGeom>
          <a:ln>
            <a:solidFill>
              <a:srgbClr val="7F7F7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1" name="Straight Arrow Connector 18">
            <a:extLst>
              <a:ext uri="{FF2B5EF4-FFF2-40B4-BE49-F238E27FC236}">
                <a16:creationId xmlns:a16="http://schemas.microsoft.com/office/drawing/2014/main" id="{C99A4F05-BD1F-1A34-491C-191FF5A8983B}"/>
              </a:ext>
            </a:extLst>
          </p:cNvPr>
          <p:cNvCxnSpPr/>
          <p:nvPr/>
        </p:nvCxnSpPr>
        <p:spPr>
          <a:xfrm>
            <a:off x="3123937" y="4323964"/>
            <a:ext cx="198000" cy="0"/>
          </a:xfrm>
          <a:prstGeom prst="straightConnector1">
            <a:avLst/>
          </a:prstGeom>
          <a:ln>
            <a:solidFill>
              <a:srgbClr val="BFBFB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2" name="Straight Connector 9">
            <a:extLst>
              <a:ext uri="{FF2B5EF4-FFF2-40B4-BE49-F238E27FC236}">
                <a16:creationId xmlns:a16="http://schemas.microsoft.com/office/drawing/2014/main" id="{6DBD9F6B-C235-525C-BEC0-5278A0382BF5}"/>
              </a:ext>
            </a:extLst>
          </p:cNvPr>
          <p:cNvCxnSpPr>
            <a:cxnSpLocks noChangeAspect="1"/>
          </p:cNvCxnSpPr>
          <p:nvPr/>
        </p:nvCxnSpPr>
        <p:spPr>
          <a:xfrm flipV="1">
            <a:off x="9631729" y="3026184"/>
            <a:ext cx="451296" cy="607121"/>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213" name="Straight Connector 9">
            <a:extLst>
              <a:ext uri="{FF2B5EF4-FFF2-40B4-BE49-F238E27FC236}">
                <a16:creationId xmlns:a16="http://schemas.microsoft.com/office/drawing/2014/main" id="{A0323A29-D4E7-64FA-E1F1-267D48830B9D}"/>
              </a:ext>
            </a:extLst>
          </p:cNvPr>
          <p:cNvCxnSpPr>
            <a:cxnSpLocks noChangeAspect="1"/>
          </p:cNvCxnSpPr>
          <p:nvPr/>
        </p:nvCxnSpPr>
        <p:spPr>
          <a:xfrm flipV="1">
            <a:off x="9642804" y="3031537"/>
            <a:ext cx="478465" cy="643671"/>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214" name="Straight Arrow Connector 11">
            <a:extLst>
              <a:ext uri="{FF2B5EF4-FFF2-40B4-BE49-F238E27FC236}">
                <a16:creationId xmlns:a16="http://schemas.microsoft.com/office/drawing/2014/main" id="{F3AC12CD-36E4-C35A-0512-86AC7E078E80}"/>
              </a:ext>
            </a:extLst>
          </p:cNvPr>
          <p:cNvCxnSpPr/>
          <p:nvPr/>
        </p:nvCxnSpPr>
        <p:spPr>
          <a:xfrm>
            <a:off x="9413301" y="4308234"/>
            <a:ext cx="810000" cy="0"/>
          </a:xfrm>
          <a:prstGeom prst="straightConnector1">
            <a:avLst/>
          </a:prstGeom>
          <a:ln>
            <a:solidFill>
              <a:srgbClr val="4B1F5F"/>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218" name="Groupe 217">
            <a:extLst>
              <a:ext uri="{FF2B5EF4-FFF2-40B4-BE49-F238E27FC236}">
                <a16:creationId xmlns:a16="http://schemas.microsoft.com/office/drawing/2014/main" id="{2EACABB1-4A73-BFE3-2544-D533249109F4}"/>
              </a:ext>
            </a:extLst>
          </p:cNvPr>
          <p:cNvGrpSpPr/>
          <p:nvPr/>
        </p:nvGrpSpPr>
        <p:grpSpPr>
          <a:xfrm>
            <a:off x="8573685" y="3954153"/>
            <a:ext cx="1056889" cy="4"/>
            <a:chOff x="379750" y="2690894"/>
            <a:chExt cx="1056889" cy="4"/>
          </a:xfrm>
        </p:grpSpPr>
        <p:cxnSp>
          <p:nvCxnSpPr>
            <p:cNvPr id="219" name="Straight Connector 29">
              <a:extLst>
                <a:ext uri="{FF2B5EF4-FFF2-40B4-BE49-F238E27FC236}">
                  <a16:creationId xmlns:a16="http://schemas.microsoft.com/office/drawing/2014/main" id="{F55AFAD4-478E-ADD1-4164-FD176BAD38C7}"/>
                </a:ext>
              </a:extLst>
            </p:cNvPr>
            <p:cNvCxnSpPr>
              <a:cxnSpLocks/>
            </p:cNvCxnSpPr>
            <p:nvPr/>
          </p:nvCxnSpPr>
          <p:spPr>
            <a:xfrm flipH="1" flipV="1">
              <a:off x="572639" y="2690898"/>
              <a:ext cx="864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220" name="Straight Connector 29">
              <a:extLst>
                <a:ext uri="{FF2B5EF4-FFF2-40B4-BE49-F238E27FC236}">
                  <a16:creationId xmlns:a16="http://schemas.microsoft.com/office/drawing/2014/main" id="{D1571571-E1DC-52A9-102E-8B9A6F09440F}"/>
                </a:ext>
              </a:extLst>
            </p:cNvPr>
            <p:cNvCxnSpPr>
              <a:cxnSpLocks/>
            </p:cNvCxnSpPr>
            <p:nvPr/>
          </p:nvCxnSpPr>
          <p:spPr>
            <a:xfrm flipH="1" flipV="1">
              <a:off x="501994" y="2690896"/>
              <a:ext cx="18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221" name="Straight Connector 29">
              <a:extLst>
                <a:ext uri="{FF2B5EF4-FFF2-40B4-BE49-F238E27FC236}">
                  <a16:creationId xmlns:a16="http://schemas.microsoft.com/office/drawing/2014/main" id="{97C275E9-F559-FA81-3EE4-D3142F5449CE}"/>
                </a:ext>
              </a:extLst>
            </p:cNvPr>
            <p:cNvCxnSpPr>
              <a:cxnSpLocks/>
            </p:cNvCxnSpPr>
            <p:nvPr/>
          </p:nvCxnSpPr>
          <p:spPr>
            <a:xfrm flipH="1" flipV="1">
              <a:off x="432933" y="2690895"/>
              <a:ext cx="18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222" name="Straight Connector 29">
              <a:extLst>
                <a:ext uri="{FF2B5EF4-FFF2-40B4-BE49-F238E27FC236}">
                  <a16:creationId xmlns:a16="http://schemas.microsoft.com/office/drawing/2014/main" id="{E4FAAED3-AE07-6BA5-635C-C08F962E5416}"/>
                </a:ext>
              </a:extLst>
            </p:cNvPr>
            <p:cNvCxnSpPr>
              <a:cxnSpLocks/>
            </p:cNvCxnSpPr>
            <p:nvPr/>
          </p:nvCxnSpPr>
          <p:spPr>
            <a:xfrm flipH="1" flipV="1">
              <a:off x="379750" y="2690894"/>
              <a:ext cx="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grpSp>
      <p:grpSp>
        <p:nvGrpSpPr>
          <p:cNvPr id="223" name="Groupe 222">
            <a:extLst>
              <a:ext uri="{FF2B5EF4-FFF2-40B4-BE49-F238E27FC236}">
                <a16:creationId xmlns:a16="http://schemas.microsoft.com/office/drawing/2014/main" id="{4A2635FF-5535-1191-B638-C4AFCE1F0840}"/>
              </a:ext>
            </a:extLst>
          </p:cNvPr>
          <p:cNvGrpSpPr/>
          <p:nvPr/>
        </p:nvGrpSpPr>
        <p:grpSpPr>
          <a:xfrm>
            <a:off x="8570150" y="3638532"/>
            <a:ext cx="1056889" cy="4"/>
            <a:chOff x="379750" y="2690894"/>
            <a:chExt cx="1056889" cy="4"/>
          </a:xfrm>
        </p:grpSpPr>
        <p:cxnSp>
          <p:nvCxnSpPr>
            <p:cNvPr id="224" name="Straight Connector 29">
              <a:extLst>
                <a:ext uri="{FF2B5EF4-FFF2-40B4-BE49-F238E27FC236}">
                  <a16:creationId xmlns:a16="http://schemas.microsoft.com/office/drawing/2014/main" id="{607BCFE9-79A2-5F6E-6054-587E328C0FB7}"/>
                </a:ext>
              </a:extLst>
            </p:cNvPr>
            <p:cNvCxnSpPr>
              <a:cxnSpLocks/>
            </p:cNvCxnSpPr>
            <p:nvPr/>
          </p:nvCxnSpPr>
          <p:spPr>
            <a:xfrm flipH="1" flipV="1">
              <a:off x="572639" y="2690898"/>
              <a:ext cx="864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225" name="Straight Connector 29">
              <a:extLst>
                <a:ext uri="{FF2B5EF4-FFF2-40B4-BE49-F238E27FC236}">
                  <a16:creationId xmlns:a16="http://schemas.microsoft.com/office/drawing/2014/main" id="{CEA802C9-DF83-0257-C463-F64877DD97E1}"/>
                </a:ext>
              </a:extLst>
            </p:cNvPr>
            <p:cNvCxnSpPr>
              <a:cxnSpLocks/>
            </p:cNvCxnSpPr>
            <p:nvPr/>
          </p:nvCxnSpPr>
          <p:spPr>
            <a:xfrm flipH="1" flipV="1">
              <a:off x="501994" y="2690896"/>
              <a:ext cx="18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226" name="Straight Connector 29">
              <a:extLst>
                <a:ext uri="{FF2B5EF4-FFF2-40B4-BE49-F238E27FC236}">
                  <a16:creationId xmlns:a16="http://schemas.microsoft.com/office/drawing/2014/main" id="{41419501-4A52-70B1-D563-EF129250AA88}"/>
                </a:ext>
              </a:extLst>
            </p:cNvPr>
            <p:cNvCxnSpPr>
              <a:cxnSpLocks/>
            </p:cNvCxnSpPr>
            <p:nvPr/>
          </p:nvCxnSpPr>
          <p:spPr>
            <a:xfrm flipH="1" flipV="1">
              <a:off x="432933" y="2690895"/>
              <a:ext cx="18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227" name="Straight Connector 29">
              <a:extLst>
                <a:ext uri="{FF2B5EF4-FFF2-40B4-BE49-F238E27FC236}">
                  <a16:creationId xmlns:a16="http://schemas.microsoft.com/office/drawing/2014/main" id="{7078042F-065D-1D7E-CAB5-D484A1821737}"/>
                </a:ext>
              </a:extLst>
            </p:cNvPr>
            <p:cNvCxnSpPr>
              <a:cxnSpLocks/>
            </p:cNvCxnSpPr>
            <p:nvPr/>
          </p:nvCxnSpPr>
          <p:spPr>
            <a:xfrm flipH="1" flipV="1">
              <a:off x="379750" y="2690894"/>
              <a:ext cx="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grpSp>
      <p:grpSp>
        <p:nvGrpSpPr>
          <p:cNvPr id="228" name="Groupe 227">
            <a:extLst>
              <a:ext uri="{FF2B5EF4-FFF2-40B4-BE49-F238E27FC236}">
                <a16:creationId xmlns:a16="http://schemas.microsoft.com/office/drawing/2014/main" id="{43E9A4C0-6EE2-8315-B659-BF9272FFB9A2}"/>
              </a:ext>
            </a:extLst>
          </p:cNvPr>
          <p:cNvGrpSpPr/>
          <p:nvPr/>
        </p:nvGrpSpPr>
        <p:grpSpPr>
          <a:xfrm>
            <a:off x="8571774" y="3673805"/>
            <a:ext cx="1056889" cy="4"/>
            <a:chOff x="379750" y="2690894"/>
            <a:chExt cx="1056889" cy="4"/>
          </a:xfrm>
        </p:grpSpPr>
        <p:cxnSp>
          <p:nvCxnSpPr>
            <p:cNvPr id="229" name="Straight Connector 29">
              <a:extLst>
                <a:ext uri="{FF2B5EF4-FFF2-40B4-BE49-F238E27FC236}">
                  <a16:creationId xmlns:a16="http://schemas.microsoft.com/office/drawing/2014/main" id="{A3011947-0650-CD35-6A8B-A107E58CEC60}"/>
                </a:ext>
              </a:extLst>
            </p:cNvPr>
            <p:cNvCxnSpPr>
              <a:cxnSpLocks/>
            </p:cNvCxnSpPr>
            <p:nvPr/>
          </p:nvCxnSpPr>
          <p:spPr>
            <a:xfrm flipH="1" flipV="1">
              <a:off x="572639" y="2690898"/>
              <a:ext cx="864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230" name="Straight Connector 29">
              <a:extLst>
                <a:ext uri="{FF2B5EF4-FFF2-40B4-BE49-F238E27FC236}">
                  <a16:creationId xmlns:a16="http://schemas.microsoft.com/office/drawing/2014/main" id="{ACFB2BA3-ED9E-6DEF-4B5F-278CEDED600C}"/>
                </a:ext>
              </a:extLst>
            </p:cNvPr>
            <p:cNvCxnSpPr>
              <a:cxnSpLocks/>
            </p:cNvCxnSpPr>
            <p:nvPr/>
          </p:nvCxnSpPr>
          <p:spPr>
            <a:xfrm flipH="1" flipV="1">
              <a:off x="501994" y="2690896"/>
              <a:ext cx="18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231" name="Straight Connector 29">
              <a:extLst>
                <a:ext uri="{FF2B5EF4-FFF2-40B4-BE49-F238E27FC236}">
                  <a16:creationId xmlns:a16="http://schemas.microsoft.com/office/drawing/2014/main" id="{6C5EF4B2-EF28-79A6-787F-5C0A39F82E76}"/>
                </a:ext>
              </a:extLst>
            </p:cNvPr>
            <p:cNvCxnSpPr>
              <a:cxnSpLocks/>
            </p:cNvCxnSpPr>
            <p:nvPr/>
          </p:nvCxnSpPr>
          <p:spPr>
            <a:xfrm flipH="1" flipV="1">
              <a:off x="432933" y="2690895"/>
              <a:ext cx="18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232" name="Straight Connector 29">
              <a:extLst>
                <a:ext uri="{FF2B5EF4-FFF2-40B4-BE49-F238E27FC236}">
                  <a16:creationId xmlns:a16="http://schemas.microsoft.com/office/drawing/2014/main" id="{864F669D-4D4E-E434-4D81-DEBB385C5055}"/>
                </a:ext>
              </a:extLst>
            </p:cNvPr>
            <p:cNvCxnSpPr>
              <a:cxnSpLocks/>
            </p:cNvCxnSpPr>
            <p:nvPr/>
          </p:nvCxnSpPr>
          <p:spPr>
            <a:xfrm flipH="1" flipV="1">
              <a:off x="379750" y="2690894"/>
              <a:ext cx="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grpSp>
      <p:cxnSp>
        <p:nvCxnSpPr>
          <p:cNvPr id="236" name="Straight Connector 9">
            <a:extLst>
              <a:ext uri="{FF2B5EF4-FFF2-40B4-BE49-F238E27FC236}">
                <a16:creationId xmlns:a16="http://schemas.microsoft.com/office/drawing/2014/main" id="{0ED8C827-AB1B-F667-A70E-994CF181C813}"/>
              </a:ext>
            </a:extLst>
          </p:cNvPr>
          <p:cNvCxnSpPr>
            <a:cxnSpLocks noChangeAspect="1"/>
          </p:cNvCxnSpPr>
          <p:nvPr/>
        </p:nvCxnSpPr>
        <p:spPr>
          <a:xfrm flipV="1">
            <a:off x="11042637" y="2952313"/>
            <a:ext cx="173966" cy="234033"/>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237" name="Straight Connector 9">
            <a:extLst>
              <a:ext uri="{FF2B5EF4-FFF2-40B4-BE49-F238E27FC236}">
                <a16:creationId xmlns:a16="http://schemas.microsoft.com/office/drawing/2014/main" id="{44E5D128-E310-065E-E851-E04C5719DA0A}"/>
              </a:ext>
            </a:extLst>
          </p:cNvPr>
          <p:cNvCxnSpPr>
            <a:cxnSpLocks noChangeAspect="1"/>
          </p:cNvCxnSpPr>
          <p:nvPr/>
        </p:nvCxnSpPr>
        <p:spPr>
          <a:xfrm flipV="1">
            <a:off x="11072890" y="2984936"/>
            <a:ext cx="153255" cy="206172"/>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238" name="Straight Connector 9">
            <a:extLst>
              <a:ext uri="{FF2B5EF4-FFF2-40B4-BE49-F238E27FC236}">
                <a16:creationId xmlns:a16="http://schemas.microsoft.com/office/drawing/2014/main" id="{77358918-4628-AB37-7806-B1CD303911D9}"/>
              </a:ext>
            </a:extLst>
          </p:cNvPr>
          <p:cNvCxnSpPr>
            <a:cxnSpLocks noChangeAspect="1"/>
          </p:cNvCxnSpPr>
          <p:nvPr/>
        </p:nvCxnSpPr>
        <p:spPr>
          <a:xfrm flipV="1">
            <a:off x="11101470" y="3017026"/>
            <a:ext cx="131172" cy="176463"/>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sp>
        <p:nvSpPr>
          <p:cNvPr id="245" name="TextBox 3">
            <a:extLst>
              <a:ext uri="{FF2B5EF4-FFF2-40B4-BE49-F238E27FC236}">
                <a16:creationId xmlns:a16="http://schemas.microsoft.com/office/drawing/2014/main" id="{D05A7C09-ADBA-222A-E105-F16C878B538C}"/>
              </a:ext>
            </a:extLst>
          </p:cNvPr>
          <p:cNvSpPr txBox="1"/>
          <p:nvPr/>
        </p:nvSpPr>
        <p:spPr>
          <a:xfrm>
            <a:off x="4658723" y="3026817"/>
            <a:ext cx="261610"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C00000"/>
                </a:solidFill>
                <a:latin typeface="+mj-lt"/>
              </a:rPr>
              <a:t>g</a:t>
            </a:r>
          </a:p>
        </p:txBody>
      </p:sp>
      <p:cxnSp>
        <p:nvCxnSpPr>
          <p:cNvPr id="246" name="Straight Connector 33">
            <a:extLst>
              <a:ext uri="{FF2B5EF4-FFF2-40B4-BE49-F238E27FC236}">
                <a16:creationId xmlns:a16="http://schemas.microsoft.com/office/drawing/2014/main" id="{82F11915-2652-DA32-91EA-8343E6769807}"/>
              </a:ext>
            </a:extLst>
          </p:cNvPr>
          <p:cNvCxnSpPr>
            <a:cxnSpLocks/>
          </p:cNvCxnSpPr>
          <p:nvPr/>
        </p:nvCxnSpPr>
        <p:spPr>
          <a:xfrm>
            <a:off x="4887470" y="3195403"/>
            <a:ext cx="1836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250" name="Straight Connector 1">
            <a:extLst>
              <a:ext uri="{FF2B5EF4-FFF2-40B4-BE49-F238E27FC236}">
                <a16:creationId xmlns:a16="http://schemas.microsoft.com/office/drawing/2014/main" id="{53E22E1F-FD7C-1337-4576-EF1BE0CD8CD3}"/>
              </a:ext>
            </a:extLst>
          </p:cNvPr>
          <p:cNvCxnSpPr>
            <a:cxnSpLocks noChangeAspect="1"/>
          </p:cNvCxnSpPr>
          <p:nvPr/>
        </p:nvCxnSpPr>
        <p:spPr>
          <a:xfrm flipV="1">
            <a:off x="7106026" y="2946820"/>
            <a:ext cx="267627" cy="234729"/>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253" name="Straight Connector 33">
            <a:extLst>
              <a:ext uri="{FF2B5EF4-FFF2-40B4-BE49-F238E27FC236}">
                <a16:creationId xmlns:a16="http://schemas.microsoft.com/office/drawing/2014/main" id="{49141A48-F453-3EAD-DFE1-1E8D4BCD4526}"/>
              </a:ext>
            </a:extLst>
          </p:cNvPr>
          <p:cNvCxnSpPr>
            <a:cxnSpLocks/>
          </p:cNvCxnSpPr>
          <p:nvPr/>
        </p:nvCxnSpPr>
        <p:spPr>
          <a:xfrm>
            <a:off x="6928592" y="3195086"/>
            <a:ext cx="612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257" name="Straight Connector 33">
            <a:extLst>
              <a:ext uri="{FF2B5EF4-FFF2-40B4-BE49-F238E27FC236}">
                <a16:creationId xmlns:a16="http://schemas.microsoft.com/office/drawing/2014/main" id="{95726BED-0EFC-8E60-1060-51BF1E74F4CD}"/>
              </a:ext>
            </a:extLst>
          </p:cNvPr>
          <p:cNvCxnSpPr>
            <a:cxnSpLocks/>
          </p:cNvCxnSpPr>
          <p:nvPr/>
        </p:nvCxnSpPr>
        <p:spPr>
          <a:xfrm>
            <a:off x="10781582" y="3193489"/>
            <a:ext cx="648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258" name="Straight Arrow Connector 11">
            <a:extLst>
              <a:ext uri="{FF2B5EF4-FFF2-40B4-BE49-F238E27FC236}">
                <a16:creationId xmlns:a16="http://schemas.microsoft.com/office/drawing/2014/main" id="{0B5F6C15-85DC-A685-82B2-65E438AC7638}"/>
              </a:ext>
            </a:extLst>
          </p:cNvPr>
          <p:cNvCxnSpPr/>
          <p:nvPr/>
        </p:nvCxnSpPr>
        <p:spPr>
          <a:xfrm>
            <a:off x="11036814" y="4216909"/>
            <a:ext cx="190800" cy="0"/>
          </a:xfrm>
          <a:prstGeom prst="straightConnector1">
            <a:avLst/>
          </a:prstGeom>
          <a:ln>
            <a:solidFill>
              <a:srgbClr val="A569B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59" name="Straight Arrow Connector 18">
            <a:extLst>
              <a:ext uri="{FF2B5EF4-FFF2-40B4-BE49-F238E27FC236}">
                <a16:creationId xmlns:a16="http://schemas.microsoft.com/office/drawing/2014/main" id="{41079161-5C5E-F72C-D4AC-EB8D5CAC8E6E}"/>
              </a:ext>
            </a:extLst>
          </p:cNvPr>
          <p:cNvCxnSpPr/>
          <p:nvPr/>
        </p:nvCxnSpPr>
        <p:spPr>
          <a:xfrm>
            <a:off x="11036814" y="4127134"/>
            <a:ext cx="190800" cy="0"/>
          </a:xfrm>
          <a:prstGeom prst="straightConnector1">
            <a:avLst/>
          </a:prstGeom>
          <a:ln>
            <a:solidFill>
              <a:srgbClr val="D59BD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0" name="Straight Arrow Connector 11">
            <a:extLst>
              <a:ext uri="{FF2B5EF4-FFF2-40B4-BE49-F238E27FC236}">
                <a16:creationId xmlns:a16="http://schemas.microsoft.com/office/drawing/2014/main" id="{035B6059-3DDA-A5D4-C372-659008A99B8B}"/>
              </a:ext>
            </a:extLst>
          </p:cNvPr>
          <p:cNvCxnSpPr/>
          <p:nvPr/>
        </p:nvCxnSpPr>
        <p:spPr>
          <a:xfrm>
            <a:off x="11036814" y="4306035"/>
            <a:ext cx="190800" cy="0"/>
          </a:xfrm>
          <a:prstGeom prst="straightConnector1">
            <a:avLst/>
          </a:prstGeom>
          <a:ln>
            <a:solidFill>
              <a:srgbClr val="4B1F5F"/>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276" name="Groupe 275">
            <a:extLst>
              <a:ext uri="{FF2B5EF4-FFF2-40B4-BE49-F238E27FC236}">
                <a16:creationId xmlns:a16="http://schemas.microsoft.com/office/drawing/2014/main" id="{9AD10489-61C6-CB8E-D8BD-8B7694A8BE31}"/>
              </a:ext>
            </a:extLst>
          </p:cNvPr>
          <p:cNvGrpSpPr/>
          <p:nvPr/>
        </p:nvGrpSpPr>
        <p:grpSpPr>
          <a:xfrm>
            <a:off x="527809" y="2376123"/>
            <a:ext cx="737064" cy="470586"/>
            <a:chOff x="630187" y="1375078"/>
            <a:chExt cx="737064" cy="470586"/>
          </a:xfrm>
        </p:grpSpPr>
        <p:sp>
          <p:nvSpPr>
            <p:cNvPr id="268" name="Rectangle : coins arrondis 267">
              <a:extLst>
                <a:ext uri="{FF2B5EF4-FFF2-40B4-BE49-F238E27FC236}">
                  <a16:creationId xmlns:a16="http://schemas.microsoft.com/office/drawing/2014/main" id="{19B8493B-8B78-6246-D05B-9C089978C66D}"/>
                </a:ext>
              </a:extLst>
            </p:cNvPr>
            <p:cNvSpPr/>
            <p:nvPr/>
          </p:nvSpPr>
          <p:spPr>
            <a:xfrm>
              <a:off x="630187" y="1405891"/>
              <a:ext cx="683080" cy="430477"/>
            </a:xfrm>
            <a:prstGeom prst="roundRect">
              <a:avLst>
                <a:gd name="adj" fmla="val 7399"/>
              </a:avLst>
            </a:prstGeom>
            <a:solidFill>
              <a:srgbClr val="FFFFFF"/>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9" name="Groupe 268">
              <a:extLst>
                <a:ext uri="{FF2B5EF4-FFF2-40B4-BE49-F238E27FC236}">
                  <a16:creationId xmlns:a16="http://schemas.microsoft.com/office/drawing/2014/main" id="{F18DDD85-C307-F433-A935-EFFE870C785F}"/>
                </a:ext>
              </a:extLst>
            </p:cNvPr>
            <p:cNvGrpSpPr/>
            <p:nvPr/>
          </p:nvGrpSpPr>
          <p:grpSpPr>
            <a:xfrm>
              <a:off x="694263" y="1375078"/>
              <a:ext cx="672988" cy="470586"/>
              <a:chOff x="1782367" y="1321266"/>
              <a:chExt cx="672988" cy="470586"/>
            </a:xfrm>
          </p:grpSpPr>
          <p:cxnSp>
            <p:nvCxnSpPr>
              <p:cNvPr id="270" name="Straight Connector 29">
                <a:extLst>
                  <a:ext uri="{FF2B5EF4-FFF2-40B4-BE49-F238E27FC236}">
                    <a16:creationId xmlns:a16="http://schemas.microsoft.com/office/drawing/2014/main" id="{ADCE8EA6-A182-B22B-E6B7-ACEA00A2EE65}"/>
                  </a:ext>
                </a:extLst>
              </p:cNvPr>
              <p:cNvCxnSpPr>
                <a:cxnSpLocks/>
              </p:cNvCxnSpPr>
              <p:nvPr/>
            </p:nvCxnSpPr>
            <p:spPr>
              <a:xfrm flipH="1" flipV="1">
                <a:off x="1782367" y="1443271"/>
                <a:ext cx="144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271" name="Straight Connector 29">
                <a:extLst>
                  <a:ext uri="{FF2B5EF4-FFF2-40B4-BE49-F238E27FC236}">
                    <a16:creationId xmlns:a16="http://schemas.microsoft.com/office/drawing/2014/main" id="{25C748F2-5EBE-1B42-F08C-B48705B81F2C}"/>
                  </a:ext>
                </a:extLst>
              </p:cNvPr>
              <p:cNvCxnSpPr>
                <a:cxnSpLocks/>
              </p:cNvCxnSpPr>
              <p:nvPr/>
            </p:nvCxnSpPr>
            <p:spPr>
              <a:xfrm flipH="1" flipV="1">
                <a:off x="1784379" y="1565051"/>
                <a:ext cx="144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272" name="Straight Connector 29">
                <a:extLst>
                  <a:ext uri="{FF2B5EF4-FFF2-40B4-BE49-F238E27FC236}">
                    <a16:creationId xmlns:a16="http://schemas.microsoft.com/office/drawing/2014/main" id="{239605AA-B6CA-CA57-A59E-93E525AC3394}"/>
                  </a:ext>
                </a:extLst>
              </p:cNvPr>
              <p:cNvCxnSpPr>
                <a:cxnSpLocks/>
              </p:cNvCxnSpPr>
              <p:nvPr/>
            </p:nvCxnSpPr>
            <p:spPr>
              <a:xfrm flipH="1" flipV="1">
                <a:off x="1783320" y="1686670"/>
                <a:ext cx="144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sp>
            <p:nvSpPr>
              <p:cNvPr id="273" name="TextBox 28">
                <a:extLst>
                  <a:ext uri="{FF2B5EF4-FFF2-40B4-BE49-F238E27FC236}">
                    <a16:creationId xmlns:a16="http://schemas.microsoft.com/office/drawing/2014/main" id="{00C7B7FA-8E67-9C8B-E656-0B80620B1877}"/>
                  </a:ext>
                </a:extLst>
              </p:cNvPr>
              <p:cNvSpPr txBox="1"/>
              <p:nvPr/>
            </p:nvSpPr>
            <p:spPr>
              <a:xfrm>
                <a:off x="1921944" y="1321266"/>
                <a:ext cx="372218"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Low</a:t>
                </a:r>
              </a:p>
            </p:txBody>
          </p:sp>
          <p:sp>
            <p:nvSpPr>
              <p:cNvPr id="274" name="TextBox 28">
                <a:extLst>
                  <a:ext uri="{FF2B5EF4-FFF2-40B4-BE49-F238E27FC236}">
                    <a16:creationId xmlns:a16="http://schemas.microsoft.com/office/drawing/2014/main" id="{486B155E-8F04-7D8A-89E9-32B5DE5437C8}"/>
                  </a:ext>
                </a:extLst>
              </p:cNvPr>
              <p:cNvSpPr txBox="1"/>
              <p:nvPr/>
            </p:nvSpPr>
            <p:spPr>
              <a:xfrm>
                <a:off x="1922837" y="1447491"/>
                <a:ext cx="532518"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Medium</a:t>
                </a:r>
              </a:p>
            </p:txBody>
          </p:sp>
          <p:sp>
            <p:nvSpPr>
              <p:cNvPr id="275" name="TextBox 28">
                <a:extLst>
                  <a:ext uri="{FF2B5EF4-FFF2-40B4-BE49-F238E27FC236}">
                    <a16:creationId xmlns:a16="http://schemas.microsoft.com/office/drawing/2014/main" id="{4CE957DC-F5EE-CA0D-49B1-D5CAA8DBA1A4}"/>
                  </a:ext>
                </a:extLst>
              </p:cNvPr>
              <p:cNvSpPr txBox="1"/>
              <p:nvPr/>
            </p:nvSpPr>
            <p:spPr>
              <a:xfrm>
                <a:off x="1924064" y="1576408"/>
                <a:ext cx="389850"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High</a:t>
                </a:r>
              </a:p>
            </p:txBody>
          </p:sp>
        </p:grpSp>
      </p:grpSp>
      <p:grpSp>
        <p:nvGrpSpPr>
          <p:cNvPr id="277" name="Groupe 276">
            <a:extLst>
              <a:ext uri="{FF2B5EF4-FFF2-40B4-BE49-F238E27FC236}">
                <a16:creationId xmlns:a16="http://schemas.microsoft.com/office/drawing/2014/main" id="{EEBC9007-8B23-E393-7EA6-4B7A000AEF71}"/>
              </a:ext>
            </a:extLst>
          </p:cNvPr>
          <p:cNvGrpSpPr/>
          <p:nvPr/>
        </p:nvGrpSpPr>
        <p:grpSpPr>
          <a:xfrm>
            <a:off x="4477757" y="2383051"/>
            <a:ext cx="713019" cy="353575"/>
            <a:chOff x="630187" y="1375078"/>
            <a:chExt cx="713019" cy="353575"/>
          </a:xfrm>
        </p:grpSpPr>
        <p:sp>
          <p:nvSpPr>
            <p:cNvPr id="278" name="Rectangle : coins arrondis 277">
              <a:extLst>
                <a:ext uri="{FF2B5EF4-FFF2-40B4-BE49-F238E27FC236}">
                  <a16:creationId xmlns:a16="http://schemas.microsoft.com/office/drawing/2014/main" id="{B1CA7255-8106-8829-03AB-659044E40405}"/>
                </a:ext>
              </a:extLst>
            </p:cNvPr>
            <p:cNvSpPr/>
            <p:nvPr/>
          </p:nvSpPr>
          <p:spPr>
            <a:xfrm>
              <a:off x="630187" y="1403511"/>
              <a:ext cx="683080" cy="311422"/>
            </a:xfrm>
            <a:prstGeom prst="roundRect">
              <a:avLst>
                <a:gd name="adj" fmla="val 7399"/>
              </a:avLst>
            </a:prstGeom>
            <a:solidFill>
              <a:srgbClr val="FFFFFF"/>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9" name="Groupe 278">
              <a:extLst>
                <a:ext uri="{FF2B5EF4-FFF2-40B4-BE49-F238E27FC236}">
                  <a16:creationId xmlns:a16="http://schemas.microsoft.com/office/drawing/2014/main" id="{C1E64794-2FF9-E344-74A4-D7C5D95BD65E}"/>
                </a:ext>
              </a:extLst>
            </p:cNvPr>
            <p:cNvGrpSpPr/>
            <p:nvPr/>
          </p:nvGrpSpPr>
          <p:grpSpPr>
            <a:xfrm>
              <a:off x="694263" y="1375078"/>
              <a:ext cx="648943" cy="353575"/>
              <a:chOff x="1782367" y="1321266"/>
              <a:chExt cx="648943" cy="353575"/>
            </a:xfrm>
          </p:grpSpPr>
          <p:cxnSp>
            <p:nvCxnSpPr>
              <p:cNvPr id="280" name="Straight Connector 29">
                <a:extLst>
                  <a:ext uri="{FF2B5EF4-FFF2-40B4-BE49-F238E27FC236}">
                    <a16:creationId xmlns:a16="http://schemas.microsoft.com/office/drawing/2014/main" id="{1CDEDFC1-127B-7DEC-BEC6-1F5FE06542B5}"/>
                  </a:ext>
                </a:extLst>
              </p:cNvPr>
              <p:cNvCxnSpPr>
                <a:cxnSpLocks/>
              </p:cNvCxnSpPr>
              <p:nvPr/>
            </p:nvCxnSpPr>
            <p:spPr>
              <a:xfrm flipH="1" flipV="1">
                <a:off x="1782367" y="1443271"/>
                <a:ext cx="144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281" name="Straight Connector 29">
                <a:extLst>
                  <a:ext uri="{FF2B5EF4-FFF2-40B4-BE49-F238E27FC236}">
                    <a16:creationId xmlns:a16="http://schemas.microsoft.com/office/drawing/2014/main" id="{ADF1E58B-ADA7-1B48-EC27-E28F6F1596B1}"/>
                  </a:ext>
                </a:extLst>
              </p:cNvPr>
              <p:cNvCxnSpPr>
                <a:cxnSpLocks/>
              </p:cNvCxnSpPr>
              <p:nvPr/>
            </p:nvCxnSpPr>
            <p:spPr>
              <a:xfrm flipH="1" flipV="1">
                <a:off x="1784379" y="1579338"/>
                <a:ext cx="144000" cy="0"/>
              </a:xfrm>
              <a:prstGeom prst="line">
                <a:avLst/>
              </a:prstGeom>
              <a:ln w="38100" cap="rnd">
                <a:solidFill>
                  <a:schemeClr val="accent4"/>
                </a:solidFill>
                <a:headEnd type="none"/>
              </a:ln>
            </p:spPr>
            <p:style>
              <a:lnRef idx="2">
                <a:schemeClr val="accent4"/>
              </a:lnRef>
              <a:fillRef idx="0">
                <a:schemeClr val="accent4"/>
              </a:fillRef>
              <a:effectRef idx="1">
                <a:schemeClr val="accent4"/>
              </a:effectRef>
              <a:fontRef idx="minor">
                <a:schemeClr val="tx1"/>
              </a:fontRef>
            </p:style>
          </p:cxnSp>
          <p:sp>
            <p:nvSpPr>
              <p:cNvPr id="283" name="TextBox 28">
                <a:extLst>
                  <a:ext uri="{FF2B5EF4-FFF2-40B4-BE49-F238E27FC236}">
                    <a16:creationId xmlns:a16="http://schemas.microsoft.com/office/drawing/2014/main" id="{BB7EA6EE-B01E-4CE4-05C3-9A3EFCCEF855}"/>
                  </a:ext>
                </a:extLst>
              </p:cNvPr>
              <p:cNvSpPr txBox="1"/>
              <p:nvPr/>
            </p:nvSpPr>
            <p:spPr>
              <a:xfrm>
                <a:off x="1921944" y="1321266"/>
                <a:ext cx="49244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Critical</a:t>
                </a:r>
              </a:p>
            </p:txBody>
          </p:sp>
          <p:sp>
            <p:nvSpPr>
              <p:cNvPr id="284" name="TextBox 28">
                <a:extLst>
                  <a:ext uri="{FF2B5EF4-FFF2-40B4-BE49-F238E27FC236}">
                    <a16:creationId xmlns:a16="http://schemas.microsoft.com/office/drawing/2014/main" id="{1D103376-6561-D400-E52B-4251A29E5A3C}"/>
                  </a:ext>
                </a:extLst>
              </p:cNvPr>
              <p:cNvSpPr txBox="1"/>
              <p:nvPr/>
            </p:nvSpPr>
            <p:spPr>
              <a:xfrm>
                <a:off x="1922837" y="1459397"/>
                <a:ext cx="50847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Regular</a:t>
                </a:r>
              </a:p>
            </p:txBody>
          </p:sp>
        </p:grpSp>
      </p:grpSp>
      <p:grpSp>
        <p:nvGrpSpPr>
          <p:cNvPr id="286" name="Groupe 285">
            <a:extLst>
              <a:ext uri="{FF2B5EF4-FFF2-40B4-BE49-F238E27FC236}">
                <a16:creationId xmlns:a16="http://schemas.microsoft.com/office/drawing/2014/main" id="{AD665928-20CA-5412-F03B-559391364833}"/>
              </a:ext>
            </a:extLst>
          </p:cNvPr>
          <p:cNvGrpSpPr/>
          <p:nvPr/>
        </p:nvGrpSpPr>
        <p:grpSpPr>
          <a:xfrm>
            <a:off x="8406146" y="2390410"/>
            <a:ext cx="777542" cy="644418"/>
            <a:chOff x="630186" y="1389365"/>
            <a:chExt cx="777542" cy="644418"/>
          </a:xfrm>
        </p:grpSpPr>
        <p:sp>
          <p:nvSpPr>
            <p:cNvPr id="287" name="Rectangle : coins arrondis 286">
              <a:extLst>
                <a:ext uri="{FF2B5EF4-FFF2-40B4-BE49-F238E27FC236}">
                  <a16:creationId xmlns:a16="http://schemas.microsoft.com/office/drawing/2014/main" id="{A734D505-FA45-73A7-7352-2CFD61C2D659}"/>
                </a:ext>
              </a:extLst>
            </p:cNvPr>
            <p:cNvSpPr/>
            <p:nvPr/>
          </p:nvSpPr>
          <p:spPr>
            <a:xfrm>
              <a:off x="630186" y="1405891"/>
              <a:ext cx="721660" cy="607626"/>
            </a:xfrm>
            <a:prstGeom prst="roundRect">
              <a:avLst>
                <a:gd name="adj" fmla="val 5048"/>
              </a:avLst>
            </a:prstGeom>
            <a:solidFill>
              <a:srgbClr val="FFFFFF"/>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8" name="Groupe 287">
              <a:extLst>
                <a:ext uri="{FF2B5EF4-FFF2-40B4-BE49-F238E27FC236}">
                  <a16:creationId xmlns:a16="http://schemas.microsoft.com/office/drawing/2014/main" id="{F0DD3A98-67C2-AF74-0FF2-3338F9F49CB9}"/>
                </a:ext>
              </a:extLst>
            </p:cNvPr>
            <p:cNvGrpSpPr/>
            <p:nvPr/>
          </p:nvGrpSpPr>
          <p:grpSpPr>
            <a:xfrm>
              <a:off x="693894" y="1389365"/>
              <a:ext cx="713834" cy="644418"/>
              <a:chOff x="1781998" y="1335553"/>
              <a:chExt cx="713834" cy="644418"/>
            </a:xfrm>
          </p:grpSpPr>
          <p:cxnSp>
            <p:nvCxnSpPr>
              <p:cNvPr id="289" name="Straight Connector 29">
                <a:extLst>
                  <a:ext uri="{FF2B5EF4-FFF2-40B4-BE49-F238E27FC236}">
                    <a16:creationId xmlns:a16="http://schemas.microsoft.com/office/drawing/2014/main" id="{25A56496-65E7-E612-3FB8-3104F6B6A4FD}"/>
                  </a:ext>
                </a:extLst>
              </p:cNvPr>
              <p:cNvCxnSpPr>
                <a:cxnSpLocks/>
              </p:cNvCxnSpPr>
              <p:nvPr/>
            </p:nvCxnSpPr>
            <p:spPr>
              <a:xfrm flipH="1" flipV="1">
                <a:off x="1782367" y="1443271"/>
                <a:ext cx="144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290" name="Straight Connector 29">
                <a:extLst>
                  <a:ext uri="{FF2B5EF4-FFF2-40B4-BE49-F238E27FC236}">
                    <a16:creationId xmlns:a16="http://schemas.microsoft.com/office/drawing/2014/main" id="{359675C8-4C1E-4D4A-0AC2-5128D606E859}"/>
                  </a:ext>
                </a:extLst>
              </p:cNvPr>
              <p:cNvCxnSpPr>
                <a:cxnSpLocks/>
              </p:cNvCxnSpPr>
              <p:nvPr/>
            </p:nvCxnSpPr>
            <p:spPr>
              <a:xfrm flipH="1" flipV="1">
                <a:off x="1781998" y="1662686"/>
                <a:ext cx="144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291" name="Straight Connector 29">
                <a:extLst>
                  <a:ext uri="{FF2B5EF4-FFF2-40B4-BE49-F238E27FC236}">
                    <a16:creationId xmlns:a16="http://schemas.microsoft.com/office/drawing/2014/main" id="{D3C59D89-60C1-7C2B-A732-D7255D51BA74}"/>
                  </a:ext>
                </a:extLst>
              </p:cNvPr>
              <p:cNvCxnSpPr>
                <a:cxnSpLocks/>
              </p:cNvCxnSpPr>
              <p:nvPr/>
            </p:nvCxnSpPr>
            <p:spPr>
              <a:xfrm flipH="1" flipV="1">
                <a:off x="1785701" y="1874789"/>
                <a:ext cx="144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sp>
            <p:nvSpPr>
              <p:cNvPr id="292" name="TextBox 28">
                <a:extLst>
                  <a:ext uri="{FF2B5EF4-FFF2-40B4-BE49-F238E27FC236}">
                    <a16:creationId xmlns:a16="http://schemas.microsoft.com/office/drawing/2014/main" id="{C87EAF4C-8264-5175-0203-213BD6A93AB9}"/>
                  </a:ext>
                </a:extLst>
              </p:cNvPr>
              <p:cNvSpPr txBox="1"/>
              <p:nvPr/>
            </p:nvSpPr>
            <p:spPr>
              <a:xfrm>
                <a:off x="1921944" y="1335553"/>
                <a:ext cx="311304"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RS</a:t>
                </a:r>
              </a:p>
            </p:txBody>
          </p:sp>
          <p:sp>
            <p:nvSpPr>
              <p:cNvPr id="293" name="TextBox 28">
                <a:extLst>
                  <a:ext uri="{FF2B5EF4-FFF2-40B4-BE49-F238E27FC236}">
                    <a16:creationId xmlns:a16="http://schemas.microsoft.com/office/drawing/2014/main" id="{22D5E22D-2DFB-99DB-603D-EBC3E5651D24}"/>
                  </a:ext>
                </a:extLst>
              </p:cNvPr>
              <p:cNvSpPr txBox="1"/>
              <p:nvPr/>
            </p:nvSpPr>
            <p:spPr>
              <a:xfrm>
                <a:off x="1920456" y="1490355"/>
                <a:ext cx="55283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Stimulus offset</a:t>
                </a:r>
              </a:p>
            </p:txBody>
          </p:sp>
          <p:sp>
            <p:nvSpPr>
              <p:cNvPr id="294" name="TextBox 28">
                <a:extLst>
                  <a:ext uri="{FF2B5EF4-FFF2-40B4-BE49-F238E27FC236}">
                    <a16:creationId xmlns:a16="http://schemas.microsoft.com/office/drawing/2014/main" id="{42FE078E-CFBC-A873-8C4C-10A290CABDF4}"/>
                  </a:ext>
                </a:extLst>
              </p:cNvPr>
              <p:cNvSpPr txBox="1"/>
              <p:nvPr/>
            </p:nvSpPr>
            <p:spPr>
              <a:xfrm>
                <a:off x="1926445" y="1764527"/>
                <a:ext cx="569387"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Start trial</a:t>
                </a:r>
              </a:p>
            </p:txBody>
          </p:sp>
        </p:grpSp>
      </p:grpSp>
      <p:sp>
        <p:nvSpPr>
          <p:cNvPr id="295" name="ZoneTexte 294">
            <a:extLst>
              <a:ext uri="{FF2B5EF4-FFF2-40B4-BE49-F238E27FC236}">
                <a16:creationId xmlns:a16="http://schemas.microsoft.com/office/drawing/2014/main" id="{DA072189-56A3-E706-2AB4-CD079EEEDA1D}"/>
              </a:ext>
            </a:extLst>
          </p:cNvPr>
          <p:cNvSpPr txBox="1"/>
          <p:nvPr/>
        </p:nvSpPr>
        <p:spPr>
          <a:xfrm>
            <a:off x="560102" y="346119"/>
            <a:ext cx="11285481" cy="830997"/>
          </a:xfrm>
          <a:prstGeom prst="rect">
            <a:avLst/>
          </a:prstGeom>
          <a:noFill/>
        </p:spPr>
        <p:txBody>
          <a:bodyPr wrap="square" rtlCol="0">
            <a:spAutoFit/>
          </a:bodyPr>
          <a:lstStyle/>
          <a:p>
            <a:r>
              <a:rPr lang="en-US" sz="1600" b="1" dirty="0"/>
              <a:t>As a conclusion, I propose the following figure to illustrate how our model accounts for the main effect of each variable.</a:t>
            </a:r>
          </a:p>
          <a:p>
            <a:r>
              <a:rPr lang="en-US" sz="1600" dirty="0"/>
              <a:t>Note that, contrary to our main hypothesis, participants do not appear to “replay” decisions at RS (absence of MET modulation) ; instead results suggests a stronger attentional focus ?</a:t>
            </a:r>
          </a:p>
        </p:txBody>
      </p:sp>
      <p:pic>
        <p:nvPicPr>
          <p:cNvPr id="299" name="Image 298">
            <a:extLst>
              <a:ext uri="{FF2B5EF4-FFF2-40B4-BE49-F238E27FC236}">
                <a16:creationId xmlns:a16="http://schemas.microsoft.com/office/drawing/2014/main" id="{B96B4A1C-734E-6E0B-C828-CA59F17B0081}"/>
              </a:ext>
            </a:extLst>
          </p:cNvPr>
          <p:cNvPicPr>
            <a:picLocks noChangeAspect="1"/>
          </p:cNvPicPr>
          <p:nvPr/>
        </p:nvPicPr>
        <p:blipFill>
          <a:blip r:embed="rId2"/>
          <a:srcRect l="48945"/>
          <a:stretch/>
        </p:blipFill>
        <p:spPr>
          <a:xfrm>
            <a:off x="4469796" y="4889839"/>
            <a:ext cx="3254493" cy="1512000"/>
          </a:xfrm>
          <a:prstGeom prst="rect">
            <a:avLst/>
          </a:prstGeom>
        </p:spPr>
      </p:pic>
      <p:pic>
        <p:nvPicPr>
          <p:cNvPr id="301" name="Image 300">
            <a:extLst>
              <a:ext uri="{FF2B5EF4-FFF2-40B4-BE49-F238E27FC236}">
                <a16:creationId xmlns:a16="http://schemas.microsoft.com/office/drawing/2014/main" id="{C7C79983-A878-8D7B-865B-CF12FE8A020E}"/>
              </a:ext>
            </a:extLst>
          </p:cNvPr>
          <p:cNvPicPr>
            <a:picLocks noChangeAspect="1"/>
          </p:cNvPicPr>
          <p:nvPr/>
        </p:nvPicPr>
        <p:blipFill>
          <a:blip r:embed="rId3"/>
          <a:srcRect l="49673"/>
          <a:stretch/>
        </p:blipFill>
        <p:spPr>
          <a:xfrm>
            <a:off x="8440142" y="4895330"/>
            <a:ext cx="3208065" cy="1512000"/>
          </a:xfrm>
          <a:prstGeom prst="rect">
            <a:avLst/>
          </a:prstGeom>
        </p:spPr>
      </p:pic>
      <p:pic>
        <p:nvPicPr>
          <p:cNvPr id="303" name="Image 302">
            <a:extLst>
              <a:ext uri="{FF2B5EF4-FFF2-40B4-BE49-F238E27FC236}">
                <a16:creationId xmlns:a16="http://schemas.microsoft.com/office/drawing/2014/main" id="{7EAF9686-D381-A390-60D1-69515114E292}"/>
              </a:ext>
            </a:extLst>
          </p:cNvPr>
          <p:cNvPicPr>
            <a:picLocks noChangeAspect="1"/>
          </p:cNvPicPr>
          <p:nvPr/>
        </p:nvPicPr>
        <p:blipFill>
          <a:blip r:embed="rId4"/>
          <a:srcRect l="48731"/>
          <a:stretch/>
        </p:blipFill>
        <p:spPr>
          <a:xfrm>
            <a:off x="492074" y="4880805"/>
            <a:ext cx="3259799" cy="1512000"/>
          </a:xfrm>
          <a:prstGeom prst="rect">
            <a:avLst/>
          </a:prstGeom>
        </p:spPr>
      </p:pic>
    </p:spTree>
    <p:extLst>
      <p:ext uri="{BB962C8B-B14F-4D97-AF65-F5344CB8AC3E}">
        <p14:creationId xmlns:p14="http://schemas.microsoft.com/office/powerpoint/2010/main" val="3675595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 coins arrondis 40">
            <a:extLst>
              <a:ext uri="{FF2B5EF4-FFF2-40B4-BE49-F238E27FC236}">
                <a16:creationId xmlns:a16="http://schemas.microsoft.com/office/drawing/2014/main" id="{CD2ABABB-D8BE-7F0F-BE2B-B054F1046F11}"/>
              </a:ext>
            </a:extLst>
          </p:cNvPr>
          <p:cNvSpPr/>
          <p:nvPr/>
        </p:nvSpPr>
        <p:spPr>
          <a:xfrm>
            <a:off x="8307727" y="634443"/>
            <a:ext cx="3687855" cy="5672137"/>
          </a:xfrm>
          <a:prstGeom prst="roundRect">
            <a:avLst>
              <a:gd name="adj" fmla="val 1292"/>
            </a:avLst>
          </a:prstGeom>
          <a:solidFill>
            <a:srgbClr val="CBB491">
              <a:alpha val="10196"/>
            </a:srgbClr>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FCA34C20-3C0E-E20C-3AD5-86AFF1FA00D6}"/>
              </a:ext>
            </a:extLst>
          </p:cNvPr>
          <p:cNvSpPr/>
          <p:nvPr/>
        </p:nvSpPr>
        <p:spPr>
          <a:xfrm>
            <a:off x="8745855" y="757560"/>
            <a:ext cx="3163628" cy="2351555"/>
          </a:xfrm>
          <a:prstGeom prst="rect">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 coins arrondis 16">
            <a:extLst>
              <a:ext uri="{FF2B5EF4-FFF2-40B4-BE49-F238E27FC236}">
                <a16:creationId xmlns:a16="http://schemas.microsoft.com/office/drawing/2014/main" id="{1CF849EE-D6FC-9A24-0D99-1CAC938B3C76}"/>
              </a:ext>
            </a:extLst>
          </p:cNvPr>
          <p:cNvSpPr/>
          <p:nvPr/>
        </p:nvSpPr>
        <p:spPr>
          <a:xfrm>
            <a:off x="4271152" y="629603"/>
            <a:ext cx="3687855" cy="5672137"/>
          </a:xfrm>
          <a:prstGeom prst="roundRect">
            <a:avLst>
              <a:gd name="adj" fmla="val 1292"/>
            </a:avLst>
          </a:prstGeom>
          <a:solidFill>
            <a:srgbClr val="CBB491">
              <a:alpha val="10196"/>
            </a:srgbClr>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FA3957AB-84B1-6DF2-18BF-BE995442A515}"/>
              </a:ext>
            </a:extLst>
          </p:cNvPr>
          <p:cNvSpPr/>
          <p:nvPr/>
        </p:nvSpPr>
        <p:spPr>
          <a:xfrm>
            <a:off x="4722068" y="771770"/>
            <a:ext cx="3163628" cy="2351555"/>
          </a:xfrm>
          <a:prstGeom prst="rect">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 coins arrondis 1">
            <a:extLst>
              <a:ext uri="{FF2B5EF4-FFF2-40B4-BE49-F238E27FC236}">
                <a16:creationId xmlns:a16="http://schemas.microsoft.com/office/drawing/2014/main" id="{1B2D9D05-5FDB-51FF-3BDF-DF64777EA948}"/>
              </a:ext>
            </a:extLst>
          </p:cNvPr>
          <p:cNvSpPr/>
          <p:nvPr/>
        </p:nvSpPr>
        <p:spPr>
          <a:xfrm>
            <a:off x="276239" y="629601"/>
            <a:ext cx="3687855" cy="5672137"/>
          </a:xfrm>
          <a:prstGeom prst="roundRect">
            <a:avLst>
              <a:gd name="adj" fmla="val 1532"/>
            </a:avLst>
          </a:prstGeom>
          <a:solidFill>
            <a:srgbClr val="CBB491">
              <a:alpha val="10196"/>
            </a:srgbClr>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F9B101FE-CA78-54E8-2861-C97822A931E6}"/>
              </a:ext>
            </a:extLst>
          </p:cNvPr>
          <p:cNvSpPr/>
          <p:nvPr/>
        </p:nvSpPr>
        <p:spPr>
          <a:xfrm>
            <a:off x="714375" y="757561"/>
            <a:ext cx="3163628" cy="2351555"/>
          </a:xfrm>
          <a:prstGeom prst="rect">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212D0048-7AF6-F963-FA8D-EE9ABADE0238}"/>
              </a:ext>
            </a:extLst>
          </p:cNvPr>
          <p:cNvSpPr txBox="1"/>
          <p:nvPr/>
        </p:nvSpPr>
        <p:spPr>
          <a:xfrm>
            <a:off x="872982" y="1462147"/>
            <a:ext cx="294725"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C00000"/>
                </a:solidFill>
                <a:latin typeface="+mj-lt"/>
              </a:rPr>
              <a:t>g</a:t>
            </a:r>
          </a:p>
        </p:txBody>
      </p:sp>
      <p:cxnSp>
        <p:nvCxnSpPr>
          <p:cNvPr id="4" name="Straight Connector 9">
            <a:extLst>
              <a:ext uri="{FF2B5EF4-FFF2-40B4-BE49-F238E27FC236}">
                <a16:creationId xmlns:a16="http://schemas.microsoft.com/office/drawing/2014/main" id="{C60CF183-2EEB-9959-D033-A9C77A4A075E}"/>
              </a:ext>
            </a:extLst>
          </p:cNvPr>
          <p:cNvCxnSpPr>
            <a:cxnSpLocks noChangeAspect="1"/>
          </p:cNvCxnSpPr>
          <p:nvPr/>
        </p:nvCxnSpPr>
        <p:spPr>
          <a:xfrm flipV="1">
            <a:off x="1887443" y="1460508"/>
            <a:ext cx="462301" cy="621926"/>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5" name="Straight Connector 24">
            <a:extLst>
              <a:ext uri="{FF2B5EF4-FFF2-40B4-BE49-F238E27FC236}">
                <a16:creationId xmlns:a16="http://schemas.microsoft.com/office/drawing/2014/main" id="{4B368586-6D9D-AD0E-C311-B10C87241945}"/>
              </a:ext>
            </a:extLst>
          </p:cNvPr>
          <p:cNvCxnSpPr>
            <a:cxnSpLocks/>
          </p:cNvCxnSpPr>
          <p:nvPr/>
        </p:nvCxnSpPr>
        <p:spPr>
          <a:xfrm>
            <a:off x="3570330" y="987070"/>
            <a:ext cx="0" cy="2052000"/>
          </a:xfrm>
          <a:prstGeom prst="line">
            <a:avLst/>
          </a:prstGeom>
        </p:spPr>
        <p:style>
          <a:lnRef idx="2">
            <a:schemeClr val="dk1"/>
          </a:lnRef>
          <a:fillRef idx="0">
            <a:schemeClr val="dk1"/>
          </a:fillRef>
          <a:effectRef idx="1">
            <a:schemeClr val="dk1"/>
          </a:effectRef>
          <a:fontRef idx="minor">
            <a:schemeClr val="tx1"/>
          </a:fontRef>
        </p:style>
      </p:cxnSp>
      <p:sp>
        <p:nvSpPr>
          <p:cNvPr id="6" name="TextBox 28">
            <a:extLst>
              <a:ext uri="{FF2B5EF4-FFF2-40B4-BE49-F238E27FC236}">
                <a16:creationId xmlns:a16="http://schemas.microsoft.com/office/drawing/2014/main" id="{62A2A79F-5D89-683B-9F26-3CFD5B633DBD}"/>
              </a:ext>
            </a:extLst>
          </p:cNvPr>
          <p:cNvSpPr txBox="1"/>
          <p:nvPr/>
        </p:nvSpPr>
        <p:spPr>
          <a:xfrm>
            <a:off x="1473728" y="771770"/>
            <a:ext cx="357790" cy="2616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ysClr val="windowText" lastClr="000000"/>
                </a:solidFill>
                <a:latin typeface="+mj-lt"/>
              </a:rPr>
              <a:t>RS</a:t>
            </a:r>
          </a:p>
        </p:txBody>
      </p:sp>
      <p:sp>
        <p:nvSpPr>
          <p:cNvPr id="7" name="TextBox 40">
            <a:extLst>
              <a:ext uri="{FF2B5EF4-FFF2-40B4-BE49-F238E27FC236}">
                <a16:creationId xmlns:a16="http://schemas.microsoft.com/office/drawing/2014/main" id="{8C36518F-09A0-696E-70E2-EC23118A9BEE}"/>
              </a:ext>
            </a:extLst>
          </p:cNvPr>
          <p:cNvSpPr txBox="1"/>
          <p:nvPr/>
        </p:nvSpPr>
        <p:spPr>
          <a:xfrm>
            <a:off x="3216502" y="751740"/>
            <a:ext cx="72487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ysClr val="windowText" lastClr="000000"/>
                </a:solidFill>
                <a:latin typeface="+mj-lt"/>
              </a:rPr>
              <a:t>Response</a:t>
            </a:r>
          </a:p>
        </p:txBody>
      </p:sp>
      <p:cxnSp>
        <p:nvCxnSpPr>
          <p:cNvPr id="8" name="Straight Connector 33">
            <a:extLst>
              <a:ext uri="{FF2B5EF4-FFF2-40B4-BE49-F238E27FC236}">
                <a16:creationId xmlns:a16="http://schemas.microsoft.com/office/drawing/2014/main" id="{EFFC231A-0AD4-6271-17E6-3DEEF7BAA75A}"/>
              </a:ext>
            </a:extLst>
          </p:cNvPr>
          <p:cNvCxnSpPr>
            <a:cxnSpLocks/>
          </p:cNvCxnSpPr>
          <p:nvPr/>
        </p:nvCxnSpPr>
        <p:spPr>
          <a:xfrm>
            <a:off x="1134844" y="1630733"/>
            <a:ext cx="1620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sp>
        <p:nvSpPr>
          <p:cNvPr id="9" name="TextBox 23">
            <a:extLst>
              <a:ext uri="{FF2B5EF4-FFF2-40B4-BE49-F238E27FC236}">
                <a16:creationId xmlns:a16="http://schemas.microsoft.com/office/drawing/2014/main" id="{01B937C9-79AC-41EB-7BEB-D982DBC1FFF3}"/>
              </a:ext>
            </a:extLst>
          </p:cNvPr>
          <p:cNvSpPr txBox="1"/>
          <p:nvPr/>
        </p:nvSpPr>
        <p:spPr>
          <a:xfrm>
            <a:off x="854385" y="2505587"/>
            <a:ext cx="611973" cy="400110"/>
          </a:xfrm>
          <a:prstGeom prst="rect">
            <a:avLst/>
          </a:prstGeom>
          <a:noFill/>
          <a:ln w="3175">
            <a:no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latin typeface="+mj-lt"/>
              </a:rPr>
              <a:t>Delay period</a:t>
            </a:r>
          </a:p>
        </p:txBody>
      </p:sp>
      <p:sp>
        <p:nvSpPr>
          <p:cNvPr id="10" name="TextBox 23">
            <a:extLst>
              <a:ext uri="{FF2B5EF4-FFF2-40B4-BE49-F238E27FC236}">
                <a16:creationId xmlns:a16="http://schemas.microsoft.com/office/drawing/2014/main" id="{0400A7B2-C2E3-E058-DCA8-40D2C8B273A2}"/>
              </a:ext>
            </a:extLst>
          </p:cNvPr>
          <p:cNvSpPr txBox="1"/>
          <p:nvPr/>
        </p:nvSpPr>
        <p:spPr>
          <a:xfrm>
            <a:off x="276239" y="222990"/>
            <a:ext cx="3687854"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latin typeface="+mj-lt"/>
              </a:rPr>
              <a:t>Stimulus discriminability</a:t>
            </a:r>
          </a:p>
        </p:txBody>
      </p:sp>
      <p:cxnSp>
        <p:nvCxnSpPr>
          <p:cNvPr id="11" name="Straight Connector 24">
            <a:extLst>
              <a:ext uri="{FF2B5EF4-FFF2-40B4-BE49-F238E27FC236}">
                <a16:creationId xmlns:a16="http://schemas.microsoft.com/office/drawing/2014/main" id="{4C3F7D5F-5A8A-9A8E-0204-C5397233C219}"/>
              </a:ext>
            </a:extLst>
          </p:cNvPr>
          <p:cNvCxnSpPr>
            <a:cxnSpLocks/>
          </p:cNvCxnSpPr>
          <p:nvPr/>
        </p:nvCxnSpPr>
        <p:spPr>
          <a:xfrm>
            <a:off x="1655850" y="987070"/>
            <a:ext cx="0" cy="2052000"/>
          </a:xfrm>
          <a:prstGeom prst="line">
            <a:avLst/>
          </a:prstGeom>
        </p:spPr>
        <p:style>
          <a:lnRef idx="2">
            <a:schemeClr val="dk1"/>
          </a:lnRef>
          <a:fillRef idx="0">
            <a:schemeClr val="dk1"/>
          </a:fillRef>
          <a:effectRef idx="1">
            <a:schemeClr val="dk1"/>
          </a:effectRef>
          <a:fontRef idx="minor">
            <a:schemeClr val="tx1"/>
          </a:fontRef>
        </p:style>
      </p:cxnSp>
      <p:grpSp>
        <p:nvGrpSpPr>
          <p:cNvPr id="12" name="Groupe 11">
            <a:extLst>
              <a:ext uri="{FF2B5EF4-FFF2-40B4-BE49-F238E27FC236}">
                <a16:creationId xmlns:a16="http://schemas.microsoft.com/office/drawing/2014/main" id="{7CC3B500-DC63-DFDC-B843-DCE5AA90D423}"/>
              </a:ext>
            </a:extLst>
          </p:cNvPr>
          <p:cNvGrpSpPr/>
          <p:nvPr/>
        </p:nvGrpSpPr>
        <p:grpSpPr>
          <a:xfrm>
            <a:off x="818994" y="2396279"/>
            <a:ext cx="1056889" cy="4"/>
            <a:chOff x="379750" y="2690894"/>
            <a:chExt cx="1056889" cy="4"/>
          </a:xfrm>
        </p:grpSpPr>
        <p:cxnSp>
          <p:nvCxnSpPr>
            <p:cNvPr id="13" name="Straight Connector 29">
              <a:extLst>
                <a:ext uri="{FF2B5EF4-FFF2-40B4-BE49-F238E27FC236}">
                  <a16:creationId xmlns:a16="http://schemas.microsoft.com/office/drawing/2014/main" id="{6041C99C-072A-67F3-BE57-9E134BA550F1}"/>
                </a:ext>
              </a:extLst>
            </p:cNvPr>
            <p:cNvCxnSpPr>
              <a:cxnSpLocks/>
            </p:cNvCxnSpPr>
            <p:nvPr/>
          </p:nvCxnSpPr>
          <p:spPr>
            <a:xfrm flipH="1" flipV="1">
              <a:off x="572639" y="2690898"/>
              <a:ext cx="864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14" name="Straight Connector 29">
              <a:extLst>
                <a:ext uri="{FF2B5EF4-FFF2-40B4-BE49-F238E27FC236}">
                  <a16:creationId xmlns:a16="http://schemas.microsoft.com/office/drawing/2014/main" id="{08E5B1B1-F774-FB9D-8963-8F5F68942F30}"/>
                </a:ext>
              </a:extLst>
            </p:cNvPr>
            <p:cNvCxnSpPr>
              <a:cxnSpLocks/>
            </p:cNvCxnSpPr>
            <p:nvPr/>
          </p:nvCxnSpPr>
          <p:spPr>
            <a:xfrm flipH="1" flipV="1">
              <a:off x="501994" y="2690896"/>
              <a:ext cx="18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15" name="Straight Connector 29">
              <a:extLst>
                <a:ext uri="{FF2B5EF4-FFF2-40B4-BE49-F238E27FC236}">
                  <a16:creationId xmlns:a16="http://schemas.microsoft.com/office/drawing/2014/main" id="{6E4A3616-A2E0-607E-1F65-F411C342CCEF}"/>
                </a:ext>
              </a:extLst>
            </p:cNvPr>
            <p:cNvCxnSpPr>
              <a:cxnSpLocks/>
            </p:cNvCxnSpPr>
            <p:nvPr/>
          </p:nvCxnSpPr>
          <p:spPr>
            <a:xfrm flipH="1" flipV="1">
              <a:off x="432933" y="2690895"/>
              <a:ext cx="18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16" name="Straight Connector 29">
              <a:extLst>
                <a:ext uri="{FF2B5EF4-FFF2-40B4-BE49-F238E27FC236}">
                  <a16:creationId xmlns:a16="http://schemas.microsoft.com/office/drawing/2014/main" id="{9F4138BF-7313-49BF-D4CD-A2895407CC6F}"/>
                </a:ext>
              </a:extLst>
            </p:cNvPr>
            <p:cNvCxnSpPr>
              <a:cxnSpLocks/>
            </p:cNvCxnSpPr>
            <p:nvPr/>
          </p:nvCxnSpPr>
          <p:spPr>
            <a:xfrm flipH="1" flipV="1">
              <a:off x="379750" y="2690894"/>
              <a:ext cx="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grpSp>
      <p:cxnSp>
        <p:nvCxnSpPr>
          <p:cNvPr id="18" name="Straight Connector 9">
            <a:extLst>
              <a:ext uri="{FF2B5EF4-FFF2-40B4-BE49-F238E27FC236}">
                <a16:creationId xmlns:a16="http://schemas.microsoft.com/office/drawing/2014/main" id="{A7E4EE07-FB80-2B50-B2CB-FE44089405B0}"/>
              </a:ext>
            </a:extLst>
          </p:cNvPr>
          <p:cNvCxnSpPr>
            <a:cxnSpLocks/>
          </p:cNvCxnSpPr>
          <p:nvPr/>
        </p:nvCxnSpPr>
        <p:spPr>
          <a:xfrm flipV="1">
            <a:off x="5867478" y="1410635"/>
            <a:ext cx="679785" cy="914503"/>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9" name="Straight Arrow Connector 11">
            <a:extLst>
              <a:ext uri="{FF2B5EF4-FFF2-40B4-BE49-F238E27FC236}">
                <a16:creationId xmlns:a16="http://schemas.microsoft.com/office/drawing/2014/main" id="{73469BAA-FBD1-BE5B-6B67-8C71E8F6B63E}"/>
              </a:ext>
            </a:extLst>
          </p:cNvPr>
          <p:cNvCxnSpPr/>
          <p:nvPr/>
        </p:nvCxnSpPr>
        <p:spPr>
          <a:xfrm>
            <a:off x="5654277" y="2730976"/>
            <a:ext cx="1044000" cy="0"/>
          </a:xfrm>
          <a:prstGeom prst="straightConnector1">
            <a:avLst/>
          </a:prstGeom>
          <a:ln>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2">
            <a:extLst>
              <a:ext uri="{FF2B5EF4-FFF2-40B4-BE49-F238E27FC236}">
                <a16:creationId xmlns:a16="http://schemas.microsoft.com/office/drawing/2014/main" id="{2899EAAC-20B7-9E19-71BF-901654CB934F}"/>
              </a:ext>
            </a:extLst>
          </p:cNvPr>
          <p:cNvCxnSpPr/>
          <p:nvPr/>
        </p:nvCxnSpPr>
        <p:spPr>
          <a:xfrm flipV="1">
            <a:off x="7404550" y="2623464"/>
            <a:ext cx="180000" cy="6567"/>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18">
            <a:extLst>
              <a:ext uri="{FF2B5EF4-FFF2-40B4-BE49-F238E27FC236}">
                <a16:creationId xmlns:a16="http://schemas.microsoft.com/office/drawing/2014/main" id="{8ABBA598-5A29-D2EA-B187-6E2C13E92849}"/>
              </a:ext>
            </a:extLst>
          </p:cNvPr>
          <p:cNvCxnSpPr/>
          <p:nvPr/>
        </p:nvCxnSpPr>
        <p:spPr>
          <a:xfrm>
            <a:off x="5651408" y="2624762"/>
            <a:ext cx="720000"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19">
            <a:extLst>
              <a:ext uri="{FF2B5EF4-FFF2-40B4-BE49-F238E27FC236}">
                <a16:creationId xmlns:a16="http://schemas.microsoft.com/office/drawing/2014/main" id="{1AA9B245-0ED9-BF62-15D0-C5609836A896}"/>
              </a:ext>
            </a:extLst>
          </p:cNvPr>
          <p:cNvCxnSpPr/>
          <p:nvPr/>
        </p:nvCxnSpPr>
        <p:spPr>
          <a:xfrm>
            <a:off x="7297494" y="2727575"/>
            <a:ext cx="288000" cy="0"/>
          </a:xfrm>
          <a:prstGeom prst="straightConnector1">
            <a:avLst/>
          </a:prstGeom>
          <a:ln>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TextBox 29">
            <a:extLst>
              <a:ext uri="{FF2B5EF4-FFF2-40B4-BE49-F238E27FC236}">
                <a16:creationId xmlns:a16="http://schemas.microsoft.com/office/drawing/2014/main" id="{4F579587-9F56-EBB7-91E0-4CA552198B7E}"/>
              </a:ext>
            </a:extLst>
          </p:cNvPr>
          <p:cNvSpPr txBox="1"/>
          <p:nvPr/>
        </p:nvSpPr>
        <p:spPr>
          <a:xfrm>
            <a:off x="5615289" y="2768713"/>
            <a:ext cx="90120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rgbClr val="000000"/>
                </a:solidFill>
                <a:latin typeface="+mj-lt"/>
              </a:rPr>
              <a:t>mean PMET</a:t>
            </a:r>
          </a:p>
        </p:txBody>
      </p:sp>
      <p:cxnSp>
        <p:nvCxnSpPr>
          <p:cNvPr id="24" name="Straight Connector 24">
            <a:extLst>
              <a:ext uri="{FF2B5EF4-FFF2-40B4-BE49-F238E27FC236}">
                <a16:creationId xmlns:a16="http://schemas.microsoft.com/office/drawing/2014/main" id="{5096627C-B4C6-B87C-2E9B-A1EDB83564BD}"/>
              </a:ext>
            </a:extLst>
          </p:cNvPr>
          <p:cNvCxnSpPr>
            <a:cxnSpLocks/>
          </p:cNvCxnSpPr>
          <p:nvPr/>
        </p:nvCxnSpPr>
        <p:spPr>
          <a:xfrm>
            <a:off x="7590640" y="987070"/>
            <a:ext cx="0" cy="2052000"/>
          </a:xfrm>
          <a:prstGeom prst="line">
            <a:avLst/>
          </a:prstGeom>
        </p:spPr>
        <p:style>
          <a:lnRef idx="2">
            <a:schemeClr val="dk1"/>
          </a:lnRef>
          <a:fillRef idx="0">
            <a:schemeClr val="dk1"/>
          </a:fillRef>
          <a:effectRef idx="1">
            <a:schemeClr val="dk1"/>
          </a:effectRef>
          <a:fontRef idx="minor">
            <a:schemeClr val="tx1"/>
          </a:fontRef>
        </p:style>
      </p:cxnSp>
      <p:sp>
        <p:nvSpPr>
          <p:cNvPr id="25" name="TextBox 28">
            <a:extLst>
              <a:ext uri="{FF2B5EF4-FFF2-40B4-BE49-F238E27FC236}">
                <a16:creationId xmlns:a16="http://schemas.microsoft.com/office/drawing/2014/main" id="{40E68D2B-ED79-768D-D017-F85C1398E2B0}"/>
              </a:ext>
            </a:extLst>
          </p:cNvPr>
          <p:cNvSpPr txBox="1"/>
          <p:nvPr/>
        </p:nvSpPr>
        <p:spPr>
          <a:xfrm>
            <a:off x="5469908" y="771770"/>
            <a:ext cx="357790" cy="2616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ysClr val="windowText" lastClr="000000"/>
                </a:solidFill>
                <a:latin typeface="+mj-lt"/>
              </a:rPr>
              <a:t>RS</a:t>
            </a:r>
          </a:p>
        </p:txBody>
      </p:sp>
      <p:sp>
        <p:nvSpPr>
          <p:cNvPr id="26" name="TextBox 40">
            <a:extLst>
              <a:ext uri="{FF2B5EF4-FFF2-40B4-BE49-F238E27FC236}">
                <a16:creationId xmlns:a16="http://schemas.microsoft.com/office/drawing/2014/main" id="{85F68CE3-E663-EA1D-5AA9-C46F97159B29}"/>
              </a:ext>
            </a:extLst>
          </p:cNvPr>
          <p:cNvSpPr txBox="1"/>
          <p:nvPr/>
        </p:nvSpPr>
        <p:spPr>
          <a:xfrm>
            <a:off x="7225487" y="754624"/>
            <a:ext cx="72487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ysClr val="windowText" lastClr="000000"/>
                </a:solidFill>
                <a:latin typeface="+mj-lt"/>
              </a:rPr>
              <a:t>Response</a:t>
            </a:r>
          </a:p>
        </p:txBody>
      </p:sp>
      <p:cxnSp>
        <p:nvCxnSpPr>
          <p:cNvPr id="27" name="Straight Connector 1">
            <a:extLst>
              <a:ext uri="{FF2B5EF4-FFF2-40B4-BE49-F238E27FC236}">
                <a16:creationId xmlns:a16="http://schemas.microsoft.com/office/drawing/2014/main" id="{996E56A4-CEAB-26CD-322B-55766799CB91}"/>
              </a:ext>
            </a:extLst>
          </p:cNvPr>
          <p:cNvCxnSpPr>
            <a:cxnSpLocks noChangeAspect="1"/>
          </p:cNvCxnSpPr>
          <p:nvPr/>
        </p:nvCxnSpPr>
        <p:spPr>
          <a:xfrm flipV="1">
            <a:off x="5876498" y="1424561"/>
            <a:ext cx="1068896" cy="937503"/>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28" name="Straight Connector 29">
            <a:extLst>
              <a:ext uri="{FF2B5EF4-FFF2-40B4-BE49-F238E27FC236}">
                <a16:creationId xmlns:a16="http://schemas.microsoft.com/office/drawing/2014/main" id="{0F82517A-05E4-EC7F-1C26-9D9B89498E0F}"/>
              </a:ext>
            </a:extLst>
          </p:cNvPr>
          <p:cNvCxnSpPr>
            <a:cxnSpLocks/>
          </p:cNvCxnSpPr>
          <p:nvPr/>
        </p:nvCxnSpPr>
        <p:spPr>
          <a:xfrm flipH="1" flipV="1">
            <a:off x="5001892" y="2325138"/>
            <a:ext cx="864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29" name="Straight Connector 31">
            <a:extLst>
              <a:ext uri="{FF2B5EF4-FFF2-40B4-BE49-F238E27FC236}">
                <a16:creationId xmlns:a16="http://schemas.microsoft.com/office/drawing/2014/main" id="{7CEC1B20-0633-794E-2043-D0854E8D361A}"/>
              </a:ext>
            </a:extLst>
          </p:cNvPr>
          <p:cNvCxnSpPr>
            <a:cxnSpLocks/>
          </p:cNvCxnSpPr>
          <p:nvPr/>
        </p:nvCxnSpPr>
        <p:spPr>
          <a:xfrm flipH="1">
            <a:off x="5004276" y="2362175"/>
            <a:ext cx="86400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sp>
        <p:nvSpPr>
          <p:cNvPr id="30" name="TextBox 29">
            <a:extLst>
              <a:ext uri="{FF2B5EF4-FFF2-40B4-BE49-F238E27FC236}">
                <a16:creationId xmlns:a16="http://schemas.microsoft.com/office/drawing/2014/main" id="{33DF17A5-F55B-0B54-1D55-C9536E7B2423}"/>
              </a:ext>
            </a:extLst>
          </p:cNvPr>
          <p:cNvSpPr txBox="1"/>
          <p:nvPr/>
        </p:nvSpPr>
        <p:spPr>
          <a:xfrm>
            <a:off x="6837517" y="2768713"/>
            <a:ext cx="822661"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dirty="0">
                <a:solidFill>
                  <a:srgbClr val="000000"/>
                </a:solidFill>
                <a:latin typeface="+mj-lt"/>
              </a:rPr>
              <a:t>mean MET</a:t>
            </a:r>
          </a:p>
        </p:txBody>
      </p:sp>
      <p:cxnSp>
        <p:nvCxnSpPr>
          <p:cNvPr id="31" name="Straight Connector 9">
            <a:extLst>
              <a:ext uri="{FF2B5EF4-FFF2-40B4-BE49-F238E27FC236}">
                <a16:creationId xmlns:a16="http://schemas.microsoft.com/office/drawing/2014/main" id="{BAD09F7B-3F1D-3263-7090-4C4291956D3D}"/>
              </a:ext>
            </a:extLst>
          </p:cNvPr>
          <p:cNvCxnSpPr>
            <a:cxnSpLocks noChangeAspect="1"/>
          </p:cNvCxnSpPr>
          <p:nvPr/>
        </p:nvCxnSpPr>
        <p:spPr>
          <a:xfrm flipV="1">
            <a:off x="7427852" y="1408254"/>
            <a:ext cx="157748" cy="212215"/>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sp>
        <p:nvSpPr>
          <p:cNvPr id="32" name="TextBox 23">
            <a:extLst>
              <a:ext uri="{FF2B5EF4-FFF2-40B4-BE49-F238E27FC236}">
                <a16:creationId xmlns:a16="http://schemas.microsoft.com/office/drawing/2014/main" id="{AFAA9B8E-D4AB-F6DF-1EDA-A252149BA326}"/>
              </a:ext>
            </a:extLst>
          </p:cNvPr>
          <p:cNvSpPr txBox="1"/>
          <p:nvPr/>
        </p:nvSpPr>
        <p:spPr>
          <a:xfrm>
            <a:off x="4841675" y="2505587"/>
            <a:ext cx="611973" cy="400110"/>
          </a:xfrm>
          <a:prstGeom prst="rect">
            <a:avLst/>
          </a:prstGeom>
          <a:noFill/>
          <a:ln w="3175">
            <a:no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latin typeface="+mj-lt"/>
              </a:rPr>
              <a:t>Delay period</a:t>
            </a:r>
          </a:p>
        </p:txBody>
      </p:sp>
      <p:sp>
        <p:nvSpPr>
          <p:cNvPr id="33" name="TextBox 23">
            <a:extLst>
              <a:ext uri="{FF2B5EF4-FFF2-40B4-BE49-F238E27FC236}">
                <a16:creationId xmlns:a16="http://schemas.microsoft.com/office/drawing/2014/main" id="{EA38FCAD-F09F-078E-7228-A6630AE335D1}"/>
              </a:ext>
            </a:extLst>
          </p:cNvPr>
          <p:cNvSpPr txBox="1"/>
          <p:nvPr/>
        </p:nvSpPr>
        <p:spPr>
          <a:xfrm>
            <a:off x="4271152" y="225140"/>
            <a:ext cx="3687853"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latin typeface="+mj-lt"/>
              </a:rPr>
              <a:t>Trial value</a:t>
            </a:r>
          </a:p>
        </p:txBody>
      </p:sp>
      <p:cxnSp>
        <p:nvCxnSpPr>
          <p:cNvPr id="34" name="Straight Connector 24">
            <a:extLst>
              <a:ext uri="{FF2B5EF4-FFF2-40B4-BE49-F238E27FC236}">
                <a16:creationId xmlns:a16="http://schemas.microsoft.com/office/drawing/2014/main" id="{07EC3202-BF60-A9A2-CA28-4BBA8D0A40ED}"/>
              </a:ext>
            </a:extLst>
          </p:cNvPr>
          <p:cNvCxnSpPr>
            <a:cxnSpLocks/>
          </p:cNvCxnSpPr>
          <p:nvPr/>
        </p:nvCxnSpPr>
        <p:spPr>
          <a:xfrm>
            <a:off x="5643140" y="987070"/>
            <a:ext cx="0" cy="205200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29">
            <a:extLst>
              <a:ext uri="{FF2B5EF4-FFF2-40B4-BE49-F238E27FC236}">
                <a16:creationId xmlns:a16="http://schemas.microsoft.com/office/drawing/2014/main" id="{37B6FA9B-1D16-ECB3-5C1E-1070CABCDADB}"/>
              </a:ext>
            </a:extLst>
          </p:cNvPr>
          <p:cNvCxnSpPr>
            <a:cxnSpLocks/>
          </p:cNvCxnSpPr>
          <p:nvPr/>
        </p:nvCxnSpPr>
        <p:spPr>
          <a:xfrm flipH="1" flipV="1">
            <a:off x="4931247" y="2325136"/>
            <a:ext cx="18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36" name="Straight Connector 31">
            <a:extLst>
              <a:ext uri="{FF2B5EF4-FFF2-40B4-BE49-F238E27FC236}">
                <a16:creationId xmlns:a16="http://schemas.microsoft.com/office/drawing/2014/main" id="{78610647-0A5D-E041-21CF-88533B57ED05}"/>
              </a:ext>
            </a:extLst>
          </p:cNvPr>
          <p:cNvCxnSpPr>
            <a:cxnSpLocks/>
          </p:cNvCxnSpPr>
          <p:nvPr/>
        </p:nvCxnSpPr>
        <p:spPr>
          <a:xfrm flipH="1">
            <a:off x="4930456" y="2362173"/>
            <a:ext cx="1800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37" name="Straight Connector 29">
            <a:extLst>
              <a:ext uri="{FF2B5EF4-FFF2-40B4-BE49-F238E27FC236}">
                <a16:creationId xmlns:a16="http://schemas.microsoft.com/office/drawing/2014/main" id="{85B57D55-E4CA-A5D3-C189-3CE0D1437AB2}"/>
              </a:ext>
            </a:extLst>
          </p:cNvPr>
          <p:cNvCxnSpPr>
            <a:cxnSpLocks/>
          </p:cNvCxnSpPr>
          <p:nvPr/>
        </p:nvCxnSpPr>
        <p:spPr>
          <a:xfrm flipH="1" flipV="1">
            <a:off x="4862186" y="2325135"/>
            <a:ext cx="18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38" name="Straight Connector 31">
            <a:extLst>
              <a:ext uri="{FF2B5EF4-FFF2-40B4-BE49-F238E27FC236}">
                <a16:creationId xmlns:a16="http://schemas.microsoft.com/office/drawing/2014/main" id="{8BCD8296-D624-AEF8-3879-1BDF2805EEAC}"/>
              </a:ext>
            </a:extLst>
          </p:cNvPr>
          <p:cNvCxnSpPr>
            <a:cxnSpLocks/>
          </p:cNvCxnSpPr>
          <p:nvPr/>
        </p:nvCxnSpPr>
        <p:spPr>
          <a:xfrm flipH="1">
            <a:off x="4861395" y="2362172"/>
            <a:ext cx="1800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39" name="Straight Connector 29">
            <a:extLst>
              <a:ext uri="{FF2B5EF4-FFF2-40B4-BE49-F238E27FC236}">
                <a16:creationId xmlns:a16="http://schemas.microsoft.com/office/drawing/2014/main" id="{A3592EBB-AE7E-735B-A20D-1158D45F2C3A}"/>
              </a:ext>
            </a:extLst>
          </p:cNvPr>
          <p:cNvCxnSpPr>
            <a:cxnSpLocks/>
          </p:cNvCxnSpPr>
          <p:nvPr/>
        </p:nvCxnSpPr>
        <p:spPr>
          <a:xfrm flipH="1" flipV="1">
            <a:off x="4809003" y="2325134"/>
            <a:ext cx="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40" name="Straight Connector 31">
            <a:extLst>
              <a:ext uri="{FF2B5EF4-FFF2-40B4-BE49-F238E27FC236}">
                <a16:creationId xmlns:a16="http://schemas.microsoft.com/office/drawing/2014/main" id="{63D25CA0-758D-FE0A-FF3B-415ACFF21295}"/>
              </a:ext>
            </a:extLst>
          </p:cNvPr>
          <p:cNvCxnSpPr>
            <a:cxnSpLocks/>
          </p:cNvCxnSpPr>
          <p:nvPr/>
        </p:nvCxnSpPr>
        <p:spPr>
          <a:xfrm flipH="1">
            <a:off x="4811387" y="2362171"/>
            <a:ext cx="0" cy="0"/>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sp>
        <p:nvSpPr>
          <p:cNvPr id="42" name="TextBox 3">
            <a:extLst>
              <a:ext uri="{FF2B5EF4-FFF2-40B4-BE49-F238E27FC236}">
                <a16:creationId xmlns:a16="http://schemas.microsoft.com/office/drawing/2014/main" id="{E1E565E7-0FC5-3B20-0EDF-4821386479B9}"/>
              </a:ext>
            </a:extLst>
          </p:cNvPr>
          <p:cNvSpPr txBox="1"/>
          <p:nvPr/>
        </p:nvSpPr>
        <p:spPr>
          <a:xfrm>
            <a:off x="8989120" y="1464486"/>
            <a:ext cx="261610"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C00000"/>
                </a:solidFill>
                <a:latin typeface="+mj-lt"/>
              </a:rPr>
              <a:t>g</a:t>
            </a:r>
          </a:p>
        </p:txBody>
      </p:sp>
      <p:cxnSp>
        <p:nvCxnSpPr>
          <p:cNvPr id="43" name="Straight Connector 9">
            <a:extLst>
              <a:ext uri="{FF2B5EF4-FFF2-40B4-BE49-F238E27FC236}">
                <a16:creationId xmlns:a16="http://schemas.microsoft.com/office/drawing/2014/main" id="{E2B76C1A-3559-ECA9-BF50-9A0FFB54CF3C}"/>
              </a:ext>
            </a:extLst>
          </p:cNvPr>
          <p:cNvCxnSpPr>
            <a:cxnSpLocks noChangeAspect="1"/>
          </p:cNvCxnSpPr>
          <p:nvPr/>
        </p:nvCxnSpPr>
        <p:spPr>
          <a:xfrm flipV="1">
            <a:off x="9978085" y="1483227"/>
            <a:ext cx="679785" cy="914503"/>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44" name="Straight Arrow Connector 11">
            <a:extLst>
              <a:ext uri="{FF2B5EF4-FFF2-40B4-BE49-F238E27FC236}">
                <a16:creationId xmlns:a16="http://schemas.microsoft.com/office/drawing/2014/main" id="{CB094FB4-4D91-568C-4654-7ABA9C091478}"/>
              </a:ext>
            </a:extLst>
          </p:cNvPr>
          <p:cNvCxnSpPr/>
          <p:nvPr/>
        </p:nvCxnSpPr>
        <p:spPr>
          <a:xfrm>
            <a:off x="9748581" y="2661192"/>
            <a:ext cx="576000" cy="0"/>
          </a:xfrm>
          <a:prstGeom prst="straightConnector1">
            <a:avLst/>
          </a:prstGeom>
          <a:ln>
            <a:solidFill>
              <a:srgbClr val="A569B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18">
            <a:extLst>
              <a:ext uri="{FF2B5EF4-FFF2-40B4-BE49-F238E27FC236}">
                <a16:creationId xmlns:a16="http://schemas.microsoft.com/office/drawing/2014/main" id="{FBB0149B-9E1D-DF36-EC83-C4B7D9A66E89}"/>
              </a:ext>
            </a:extLst>
          </p:cNvPr>
          <p:cNvCxnSpPr/>
          <p:nvPr/>
        </p:nvCxnSpPr>
        <p:spPr>
          <a:xfrm>
            <a:off x="9748581" y="2571417"/>
            <a:ext cx="576000" cy="0"/>
          </a:xfrm>
          <a:prstGeom prst="straightConnector1">
            <a:avLst/>
          </a:prstGeom>
          <a:ln>
            <a:solidFill>
              <a:srgbClr val="D59BD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6" name="Straight Connector 24">
            <a:extLst>
              <a:ext uri="{FF2B5EF4-FFF2-40B4-BE49-F238E27FC236}">
                <a16:creationId xmlns:a16="http://schemas.microsoft.com/office/drawing/2014/main" id="{6558F584-0F8A-633B-DF96-EF555FC1DB3F}"/>
              </a:ext>
            </a:extLst>
          </p:cNvPr>
          <p:cNvCxnSpPr>
            <a:cxnSpLocks/>
          </p:cNvCxnSpPr>
          <p:nvPr/>
        </p:nvCxnSpPr>
        <p:spPr>
          <a:xfrm>
            <a:off x="11609049" y="991910"/>
            <a:ext cx="0" cy="2052000"/>
          </a:xfrm>
          <a:prstGeom prst="line">
            <a:avLst/>
          </a:prstGeom>
        </p:spPr>
        <p:style>
          <a:lnRef idx="2">
            <a:schemeClr val="dk1"/>
          </a:lnRef>
          <a:fillRef idx="0">
            <a:schemeClr val="dk1"/>
          </a:fillRef>
          <a:effectRef idx="1">
            <a:schemeClr val="dk1"/>
          </a:effectRef>
          <a:fontRef idx="minor">
            <a:schemeClr val="tx1"/>
          </a:fontRef>
        </p:style>
      </p:cxnSp>
      <p:sp>
        <p:nvSpPr>
          <p:cNvPr id="47" name="TextBox 28">
            <a:extLst>
              <a:ext uri="{FF2B5EF4-FFF2-40B4-BE49-F238E27FC236}">
                <a16:creationId xmlns:a16="http://schemas.microsoft.com/office/drawing/2014/main" id="{02D7122E-4786-BFDF-F2AD-D840B8C78826}"/>
              </a:ext>
            </a:extLst>
          </p:cNvPr>
          <p:cNvSpPr txBox="1"/>
          <p:nvPr/>
        </p:nvSpPr>
        <p:spPr>
          <a:xfrm>
            <a:off x="9565787" y="768990"/>
            <a:ext cx="357790" cy="2616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ysClr val="windowText" lastClr="000000"/>
                </a:solidFill>
                <a:latin typeface="+mj-lt"/>
              </a:rPr>
              <a:t>RS</a:t>
            </a:r>
          </a:p>
        </p:txBody>
      </p:sp>
      <p:sp>
        <p:nvSpPr>
          <p:cNvPr id="48" name="TextBox 40">
            <a:extLst>
              <a:ext uri="{FF2B5EF4-FFF2-40B4-BE49-F238E27FC236}">
                <a16:creationId xmlns:a16="http://schemas.microsoft.com/office/drawing/2014/main" id="{2CB18266-8FC3-09F1-3309-F1AA32DD44F9}"/>
              </a:ext>
            </a:extLst>
          </p:cNvPr>
          <p:cNvSpPr txBox="1"/>
          <p:nvPr/>
        </p:nvSpPr>
        <p:spPr>
          <a:xfrm>
            <a:off x="11236276" y="751844"/>
            <a:ext cx="72487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ysClr val="windowText" lastClr="000000"/>
                </a:solidFill>
                <a:latin typeface="+mj-lt"/>
              </a:rPr>
              <a:t>Response</a:t>
            </a:r>
          </a:p>
        </p:txBody>
      </p:sp>
      <p:cxnSp>
        <p:nvCxnSpPr>
          <p:cNvPr id="49" name="Straight Connector 33">
            <a:extLst>
              <a:ext uri="{FF2B5EF4-FFF2-40B4-BE49-F238E27FC236}">
                <a16:creationId xmlns:a16="http://schemas.microsoft.com/office/drawing/2014/main" id="{E92DBB5B-B9E9-C1E9-BDE9-04ACF11F42AA}"/>
              </a:ext>
            </a:extLst>
          </p:cNvPr>
          <p:cNvCxnSpPr>
            <a:cxnSpLocks/>
          </p:cNvCxnSpPr>
          <p:nvPr/>
        </p:nvCxnSpPr>
        <p:spPr>
          <a:xfrm>
            <a:off x="9218013" y="1635573"/>
            <a:ext cx="1620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sp>
        <p:nvSpPr>
          <p:cNvPr id="50" name="TextBox 23">
            <a:extLst>
              <a:ext uri="{FF2B5EF4-FFF2-40B4-BE49-F238E27FC236}">
                <a16:creationId xmlns:a16="http://schemas.microsoft.com/office/drawing/2014/main" id="{4943926A-1C8C-747B-A046-F098988C239E}"/>
              </a:ext>
            </a:extLst>
          </p:cNvPr>
          <p:cNvSpPr txBox="1"/>
          <p:nvPr/>
        </p:nvSpPr>
        <p:spPr>
          <a:xfrm>
            <a:off x="8937554" y="2510427"/>
            <a:ext cx="611973" cy="400110"/>
          </a:xfrm>
          <a:prstGeom prst="rect">
            <a:avLst/>
          </a:prstGeom>
          <a:noFill/>
          <a:ln w="3175">
            <a:no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dirty="0">
                <a:latin typeface="+mj-lt"/>
              </a:rPr>
              <a:t>Delay period</a:t>
            </a:r>
          </a:p>
        </p:txBody>
      </p:sp>
      <p:sp>
        <p:nvSpPr>
          <p:cNvPr id="51" name="TextBox 23">
            <a:extLst>
              <a:ext uri="{FF2B5EF4-FFF2-40B4-BE49-F238E27FC236}">
                <a16:creationId xmlns:a16="http://schemas.microsoft.com/office/drawing/2014/main" id="{CB2C2640-CAB2-E120-62C7-82EE62E6B23F}"/>
              </a:ext>
            </a:extLst>
          </p:cNvPr>
          <p:cNvSpPr txBox="1"/>
          <p:nvPr/>
        </p:nvSpPr>
        <p:spPr>
          <a:xfrm>
            <a:off x="8307727" y="227692"/>
            <a:ext cx="3687852"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latin typeface="+mj-lt"/>
              </a:rPr>
              <a:t>Reward-onset timing</a:t>
            </a:r>
          </a:p>
        </p:txBody>
      </p:sp>
      <p:cxnSp>
        <p:nvCxnSpPr>
          <p:cNvPr id="52" name="Straight Connector 24">
            <a:extLst>
              <a:ext uri="{FF2B5EF4-FFF2-40B4-BE49-F238E27FC236}">
                <a16:creationId xmlns:a16="http://schemas.microsoft.com/office/drawing/2014/main" id="{E7733844-0C23-09C8-972D-882797325752}"/>
              </a:ext>
            </a:extLst>
          </p:cNvPr>
          <p:cNvCxnSpPr>
            <a:cxnSpLocks/>
          </p:cNvCxnSpPr>
          <p:nvPr/>
        </p:nvCxnSpPr>
        <p:spPr>
          <a:xfrm>
            <a:off x="9739019" y="991910"/>
            <a:ext cx="0" cy="2052000"/>
          </a:xfrm>
          <a:prstGeom prst="line">
            <a:avLst/>
          </a:prstGeom>
        </p:spPr>
        <p:style>
          <a:lnRef idx="2">
            <a:schemeClr val="dk1"/>
          </a:lnRef>
          <a:fillRef idx="0">
            <a:schemeClr val="dk1"/>
          </a:fillRef>
          <a:effectRef idx="1">
            <a:schemeClr val="dk1"/>
          </a:effectRef>
          <a:fontRef idx="minor">
            <a:schemeClr val="tx1"/>
          </a:fontRef>
        </p:style>
      </p:cxnSp>
      <p:sp>
        <p:nvSpPr>
          <p:cNvPr id="56" name="TextBox 29">
            <a:extLst>
              <a:ext uri="{FF2B5EF4-FFF2-40B4-BE49-F238E27FC236}">
                <a16:creationId xmlns:a16="http://schemas.microsoft.com/office/drawing/2014/main" id="{307FC263-3D79-9322-8202-7A0948EC4AEE}"/>
              </a:ext>
            </a:extLst>
          </p:cNvPr>
          <p:cNvSpPr txBox="1"/>
          <p:nvPr/>
        </p:nvSpPr>
        <p:spPr>
          <a:xfrm>
            <a:off x="1615860" y="2788909"/>
            <a:ext cx="90120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rgbClr val="000000"/>
                </a:solidFill>
                <a:latin typeface="+mj-lt"/>
              </a:rPr>
              <a:t>mean PMET</a:t>
            </a:r>
          </a:p>
        </p:txBody>
      </p:sp>
      <p:sp>
        <p:nvSpPr>
          <p:cNvPr id="57" name="TextBox 29">
            <a:extLst>
              <a:ext uri="{FF2B5EF4-FFF2-40B4-BE49-F238E27FC236}">
                <a16:creationId xmlns:a16="http://schemas.microsoft.com/office/drawing/2014/main" id="{54373087-EC26-4746-48DC-0B239ABF2294}"/>
              </a:ext>
            </a:extLst>
          </p:cNvPr>
          <p:cNvSpPr txBox="1"/>
          <p:nvPr/>
        </p:nvSpPr>
        <p:spPr>
          <a:xfrm>
            <a:off x="2805068" y="2788909"/>
            <a:ext cx="822661"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dirty="0">
                <a:solidFill>
                  <a:srgbClr val="000000"/>
                </a:solidFill>
                <a:latin typeface="+mj-lt"/>
              </a:rPr>
              <a:t>mean MET</a:t>
            </a:r>
          </a:p>
        </p:txBody>
      </p:sp>
      <p:sp>
        <p:nvSpPr>
          <p:cNvPr id="58" name="TextBox 29">
            <a:extLst>
              <a:ext uri="{FF2B5EF4-FFF2-40B4-BE49-F238E27FC236}">
                <a16:creationId xmlns:a16="http://schemas.microsoft.com/office/drawing/2014/main" id="{FC6CA2BB-A77C-7200-8C0D-C281FD3DF135}"/>
              </a:ext>
            </a:extLst>
          </p:cNvPr>
          <p:cNvSpPr txBox="1"/>
          <p:nvPr/>
        </p:nvSpPr>
        <p:spPr>
          <a:xfrm>
            <a:off x="9712741" y="2773553"/>
            <a:ext cx="901208"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rgbClr val="000000"/>
                </a:solidFill>
                <a:latin typeface="+mj-lt"/>
              </a:rPr>
              <a:t>mean PMET</a:t>
            </a:r>
          </a:p>
        </p:txBody>
      </p:sp>
      <p:sp>
        <p:nvSpPr>
          <p:cNvPr id="59" name="TextBox 29">
            <a:extLst>
              <a:ext uri="{FF2B5EF4-FFF2-40B4-BE49-F238E27FC236}">
                <a16:creationId xmlns:a16="http://schemas.microsoft.com/office/drawing/2014/main" id="{663188A4-7B47-E6E3-A781-0F749D68D04D}"/>
              </a:ext>
            </a:extLst>
          </p:cNvPr>
          <p:cNvSpPr txBox="1"/>
          <p:nvPr/>
        </p:nvSpPr>
        <p:spPr>
          <a:xfrm>
            <a:off x="10863849" y="2773553"/>
            <a:ext cx="822661" cy="26161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dirty="0">
                <a:solidFill>
                  <a:srgbClr val="000000"/>
                </a:solidFill>
                <a:latin typeface="+mj-lt"/>
              </a:rPr>
              <a:t>mean MET</a:t>
            </a:r>
          </a:p>
        </p:txBody>
      </p:sp>
      <p:grpSp>
        <p:nvGrpSpPr>
          <p:cNvPr id="60" name="Groupe 59">
            <a:extLst>
              <a:ext uri="{FF2B5EF4-FFF2-40B4-BE49-F238E27FC236}">
                <a16:creationId xmlns:a16="http://schemas.microsoft.com/office/drawing/2014/main" id="{9B91ABFD-D18C-C48A-B6C2-24F8363CDE86}"/>
              </a:ext>
            </a:extLst>
          </p:cNvPr>
          <p:cNvGrpSpPr/>
          <p:nvPr/>
        </p:nvGrpSpPr>
        <p:grpSpPr>
          <a:xfrm>
            <a:off x="823299" y="2087010"/>
            <a:ext cx="1056889" cy="4"/>
            <a:chOff x="379750" y="2690894"/>
            <a:chExt cx="1056889" cy="4"/>
          </a:xfrm>
        </p:grpSpPr>
        <p:cxnSp>
          <p:nvCxnSpPr>
            <p:cNvPr id="61" name="Straight Connector 29">
              <a:extLst>
                <a:ext uri="{FF2B5EF4-FFF2-40B4-BE49-F238E27FC236}">
                  <a16:creationId xmlns:a16="http://schemas.microsoft.com/office/drawing/2014/main" id="{D53E9338-B183-44FB-B6FB-90A5C3BE40DA}"/>
                </a:ext>
              </a:extLst>
            </p:cNvPr>
            <p:cNvCxnSpPr>
              <a:cxnSpLocks/>
            </p:cNvCxnSpPr>
            <p:nvPr/>
          </p:nvCxnSpPr>
          <p:spPr>
            <a:xfrm flipH="1" flipV="1">
              <a:off x="572639" y="2690898"/>
              <a:ext cx="864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62" name="Straight Connector 29">
              <a:extLst>
                <a:ext uri="{FF2B5EF4-FFF2-40B4-BE49-F238E27FC236}">
                  <a16:creationId xmlns:a16="http://schemas.microsoft.com/office/drawing/2014/main" id="{CD46F451-62E5-B50D-DCF9-EAC39C5C5F89}"/>
                </a:ext>
              </a:extLst>
            </p:cNvPr>
            <p:cNvCxnSpPr>
              <a:cxnSpLocks/>
            </p:cNvCxnSpPr>
            <p:nvPr/>
          </p:nvCxnSpPr>
          <p:spPr>
            <a:xfrm flipH="1" flipV="1">
              <a:off x="501994" y="2690896"/>
              <a:ext cx="18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63" name="Straight Connector 29">
              <a:extLst>
                <a:ext uri="{FF2B5EF4-FFF2-40B4-BE49-F238E27FC236}">
                  <a16:creationId xmlns:a16="http://schemas.microsoft.com/office/drawing/2014/main" id="{486DFDC8-7C92-03EC-EC2F-B55057179705}"/>
                </a:ext>
              </a:extLst>
            </p:cNvPr>
            <p:cNvCxnSpPr>
              <a:cxnSpLocks/>
            </p:cNvCxnSpPr>
            <p:nvPr/>
          </p:nvCxnSpPr>
          <p:spPr>
            <a:xfrm flipH="1" flipV="1">
              <a:off x="432933" y="2690895"/>
              <a:ext cx="18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64" name="Straight Connector 29">
              <a:extLst>
                <a:ext uri="{FF2B5EF4-FFF2-40B4-BE49-F238E27FC236}">
                  <a16:creationId xmlns:a16="http://schemas.microsoft.com/office/drawing/2014/main" id="{1CF15DA0-151C-FBD6-F1FE-D9870AF8466F}"/>
                </a:ext>
              </a:extLst>
            </p:cNvPr>
            <p:cNvCxnSpPr>
              <a:cxnSpLocks/>
            </p:cNvCxnSpPr>
            <p:nvPr/>
          </p:nvCxnSpPr>
          <p:spPr>
            <a:xfrm flipH="1" flipV="1">
              <a:off x="379750" y="2690894"/>
              <a:ext cx="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grpSp>
      <p:grpSp>
        <p:nvGrpSpPr>
          <p:cNvPr id="65" name="Groupe 64">
            <a:extLst>
              <a:ext uri="{FF2B5EF4-FFF2-40B4-BE49-F238E27FC236}">
                <a16:creationId xmlns:a16="http://schemas.microsoft.com/office/drawing/2014/main" id="{DC922EAF-47A3-F255-01E4-5F1CB854FE4B}"/>
              </a:ext>
            </a:extLst>
          </p:cNvPr>
          <p:cNvGrpSpPr/>
          <p:nvPr/>
        </p:nvGrpSpPr>
        <p:grpSpPr>
          <a:xfrm>
            <a:off x="819367" y="2241322"/>
            <a:ext cx="1056889" cy="4"/>
            <a:chOff x="379750" y="2690894"/>
            <a:chExt cx="1056889" cy="4"/>
          </a:xfrm>
        </p:grpSpPr>
        <p:cxnSp>
          <p:nvCxnSpPr>
            <p:cNvPr id="66" name="Straight Connector 29">
              <a:extLst>
                <a:ext uri="{FF2B5EF4-FFF2-40B4-BE49-F238E27FC236}">
                  <a16:creationId xmlns:a16="http://schemas.microsoft.com/office/drawing/2014/main" id="{BE8101CD-4241-2982-B7A9-9D15024255D4}"/>
                </a:ext>
              </a:extLst>
            </p:cNvPr>
            <p:cNvCxnSpPr>
              <a:cxnSpLocks/>
            </p:cNvCxnSpPr>
            <p:nvPr/>
          </p:nvCxnSpPr>
          <p:spPr>
            <a:xfrm flipH="1" flipV="1">
              <a:off x="572639" y="2690898"/>
              <a:ext cx="864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67" name="Straight Connector 29">
              <a:extLst>
                <a:ext uri="{FF2B5EF4-FFF2-40B4-BE49-F238E27FC236}">
                  <a16:creationId xmlns:a16="http://schemas.microsoft.com/office/drawing/2014/main" id="{2C4BE9AA-1182-96A9-9FAE-44EFD8E442BE}"/>
                </a:ext>
              </a:extLst>
            </p:cNvPr>
            <p:cNvCxnSpPr>
              <a:cxnSpLocks/>
            </p:cNvCxnSpPr>
            <p:nvPr/>
          </p:nvCxnSpPr>
          <p:spPr>
            <a:xfrm flipH="1" flipV="1">
              <a:off x="501994" y="2690896"/>
              <a:ext cx="18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68" name="Straight Connector 29">
              <a:extLst>
                <a:ext uri="{FF2B5EF4-FFF2-40B4-BE49-F238E27FC236}">
                  <a16:creationId xmlns:a16="http://schemas.microsoft.com/office/drawing/2014/main" id="{588BF0B0-013F-89AE-2469-EC9C6624C462}"/>
                </a:ext>
              </a:extLst>
            </p:cNvPr>
            <p:cNvCxnSpPr>
              <a:cxnSpLocks/>
            </p:cNvCxnSpPr>
            <p:nvPr/>
          </p:nvCxnSpPr>
          <p:spPr>
            <a:xfrm flipH="1" flipV="1">
              <a:off x="432933" y="2690895"/>
              <a:ext cx="18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69" name="Straight Connector 29">
              <a:extLst>
                <a:ext uri="{FF2B5EF4-FFF2-40B4-BE49-F238E27FC236}">
                  <a16:creationId xmlns:a16="http://schemas.microsoft.com/office/drawing/2014/main" id="{F7B7085E-A1F9-BEC3-D8B6-6092BDDEC730}"/>
                </a:ext>
              </a:extLst>
            </p:cNvPr>
            <p:cNvCxnSpPr>
              <a:cxnSpLocks/>
            </p:cNvCxnSpPr>
            <p:nvPr/>
          </p:nvCxnSpPr>
          <p:spPr>
            <a:xfrm flipH="1" flipV="1">
              <a:off x="379750" y="2690894"/>
              <a:ext cx="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grpSp>
      <p:cxnSp>
        <p:nvCxnSpPr>
          <p:cNvPr id="70" name="Straight Connector 9">
            <a:extLst>
              <a:ext uri="{FF2B5EF4-FFF2-40B4-BE49-F238E27FC236}">
                <a16:creationId xmlns:a16="http://schemas.microsoft.com/office/drawing/2014/main" id="{1E06CBBC-6080-AA06-3964-49B32600B8F3}"/>
              </a:ext>
            </a:extLst>
          </p:cNvPr>
          <p:cNvCxnSpPr>
            <a:cxnSpLocks noChangeAspect="1"/>
          </p:cNvCxnSpPr>
          <p:nvPr/>
        </p:nvCxnSpPr>
        <p:spPr>
          <a:xfrm flipV="1">
            <a:off x="1890617" y="1459257"/>
            <a:ext cx="579705" cy="779867"/>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71" name="Straight Connector 9">
            <a:extLst>
              <a:ext uri="{FF2B5EF4-FFF2-40B4-BE49-F238E27FC236}">
                <a16:creationId xmlns:a16="http://schemas.microsoft.com/office/drawing/2014/main" id="{CCFD048E-B529-C246-2A5F-514C911B42D4}"/>
              </a:ext>
            </a:extLst>
          </p:cNvPr>
          <p:cNvCxnSpPr>
            <a:cxnSpLocks noChangeAspect="1"/>
          </p:cNvCxnSpPr>
          <p:nvPr/>
        </p:nvCxnSpPr>
        <p:spPr>
          <a:xfrm flipV="1">
            <a:off x="1895990" y="1456082"/>
            <a:ext cx="698135" cy="939189"/>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72" name="Straight Arrow Connector 18">
            <a:extLst>
              <a:ext uri="{FF2B5EF4-FFF2-40B4-BE49-F238E27FC236}">
                <a16:creationId xmlns:a16="http://schemas.microsoft.com/office/drawing/2014/main" id="{CE0908D9-E7DF-EA92-D965-01964A16DCC9}"/>
              </a:ext>
            </a:extLst>
          </p:cNvPr>
          <p:cNvCxnSpPr/>
          <p:nvPr/>
        </p:nvCxnSpPr>
        <p:spPr>
          <a:xfrm>
            <a:off x="1662840" y="2566685"/>
            <a:ext cx="558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18">
            <a:extLst>
              <a:ext uri="{FF2B5EF4-FFF2-40B4-BE49-F238E27FC236}">
                <a16:creationId xmlns:a16="http://schemas.microsoft.com/office/drawing/2014/main" id="{EAAE4987-E33A-73CC-50C7-BD72EC67E316}"/>
              </a:ext>
            </a:extLst>
          </p:cNvPr>
          <p:cNvCxnSpPr/>
          <p:nvPr/>
        </p:nvCxnSpPr>
        <p:spPr>
          <a:xfrm>
            <a:off x="1663070" y="2656257"/>
            <a:ext cx="673200" cy="0"/>
          </a:xfrm>
          <a:prstGeom prst="straightConnector1">
            <a:avLst/>
          </a:prstGeom>
          <a:ln>
            <a:solidFill>
              <a:srgbClr val="7F7F7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18">
            <a:extLst>
              <a:ext uri="{FF2B5EF4-FFF2-40B4-BE49-F238E27FC236}">
                <a16:creationId xmlns:a16="http://schemas.microsoft.com/office/drawing/2014/main" id="{1328FC42-9F39-107D-3F25-4866738D6C50}"/>
              </a:ext>
            </a:extLst>
          </p:cNvPr>
          <p:cNvCxnSpPr/>
          <p:nvPr/>
        </p:nvCxnSpPr>
        <p:spPr>
          <a:xfrm>
            <a:off x="1660669" y="2753171"/>
            <a:ext cx="828000" cy="0"/>
          </a:xfrm>
          <a:prstGeom prst="straightConnector1">
            <a:avLst/>
          </a:prstGeom>
          <a:ln>
            <a:solidFill>
              <a:srgbClr val="BFBFB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5" name="Straight Connector 9">
            <a:extLst>
              <a:ext uri="{FF2B5EF4-FFF2-40B4-BE49-F238E27FC236}">
                <a16:creationId xmlns:a16="http://schemas.microsoft.com/office/drawing/2014/main" id="{A0689E2E-573F-C242-CE48-7B24DBB4225A}"/>
              </a:ext>
            </a:extLst>
          </p:cNvPr>
          <p:cNvCxnSpPr>
            <a:cxnSpLocks noChangeAspect="1"/>
          </p:cNvCxnSpPr>
          <p:nvPr/>
        </p:nvCxnSpPr>
        <p:spPr>
          <a:xfrm flipV="1">
            <a:off x="3371436" y="1386382"/>
            <a:ext cx="178096" cy="239589"/>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76" name="Straight Connector 9">
            <a:extLst>
              <a:ext uri="{FF2B5EF4-FFF2-40B4-BE49-F238E27FC236}">
                <a16:creationId xmlns:a16="http://schemas.microsoft.com/office/drawing/2014/main" id="{216DC21D-51C5-BC6A-5C72-04372F628356}"/>
              </a:ext>
            </a:extLst>
          </p:cNvPr>
          <p:cNvCxnSpPr>
            <a:cxnSpLocks noChangeAspect="1"/>
          </p:cNvCxnSpPr>
          <p:nvPr/>
        </p:nvCxnSpPr>
        <p:spPr>
          <a:xfrm flipV="1">
            <a:off x="3403897" y="1425427"/>
            <a:ext cx="147302" cy="198163"/>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77" name="Straight Connector 9">
            <a:extLst>
              <a:ext uri="{FF2B5EF4-FFF2-40B4-BE49-F238E27FC236}">
                <a16:creationId xmlns:a16="http://schemas.microsoft.com/office/drawing/2014/main" id="{B591F970-450B-3F26-C37B-DEB3145B7FBF}"/>
              </a:ext>
            </a:extLst>
          </p:cNvPr>
          <p:cNvCxnSpPr>
            <a:cxnSpLocks noChangeAspect="1"/>
          </p:cNvCxnSpPr>
          <p:nvPr/>
        </p:nvCxnSpPr>
        <p:spPr>
          <a:xfrm flipV="1">
            <a:off x="3436439" y="1454225"/>
            <a:ext cx="131205" cy="176508"/>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cxnSp>
        <p:nvCxnSpPr>
          <p:cNvPr id="78" name="Straight Connector 33">
            <a:extLst>
              <a:ext uri="{FF2B5EF4-FFF2-40B4-BE49-F238E27FC236}">
                <a16:creationId xmlns:a16="http://schemas.microsoft.com/office/drawing/2014/main" id="{517A2C6D-1BA9-63E6-CB2F-1469E4E8DD4B}"/>
              </a:ext>
            </a:extLst>
          </p:cNvPr>
          <p:cNvCxnSpPr>
            <a:cxnSpLocks/>
          </p:cNvCxnSpPr>
          <p:nvPr/>
        </p:nvCxnSpPr>
        <p:spPr>
          <a:xfrm>
            <a:off x="3078143" y="1630733"/>
            <a:ext cx="648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79" name="Straight Arrow Connector 18">
            <a:extLst>
              <a:ext uri="{FF2B5EF4-FFF2-40B4-BE49-F238E27FC236}">
                <a16:creationId xmlns:a16="http://schemas.microsoft.com/office/drawing/2014/main" id="{4F893802-DAE2-4C7E-97E5-2708EE6ED314}"/>
              </a:ext>
            </a:extLst>
          </p:cNvPr>
          <p:cNvCxnSpPr/>
          <p:nvPr/>
        </p:nvCxnSpPr>
        <p:spPr>
          <a:xfrm>
            <a:off x="3362331" y="2566685"/>
            <a:ext cx="19800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18">
            <a:extLst>
              <a:ext uri="{FF2B5EF4-FFF2-40B4-BE49-F238E27FC236}">
                <a16:creationId xmlns:a16="http://schemas.microsoft.com/office/drawing/2014/main" id="{E74801C7-0FE4-6522-8B88-C99DD0BBD573}"/>
              </a:ext>
            </a:extLst>
          </p:cNvPr>
          <p:cNvCxnSpPr/>
          <p:nvPr/>
        </p:nvCxnSpPr>
        <p:spPr>
          <a:xfrm>
            <a:off x="3362561" y="2656257"/>
            <a:ext cx="198000" cy="0"/>
          </a:xfrm>
          <a:prstGeom prst="straightConnector1">
            <a:avLst/>
          </a:prstGeom>
          <a:ln>
            <a:solidFill>
              <a:srgbClr val="7F7F7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18">
            <a:extLst>
              <a:ext uri="{FF2B5EF4-FFF2-40B4-BE49-F238E27FC236}">
                <a16:creationId xmlns:a16="http://schemas.microsoft.com/office/drawing/2014/main" id="{CD1EA614-4A54-92D3-E1E2-8F05F3A9C1B2}"/>
              </a:ext>
            </a:extLst>
          </p:cNvPr>
          <p:cNvCxnSpPr/>
          <p:nvPr/>
        </p:nvCxnSpPr>
        <p:spPr>
          <a:xfrm>
            <a:off x="3360160" y="2753171"/>
            <a:ext cx="198000" cy="0"/>
          </a:xfrm>
          <a:prstGeom prst="straightConnector1">
            <a:avLst/>
          </a:prstGeom>
          <a:ln>
            <a:solidFill>
              <a:srgbClr val="BFBFBF"/>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2" name="Straight Connector 9">
            <a:extLst>
              <a:ext uri="{FF2B5EF4-FFF2-40B4-BE49-F238E27FC236}">
                <a16:creationId xmlns:a16="http://schemas.microsoft.com/office/drawing/2014/main" id="{148924EF-ACFC-CE12-A973-5CE4A99898CF}"/>
              </a:ext>
            </a:extLst>
          </p:cNvPr>
          <p:cNvCxnSpPr>
            <a:cxnSpLocks noChangeAspect="1"/>
          </p:cNvCxnSpPr>
          <p:nvPr/>
        </p:nvCxnSpPr>
        <p:spPr>
          <a:xfrm flipV="1">
            <a:off x="9967009" y="1468268"/>
            <a:ext cx="451296" cy="607121"/>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83" name="Straight Connector 9">
            <a:extLst>
              <a:ext uri="{FF2B5EF4-FFF2-40B4-BE49-F238E27FC236}">
                <a16:creationId xmlns:a16="http://schemas.microsoft.com/office/drawing/2014/main" id="{A3D53762-CD79-5C2F-A754-8193C99FA514}"/>
              </a:ext>
            </a:extLst>
          </p:cNvPr>
          <p:cNvCxnSpPr>
            <a:cxnSpLocks noChangeAspect="1"/>
          </p:cNvCxnSpPr>
          <p:nvPr/>
        </p:nvCxnSpPr>
        <p:spPr>
          <a:xfrm flipV="1">
            <a:off x="9978084" y="1473621"/>
            <a:ext cx="478465" cy="643671"/>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84" name="Straight Arrow Connector 11">
            <a:extLst>
              <a:ext uri="{FF2B5EF4-FFF2-40B4-BE49-F238E27FC236}">
                <a16:creationId xmlns:a16="http://schemas.microsoft.com/office/drawing/2014/main" id="{3BEAF79A-E8AC-A3BC-6E9A-A6CD7E49E509}"/>
              </a:ext>
            </a:extLst>
          </p:cNvPr>
          <p:cNvCxnSpPr/>
          <p:nvPr/>
        </p:nvCxnSpPr>
        <p:spPr>
          <a:xfrm>
            <a:off x="9748581" y="2750318"/>
            <a:ext cx="810000" cy="0"/>
          </a:xfrm>
          <a:prstGeom prst="straightConnector1">
            <a:avLst/>
          </a:prstGeom>
          <a:ln>
            <a:solidFill>
              <a:srgbClr val="4B1F5F"/>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85" name="Groupe 84">
            <a:extLst>
              <a:ext uri="{FF2B5EF4-FFF2-40B4-BE49-F238E27FC236}">
                <a16:creationId xmlns:a16="http://schemas.microsoft.com/office/drawing/2014/main" id="{8DFA9ECE-3841-DD04-7599-302754BECD79}"/>
              </a:ext>
            </a:extLst>
          </p:cNvPr>
          <p:cNvGrpSpPr/>
          <p:nvPr/>
        </p:nvGrpSpPr>
        <p:grpSpPr>
          <a:xfrm>
            <a:off x="8908965" y="2396237"/>
            <a:ext cx="1056889" cy="4"/>
            <a:chOff x="379750" y="2690894"/>
            <a:chExt cx="1056889" cy="4"/>
          </a:xfrm>
        </p:grpSpPr>
        <p:cxnSp>
          <p:nvCxnSpPr>
            <p:cNvPr id="86" name="Straight Connector 29">
              <a:extLst>
                <a:ext uri="{FF2B5EF4-FFF2-40B4-BE49-F238E27FC236}">
                  <a16:creationId xmlns:a16="http://schemas.microsoft.com/office/drawing/2014/main" id="{CC56E7B1-1D35-1F84-64EB-86E67A439570}"/>
                </a:ext>
              </a:extLst>
            </p:cNvPr>
            <p:cNvCxnSpPr>
              <a:cxnSpLocks/>
            </p:cNvCxnSpPr>
            <p:nvPr/>
          </p:nvCxnSpPr>
          <p:spPr>
            <a:xfrm flipH="1" flipV="1">
              <a:off x="572639" y="2690898"/>
              <a:ext cx="864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87" name="Straight Connector 29">
              <a:extLst>
                <a:ext uri="{FF2B5EF4-FFF2-40B4-BE49-F238E27FC236}">
                  <a16:creationId xmlns:a16="http://schemas.microsoft.com/office/drawing/2014/main" id="{A8E1B57A-7BE1-F15D-4B34-DD306CAA49B9}"/>
                </a:ext>
              </a:extLst>
            </p:cNvPr>
            <p:cNvCxnSpPr>
              <a:cxnSpLocks/>
            </p:cNvCxnSpPr>
            <p:nvPr/>
          </p:nvCxnSpPr>
          <p:spPr>
            <a:xfrm flipH="1" flipV="1">
              <a:off x="501994" y="2690896"/>
              <a:ext cx="18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88" name="Straight Connector 29">
              <a:extLst>
                <a:ext uri="{FF2B5EF4-FFF2-40B4-BE49-F238E27FC236}">
                  <a16:creationId xmlns:a16="http://schemas.microsoft.com/office/drawing/2014/main" id="{D0EA5263-5031-7584-FDC3-21929DB0F4AB}"/>
                </a:ext>
              </a:extLst>
            </p:cNvPr>
            <p:cNvCxnSpPr>
              <a:cxnSpLocks/>
            </p:cNvCxnSpPr>
            <p:nvPr/>
          </p:nvCxnSpPr>
          <p:spPr>
            <a:xfrm flipH="1" flipV="1">
              <a:off x="432933" y="2690895"/>
              <a:ext cx="18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89" name="Straight Connector 29">
              <a:extLst>
                <a:ext uri="{FF2B5EF4-FFF2-40B4-BE49-F238E27FC236}">
                  <a16:creationId xmlns:a16="http://schemas.microsoft.com/office/drawing/2014/main" id="{3E1ED8EA-D206-A38C-4026-D02DF08978B8}"/>
                </a:ext>
              </a:extLst>
            </p:cNvPr>
            <p:cNvCxnSpPr>
              <a:cxnSpLocks/>
            </p:cNvCxnSpPr>
            <p:nvPr/>
          </p:nvCxnSpPr>
          <p:spPr>
            <a:xfrm flipH="1" flipV="1">
              <a:off x="379750" y="2690894"/>
              <a:ext cx="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grpSp>
      <p:grpSp>
        <p:nvGrpSpPr>
          <p:cNvPr id="90" name="Groupe 89">
            <a:extLst>
              <a:ext uri="{FF2B5EF4-FFF2-40B4-BE49-F238E27FC236}">
                <a16:creationId xmlns:a16="http://schemas.microsoft.com/office/drawing/2014/main" id="{FAE2500B-1379-D707-2D52-4D4C7944EF71}"/>
              </a:ext>
            </a:extLst>
          </p:cNvPr>
          <p:cNvGrpSpPr/>
          <p:nvPr/>
        </p:nvGrpSpPr>
        <p:grpSpPr>
          <a:xfrm>
            <a:off x="8905430" y="2080616"/>
            <a:ext cx="1056889" cy="4"/>
            <a:chOff x="379750" y="2690894"/>
            <a:chExt cx="1056889" cy="4"/>
          </a:xfrm>
        </p:grpSpPr>
        <p:cxnSp>
          <p:nvCxnSpPr>
            <p:cNvPr id="91" name="Straight Connector 29">
              <a:extLst>
                <a:ext uri="{FF2B5EF4-FFF2-40B4-BE49-F238E27FC236}">
                  <a16:creationId xmlns:a16="http://schemas.microsoft.com/office/drawing/2014/main" id="{1BBB2F26-F333-2353-DEDC-120DA400BD96}"/>
                </a:ext>
              </a:extLst>
            </p:cNvPr>
            <p:cNvCxnSpPr>
              <a:cxnSpLocks/>
            </p:cNvCxnSpPr>
            <p:nvPr/>
          </p:nvCxnSpPr>
          <p:spPr>
            <a:xfrm flipH="1" flipV="1">
              <a:off x="572639" y="2690898"/>
              <a:ext cx="864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92" name="Straight Connector 29">
              <a:extLst>
                <a:ext uri="{FF2B5EF4-FFF2-40B4-BE49-F238E27FC236}">
                  <a16:creationId xmlns:a16="http://schemas.microsoft.com/office/drawing/2014/main" id="{F5EB6237-B2D3-D3C6-771B-FBC4A7A73F37}"/>
                </a:ext>
              </a:extLst>
            </p:cNvPr>
            <p:cNvCxnSpPr>
              <a:cxnSpLocks/>
            </p:cNvCxnSpPr>
            <p:nvPr/>
          </p:nvCxnSpPr>
          <p:spPr>
            <a:xfrm flipH="1" flipV="1">
              <a:off x="501994" y="2690896"/>
              <a:ext cx="18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93" name="Straight Connector 29">
              <a:extLst>
                <a:ext uri="{FF2B5EF4-FFF2-40B4-BE49-F238E27FC236}">
                  <a16:creationId xmlns:a16="http://schemas.microsoft.com/office/drawing/2014/main" id="{036F3A54-573C-184C-48F5-49C1A2AB3A52}"/>
                </a:ext>
              </a:extLst>
            </p:cNvPr>
            <p:cNvCxnSpPr>
              <a:cxnSpLocks/>
            </p:cNvCxnSpPr>
            <p:nvPr/>
          </p:nvCxnSpPr>
          <p:spPr>
            <a:xfrm flipH="1" flipV="1">
              <a:off x="432933" y="2690895"/>
              <a:ext cx="18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94" name="Straight Connector 29">
              <a:extLst>
                <a:ext uri="{FF2B5EF4-FFF2-40B4-BE49-F238E27FC236}">
                  <a16:creationId xmlns:a16="http://schemas.microsoft.com/office/drawing/2014/main" id="{4A26E99B-BE13-6DA5-7D8B-1ADD0AA6801D}"/>
                </a:ext>
              </a:extLst>
            </p:cNvPr>
            <p:cNvCxnSpPr>
              <a:cxnSpLocks/>
            </p:cNvCxnSpPr>
            <p:nvPr/>
          </p:nvCxnSpPr>
          <p:spPr>
            <a:xfrm flipH="1" flipV="1">
              <a:off x="379750" y="2690894"/>
              <a:ext cx="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grpSp>
      <p:grpSp>
        <p:nvGrpSpPr>
          <p:cNvPr id="95" name="Groupe 94">
            <a:extLst>
              <a:ext uri="{FF2B5EF4-FFF2-40B4-BE49-F238E27FC236}">
                <a16:creationId xmlns:a16="http://schemas.microsoft.com/office/drawing/2014/main" id="{A1058A97-8193-0DF3-90BF-FEA101ABCC13}"/>
              </a:ext>
            </a:extLst>
          </p:cNvPr>
          <p:cNvGrpSpPr/>
          <p:nvPr/>
        </p:nvGrpSpPr>
        <p:grpSpPr>
          <a:xfrm>
            <a:off x="8907054" y="2115889"/>
            <a:ext cx="1056889" cy="4"/>
            <a:chOff x="379750" y="2690894"/>
            <a:chExt cx="1056889" cy="4"/>
          </a:xfrm>
        </p:grpSpPr>
        <p:cxnSp>
          <p:nvCxnSpPr>
            <p:cNvPr id="96" name="Straight Connector 29">
              <a:extLst>
                <a:ext uri="{FF2B5EF4-FFF2-40B4-BE49-F238E27FC236}">
                  <a16:creationId xmlns:a16="http://schemas.microsoft.com/office/drawing/2014/main" id="{2CD02B9F-0A53-4BA3-1F40-68D60F53EDED}"/>
                </a:ext>
              </a:extLst>
            </p:cNvPr>
            <p:cNvCxnSpPr>
              <a:cxnSpLocks/>
            </p:cNvCxnSpPr>
            <p:nvPr/>
          </p:nvCxnSpPr>
          <p:spPr>
            <a:xfrm flipH="1" flipV="1">
              <a:off x="572639" y="2690898"/>
              <a:ext cx="864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97" name="Straight Connector 29">
              <a:extLst>
                <a:ext uri="{FF2B5EF4-FFF2-40B4-BE49-F238E27FC236}">
                  <a16:creationId xmlns:a16="http://schemas.microsoft.com/office/drawing/2014/main" id="{E686003C-F2D5-40BA-F67C-0848A3E5ED11}"/>
                </a:ext>
              </a:extLst>
            </p:cNvPr>
            <p:cNvCxnSpPr>
              <a:cxnSpLocks/>
            </p:cNvCxnSpPr>
            <p:nvPr/>
          </p:nvCxnSpPr>
          <p:spPr>
            <a:xfrm flipH="1" flipV="1">
              <a:off x="501994" y="2690896"/>
              <a:ext cx="18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98" name="Straight Connector 29">
              <a:extLst>
                <a:ext uri="{FF2B5EF4-FFF2-40B4-BE49-F238E27FC236}">
                  <a16:creationId xmlns:a16="http://schemas.microsoft.com/office/drawing/2014/main" id="{FAC1CEE9-BF61-2734-0EB4-204B99355C54}"/>
                </a:ext>
              </a:extLst>
            </p:cNvPr>
            <p:cNvCxnSpPr>
              <a:cxnSpLocks/>
            </p:cNvCxnSpPr>
            <p:nvPr/>
          </p:nvCxnSpPr>
          <p:spPr>
            <a:xfrm flipH="1" flipV="1">
              <a:off x="432933" y="2690895"/>
              <a:ext cx="18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cxnSp>
          <p:nvCxnSpPr>
            <p:cNvPr id="99" name="Straight Connector 29">
              <a:extLst>
                <a:ext uri="{FF2B5EF4-FFF2-40B4-BE49-F238E27FC236}">
                  <a16:creationId xmlns:a16="http://schemas.microsoft.com/office/drawing/2014/main" id="{A3DEBC01-ED0C-2D96-5570-B5A364FFE8FE}"/>
                </a:ext>
              </a:extLst>
            </p:cNvPr>
            <p:cNvCxnSpPr>
              <a:cxnSpLocks/>
            </p:cNvCxnSpPr>
            <p:nvPr/>
          </p:nvCxnSpPr>
          <p:spPr>
            <a:xfrm flipH="1" flipV="1">
              <a:off x="379750" y="2690894"/>
              <a:ext cx="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grpSp>
      <p:cxnSp>
        <p:nvCxnSpPr>
          <p:cNvPr id="100" name="Straight Connector 9">
            <a:extLst>
              <a:ext uri="{FF2B5EF4-FFF2-40B4-BE49-F238E27FC236}">
                <a16:creationId xmlns:a16="http://schemas.microsoft.com/office/drawing/2014/main" id="{4294F1B2-312D-DFC0-FF65-9743B60DA073}"/>
              </a:ext>
            </a:extLst>
          </p:cNvPr>
          <p:cNvCxnSpPr>
            <a:cxnSpLocks noChangeAspect="1"/>
          </p:cNvCxnSpPr>
          <p:nvPr/>
        </p:nvCxnSpPr>
        <p:spPr>
          <a:xfrm flipV="1">
            <a:off x="11416017" y="1394397"/>
            <a:ext cx="173966" cy="234033"/>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101" name="Straight Connector 9">
            <a:extLst>
              <a:ext uri="{FF2B5EF4-FFF2-40B4-BE49-F238E27FC236}">
                <a16:creationId xmlns:a16="http://schemas.microsoft.com/office/drawing/2014/main" id="{215D3A7E-D6B3-08B9-DA13-C2029C543A04}"/>
              </a:ext>
            </a:extLst>
          </p:cNvPr>
          <p:cNvCxnSpPr>
            <a:cxnSpLocks noChangeAspect="1"/>
          </p:cNvCxnSpPr>
          <p:nvPr/>
        </p:nvCxnSpPr>
        <p:spPr>
          <a:xfrm flipV="1">
            <a:off x="11446270" y="1427020"/>
            <a:ext cx="153255" cy="206172"/>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102" name="Straight Connector 9">
            <a:extLst>
              <a:ext uri="{FF2B5EF4-FFF2-40B4-BE49-F238E27FC236}">
                <a16:creationId xmlns:a16="http://schemas.microsoft.com/office/drawing/2014/main" id="{2B4E1E33-28D1-8A36-D6D6-3BE0D4A4B81C}"/>
              </a:ext>
            </a:extLst>
          </p:cNvPr>
          <p:cNvCxnSpPr>
            <a:cxnSpLocks noChangeAspect="1"/>
          </p:cNvCxnSpPr>
          <p:nvPr/>
        </p:nvCxnSpPr>
        <p:spPr>
          <a:xfrm flipV="1">
            <a:off x="11474850" y="1459110"/>
            <a:ext cx="131172" cy="176463"/>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sp>
        <p:nvSpPr>
          <p:cNvPr id="103" name="TextBox 3">
            <a:extLst>
              <a:ext uri="{FF2B5EF4-FFF2-40B4-BE49-F238E27FC236}">
                <a16:creationId xmlns:a16="http://schemas.microsoft.com/office/drawing/2014/main" id="{543A901C-5CA5-D196-329E-2C191E13CD09}"/>
              </a:ext>
            </a:extLst>
          </p:cNvPr>
          <p:cNvSpPr txBox="1"/>
          <p:nvPr/>
        </p:nvSpPr>
        <p:spPr>
          <a:xfrm>
            <a:off x="4936853" y="1462464"/>
            <a:ext cx="261610"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dirty="0">
                <a:solidFill>
                  <a:srgbClr val="C00000"/>
                </a:solidFill>
                <a:latin typeface="+mj-lt"/>
              </a:rPr>
              <a:t>g</a:t>
            </a:r>
          </a:p>
        </p:txBody>
      </p:sp>
      <p:cxnSp>
        <p:nvCxnSpPr>
          <p:cNvPr id="104" name="Straight Connector 33">
            <a:extLst>
              <a:ext uri="{FF2B5EF4-FFF2-40B4-BE49-F238E27FC236}">
                <a16:creationId xmlns:a16="http://schemas.microsoft.com/office/drawing/2014/main" id="{14E74713-001D-DD24-D6F9-93BB3DD50133}"/>
              </a:ext>
            </a:extLst>
          </p:cNvPr>
          <p:cNvCxnSpPr>
            <a:cxnSpLocks/>
          </p:cNvCxnSpPr>
          <p:nvPr/>
        </p:nvCxnSpPr>
        <p:spPr>
          <a:xfrm>
            <a:off x="5165600" y="1631050"/>
            <a:ext cx="1800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105" name="Straight Connector 1">
            <a:extLst>
              <a:ext uri="{FF2B5EF4-FFF2-40B4-BE49-F238E27FC236}">
                <a16:creationId xmlns:a16="http://schemas.microsoft.com/office/drawing/2014/main" id="{333B4C09-7C7A-E6B9-8F27-D5B3CE322445}"/>
              </a:ext>
            </a:extLst>
          </p:cNvPr>
          <p:cNvCxnSpPr>
            <a:cxnSpLocks noChangeAspect="1"/>
          </p:cNvCxnSpPr>
          <p:nvPr/>
        </p:nvCxnSpPr>
        <p:spPr>
          <a:xfrm flipV="1">
            <a:off x="7315576" y="1382467"/>
            <a:ext cx="267627" cy="234729"/>
          </a:xfrm>
          <a:prstGeom prst="line">
            <a:avLst/>
          </a:prstGeom>
          <a:ln w="38100" cap="rnd">
            <a:solidFill>
              <a:srgbClr val="00B0F0"/>
            </a:solidFill>
            <a:headEnd type="none"/>
          </a:ln>
        </p:spPr>
        <p:style>
          <a:lnRef idx="2">
            <a:schemeClr val="accent4"/>
          </a:lnRef>
          <a:fillRef idx="0">
            <a:schemeClr val="accent4"/>
          </a:fillRef>
          <a:effectRef idx="1">
            <a:schemeClr val="accent4"/>
          </a:effectRef>
          <a:fontRef idx="minor">
            <a:schemeClr val="tx1"/>
          </a:fontRef>
        </p:style>
      </p:cxnSp>
      <p:cxnSp>
        <p:nvCxnSpPr>
          <p:cNvPr id="106" name="Straight Connector 33">
            <a:extLst>
              <a:ext uri="{FF2B5EF4-FFF2-40B4-BE49-F238E27FC236}">
                <a16:creationId xmlns:a16="http://schemas.microsoft.com/office/drawing/2014/main" id="{E0DC5B79-3C3F-A3E4-50E2-AE4E1E41E4B2}"/>
              </a:ext>
            </a:extLst>
          </p:cNvPr>
          <p:cNvCxnSpPr>
            <a:cxnSpLocks/>
          </p:cNvCxnSpPr>
          <p:nvPr/>
        </p:nvCxnSpPr>
        <p:spPr>
          <a:xfrm>
            <a:off x="7138142" y="1630733"/>
            <a:ext cx="612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107" name="Straight Connector 33">
            <a:extLst>
              <a:ext uri="{FF2B5EF4-FFF2-40B4-BE49-F238E27FC236}">
                <a16:creationId xmlns:a16="http://schemas.microsoft.com/office/drawing/2014/main" id="{AA35A37B-5AC5-62E7-9065-405B8F6117AF}"/>
              </a:ext>
            </a:extLst>
          </p:cNvPr>
          <p:cNvCxnSpPr>
            <a:cxnSpLocks/>
          </p:cNvCxnSpPr>
          <p:nvPr/>
        </p:nvCxnSpPr>
        <p:spPr>
          <a:xfrm>
            <a:off x="11154962" y="1635573"/>
            <a:ext cx="648000" cy="0"/>
          </a:xfrm>
          <a:prstGeom prst="line">
            <a:avLst/>
          </a:prstGeom>
          <a:ln w="19050">
            <a:solidFill>
              <a:srgbClr val="C00000"/>
            </a:solidFill>
            <a:prstDash val="sysDot"/>
          </a:ln>
        </p:spPr>
        <p:style>
          <a:lnRef idx="1">
            <a:schemeClr val="dk1"/>
          </a:lnRef>
          <a:fillRef idx="0">
            <a:schemeClr val="dk1"/>
          </a:fillRef>
          <a:effectRef idx="0">
            <a:schemeClr val="dk1"/>
          </a:effectRef>
          <a:fontRef idx="minor">
            <a:schemeClr val="tx1"/>
          </a:fontRef>
        </p:style>
      </p:cxnSp>
      <p:cxnSp>
        <p:nvCxnSpPr>
          <p:cNvPr id="108" name="Straight Arrow Connector 11">
            <a:extLst>
              <a:ext uri="{FF2B5EF4-FFF2-40B4-BE49-F238E27FC236}">
                <a16:creationId xmlns:a16="http://schemas.microsoft.com/office/drawing/2014/main" id="{EEB89F74-5A3A-3DFD-402C-5AF8DB7170F3}"/>
              </a:ext>
            </a:extLst>
          </p:cNvPr>
          <p:cNvCxnSpPr/>
          <p:nvPr/>
        </p:nvCxnSpPr>
        <p:spPr>
          <a:xfrm>
            <a:off x="11410194" y="2658993"/>
            <a:ext cx="190800" cy="0"/>
          </a:xfrm>
          <a:prstGeom prst="straightConnector1">
            <a:avLst/>
          </a:prstGeom>
          <a:ln>
            <a:solidFill>
              <a:srgbClr val="A569B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9" name="Straight Arrow Connector 18">
            <a:extLst>
              <a:ext uri="{FF2B5EF4-FFF2-40B4-BE49-F238E27FC236}">
                <a16:creationId xmlns:a16="http://schemas.microsoft.com/office/drawing/2014/main" id="{ED4380A5-EC42-95A0-1FC0-33DE9F586649}"/>
              </a:ext>
            </a:extLst>
          </p:cNvPr>
          <p:cNvCxnSpPr/>
          <p:nvPr/>
        </p:nvCxnSpPr>
        <p:spPr>
          <a:xfrm>
            <a:off x="11410194" y="2569218"/>
            <a:ext cx="190800" cy="0"/>
          </a:xfrm>
          <a:prstGeom prst="straightConnector1">
            <a:avLst/>
          </a:prstGeom>
          <a:ln>
            <a:solidFill>
              <a:srgbClr val="D59BD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1">
            <a:extLst>
              <a:ext uri="{FF2B5EF4-FFF2-40B4-BE49-F238E27FC236}">
                <a16:creationId xmlns:a16="http://schemas.microsoft.com/office/drawing/2014/main" id="{5BEB695A-8965-5291-8C90-D247FE1A3442}"/>
              </a:ext>
            </a:extLst>
          </p:cNvPr>
          <p:cNvCxnSpPr/>
          <p:nvPr/>
        </p:nvCxnSpPr>
        <p:spPr>
          <a:xfrm>
            <a:off x="11410194" y="2748119"/>
            <a:ext cx="190800" cy="0"/>
          </a:xfrm>
          <a:prstGeom prst="straightConnector1">
            <a:avLst/>
          </a:prstGeom>
          <a:ln>
            <a:solidFill>
              <a:srgbClr val="4B1F5F"/>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111" name="Groupe 110">
            <a:extLst>
              <a:ext uri="{FF2B5EF4-FFF2-40B4-BE49-F238E27FC236}">
                <a16:creationId xmlns:a16="http://schemas.microsoft.com/office/drawing/2014/main" id="{777E49BA-3EF3-0AC1-4CCE-28DFCE065A4D}"/>
              </a:ext>
            </a:extLst>
          </p:cNvPr>
          <p:cNvGrpSpPr/>
          <p:nvPr/>
        </p:nvGrpSpPr>
        <p:grpSpPr>
          <a:xfrm>
            <a:off x="315363" y="647252"/>
            <a:ext cx="737064" cy="470586"/>
            <a:chOff x="630187" y="1375078"/>
            <a:chExt cx="737064" cy="470586"/>
          </a:xfrm>
        </p:grpSpPr>
        <p:sp>
          <p:nvSpPr>
            <p:cNvPr id="112" name="Rectangle : coins arrondis 111">
              <a:extLst>
                <a:ext uri="{FF2B5EF4-FFF2-40B4-BE49-F238E27FC236}">
                  <a16:creationId xmlns:a16="http://schemas.microsoft.com/office/drawing/2014/main" id="{0A05C972-D916-E588-E407-F151A451325B}"/>
                </a:ext>
              </a:extLst>
            </p:cNvPr>
            <p:cNvSpPr/>
            <p:nvPr/>
          </p:nvSpPr>
          <p:spPr>
            <a:xfrm>
              <a:off x="630187" y="1405891"/>
              <a:ext cx="683080" cy="430477"/>
            </a:xfrm>
            <a:prstGeom prst="roundRect">
              <a:avLst>
                <a:gd name="adj" fmla="val 7399"/>
              </a:avLst>
            </a:prstGeom>
            <a:solidFill>
              <a:srgbClr val="FFFFFF"/>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3" name="Groupe 112">
              <a:extLst>
                <a:ext uri="{FF2B5EF4-FFF2-40B4-BE49-F238E27FC236}">
                  <a16:creationId xmlns:a16="http://schemas.microsoft.com/office/drawing/2014/main" id="{AFBA3C97-10C5-8F15-5780-FBA052C6A75E}"/>
                </a:ext>
              </a:extLst>
            </p:cNvPr>
            <p:cNvGrpSpPr/>
            <p:nvPr/>
          </p:nvGrpSpPr>
          <p:grpSpPr>
            <a:xfrm>
              <a:off x="694263" y="1375078"/>
              <a:ext cx="672988" cy="470586"/>
              <a:chOff x="1782367" y="1321266"/>
              <a:chExt cx="672988" cy="470586"/>
            </a:xfrm>
          </p:grpSpPr>
          <p:cxnSp>
            <p:nvCxnSpPr>
              <p:cNvPr id="114" name="Straight Connector 29">
                <a:extLst>
                  <a:ext uri="{FF2B5EF4-FFF2-40B4-BE49-F238E27FC236}">
                    <a16:creationId xmlns:a16="http://schemas.microsoft.com/office/drawing/2014/main" id="{701FB521-424D-3D37-825C-16BDE7E31FB7}"/>
                  </a:ext>
                </a:extLst>
              </p:cNvPr>
              <p:cNvCxnSpPr>
                <a:cxnSpLocks/>
              </p:cNvCxnSpPr>
              <p:nvPr/>
            </p:nvCxnSpPr>
            <p:spPr>
              <a:xfrm flipH="1" flipV="1">
                <a:off x="1782367" y="1443271"/>
                <a:ext cx="144000" cy="0"/>
              </a:xfrm>
              <a:prstGeom prst="line">
                <a:avLst/>
              </a:prstGeom>
              <a:ln w="38100" cap="rnd">
                <a:solidFill>
                  <a:schemeClr val="tx1"/>
                </a:solidFill>
                <a:headEnd type="none"/>
              </a:ln>
            </p:spPr>
            <p:style>
              <a:lnRef idx="2">
                <a:schemeClr val="accent4"/>
              </a:lnRef>
              <a:fillRef idx="0">
                <a:schemeClr val="accent4"/>
              </a:fillRef>
              <a:effectRef idx="1">
                <a:schemeClr val="accent4"/>
              </a:effectRef>
              <a:fontRef idx="minor">
                <a:schemeClr val="tx1"/>
              </a:fontRef>
            </p:style>
          </p:cxnSp>
          <p:cxnSp>
            <p:nvCxnSpPr>
              <p:cNvPr id="115" name="Straight Connector 29">
                <a:extLst>
                  <a:ext uri="{FF2B5EF4-FFF2-40B4-BE49-F238E27FC236}">
                    <a16:creationId xmlns:a16="http://schemas.microsoft.com/office/drawing/2014/main" id="{7FF5390A-0BC1-2455-36D7-D845F5C07C79}"/>
                  </a:ext>
                </a:extLst>
              </p:cNvPr>
              <p:cNvCxnSpPr>
                <a:cxnSpLocks/>
              </p:cNvCxnSpPr>
              <p:nvPr/>
            </p:nvCxnSpPr>
            <p:spPr>
              <a:xfrm flipH="1" flipV="1">
                <a:off x="1784379" y="1565051"/>
                <a:ext cx="144000" cy="0"/>
              </a:xfrm>
              <a:prstGeom prst="line">
                <a:avLst/>
              </a:prstGeom>
              <a:ln w="38100" cap="rnd">
                <a:solidFill>
                  <a:srgbClr val="7F7F7F"/>
                </a:solidFill>
                <a:headEnd type="none"/>
              </a:ln>
            </p:spPr>
            <p:style>
              <a:lnRef idx="2">
                <a:schemeClr val="accent4"/>
              </a:lnRef>
              <a:fillRef idx="0">
                <a:schemeClr val="accent4"/>
              </a:fillRef>
              <a:effectRef idx="1">
                <a:schemeClr val="accent4"/>
              </a:effectRef>
              <a:fontRef idx="minor">
                <a:schemeClr val="tx1"/>
              </a:fontRef>
            </p:style>
          </p:cxnSp>
          <p:cxnSp>
            <p:nvCxnSpPr>
              <p:cNvPr id="116" name="Straight Connector 29">
                <a:extLst>
                  <a:ext uri="{FF2B5EF4-FFF2-40B4-BE49-F238E27FC236}">
                    <a16:creationId xmlns:a16="http://schemas.microsoft.com/office/drawing/2014/main" id="{A920DAE3-C384-17C5-B441-79E3883F7FD0}"/>
                  </a:ext>
                </a:extLst>
              </p:cNvPr>
              <p:cNvCxnSpPr>
                <a:cxnSpLocks/>
              </p:cNvCxnSpPr>
              <p:nvPr/>
            </p:nvCxnSpPr>
            <p:spPr>
              <a:xfrm flipH="1" flipV="1">
                <a:off x="1783320" y="1686670"/>
                <a:ext cx="144000" cy="0"/>
              </a:xfrm>
              <a:prstGeom prst="line">
                <a:avLst/>
              </a:prstGeom>
              <a:ln w="38100" cap="rnd">
                <a:solidFill>
                  <a:srgbClr val="BFBFBF"/>
                </a:solidFill>
                <a:headEnd type="none"/>
              </a:ln>
            </p:spPr>
            <p:style>
              <a:lnRef idx="2">
                <a:schemeClr val="accent4"/>
              </a:lnRef>
              <a:fillRef idx="0">
                <a:schemeClr val="accent4"/>
              </a:fillRef>
              <a:effectRef idx="1">
                <a:schemeClr val="accent4"/>
              </a:effectRef>
              <a:fontRef idx="minor">
                <a:schemeClr val="tx1"/>
              </a:fontRef>
            </p:style>
          </p:cxnSp>
          <p:sp>
            <p:nvSpPr>
              <p:cNvPr id="117" name="TextBox 28">
                <a:extLst>
                  <a:ext uri="{FF2B5EF4-FFF2-40B4-BE49-F238E27FC236}">
                    <a16:creationId xmlns:a16="http://schemas.microsoft.com/office/drawing/2014/main" id="{68E844F2-C094-4369-2E9B-7CC20AF5814B}"/>
                  </a:ext>
                </a:extLst>
              </p:cNvPr>
              <p:cNvSpPr txBox="1"/>
              <p:nvPr/>
            </p:nvSpPr>
            <p:spPr>
              <a:xfrm>
                <a:off x="1921944" y="1321266"/>
                <a:ext cx="372218"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Low</a:t>
                </a:r>
              </a:p>
            </p:txBody>
          </p:sp>
          <p:sp>
            <p:nvSpPr>
              <p:cNvPr id="118" name="TextBox 28">
                <a:extLst>
                  <a:ext uri="{FF2B5EF4-FFF2-40B4-BE49-F238E27FC236}">
                    <a16:creationId xmlns:a16="http://schemas.microsoft.com/office/drawing/2014/main" id="{647F8F91-F6D4-D7A0-EAAD-98423E1B642E}"/>
                  </a:ext>
                </a:extLst>
              </p:cNvPr>
              <p:cNvSpPr txBox="1"/>
              <p:nvPr/>
            </p:nvSpPr>
            <p:spPr>
              <a:xfrm>
                <a:off x="1922837" y="1447491"/>
                <a:ext cx="532518"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Medium</a:t>
                </a:r>
              </a:p>
            </p:txBody>
          </p:sp>
          <p:sp>
            <p:nvSpPr>
              <p:cNvPr id="119" name="TextBox 28">
                <a:extLst>
                  <a:ext uri="{FF2B5EF4-FFF2-40B4-BE49-F238E27FC236}">
                    <a16:creationId xmlns:a16="http://schemas.microsoft.com/office/drawing/2014/main" id="{87A58D65-92E2-9FC9-525E-91670E204437}"/>
                  </a:ext>
                </a:extLst>
              </p:cNvPr>
              <p:cNvSpPr txBox="1"/>
              <p:nvPr/>
            </p:nvSpPr>
            <p:spPr>
              <a:xfrm>
                <a:off x="1924064" y="1576408"/>
                <a:ext cx="389850"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High</a:t>
                </a:r>
              </a:p>
            </p:txBody>
          </p:sp>
        </p:grpSp>
      </p:grpSp>
      <p:grpSp>
        <p:nvGrpSpPr>
          <p:cNvPr id="120" name="Groupe 119">
            <a:extLst>
              <a:ext uri="{FF2B5EF4-FFF2-40B4-BE49-F238E27FC236}">
                <a16:creationId xmlns:a16="http://schemas.microsoft.com/office/drawing/2014/main" id="{BE961B57-DCF5-B96C-EA6D-DB47B8E1F37B}"/>
              </a:ext>
            </a:extLst>
          </p:cNvPr>
          <p:cNvGrpSpPr/>
          <p:nvPr/>
        </p:nvGrpSpPr>
        <p:grpSpPr>
          <a:xfrm>
            <a:off x="4328157" y="647724"/>
            <a:ext cx="713019" cy="353575"/>
            <a:chOff x="630187" y="1375078"/>
            <a:chExt cx="713019" cy="353575"/>
          </a:xfrm>
        </p:grpSpPr>
        <p:sp>
          <p:nvSpPr>
            <p:cNvPr id="121" name="Rectangle : coins arrondis 120">
              <a:extLst>
                <a:ext uri="{FF2B5EF4-FFF2-40B4-BE49-F238E27FC236}">
                  <a16:creationId xmlns:a16="http://schemas.microsoft.com/office/drawing/2014/main" id="{339A5978-6B6A-C7B2-0374-81D562370A24}"/>
                </a:ext>
              </a:extLst>
            </p:cNvPr>
            <p:cNvSpPr/>
            <p:nvPr/>
          </p:nvSpPr>
          <p:spPr>
            <a:xfrm>
              <a:off x="630187" y="1403511"/>
              <a:ext cx="683080" cy="311422"/>
            </a:xfrm>
            <a:prstGeom prst="roundRect">
              <a:avLst>
                <a:gd name="adj" fmla="val 7399"/>
              </a:avLst>
            </a:prstGeom>
            <a:solidFill>
              <a:srgbClr val="FFFFFF"/>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2" name="Groupe 121">
              <a:extLst>
                <a:ext uri="{FF2B5EF4-FFF2-40B4-BE49-F238E27FC236}">
                  <a16:creationId xmlns:a16="http://schemas.microsoft.com/office/drawing/2014/main" id="{C7040387-E2A4-C14A-C833-8DC95586E35B}"/>
                </a:ext>
              </a:extLst>
            </p:cNvPr>
            <p:cNvGrpSpPr/>
            <p:nvPr/>
          </p:nvGrpSpPr>
          <p:grpSpPr>
            <a:xfrm>
              <a:off x="694263" y="1375078"/>
              <a:ext cx="648943" cy="353575"/>
              <a:chOff x="1782367" y="1321266"/>
              <a:chExt cx="648943" cy="353575"/>
            </a:xfrm>
          </p:grpSpPr>
          <p:cxnSp>
            <p:nvCxnSpPr>
              <p:cNvPr id="123" name="Straight Connector 29">
                <a:extLst>
                  <a:ext uri="{FF2B5EF4-FFF2-40B4-BE49-F238E27FC236}">
                    <a16:creationId xmlns:a16="http://schemas.microsoft.com/office/drawing/2014/main" id="{A5FF0602-3C42-D6B1-F6A0-DBC68BF6EEE6}"/>
                  </a:ext>
                </a:extLst>
              </p:cNvPr>
              <p:cNvCxnSpPr>
                <a:cxnSpLocks/>
              </p:cNvCxnSpPr>
              <p:nvPr/>
            </p:nvCxnSpPr>
            <p:spPr>
              <a:xfrm flipH="1" flipV="1">
                <a:off x="1782367" y="1443271"/>
                <a:ext cx="144000" cy="0"/>
              </a:xfrm>
              <a:prstGeom prst="line">
                <a:avLst/>
              </a:prstGeom>
              <a:ln w="38100" cap="rnd">
                <a:solidFill>
                  <a:srgbClr val="FF0000"/>
                </a:solidFill>
                <a:headEnd type="none"/>
              </a:ln>
            </p:spPr>
            <p:style>
              <a:lnRef idx="2">
                <a:schemeClr val="accent4"/>
              </a:lnRef>
              <a:fillRef idx="0">
                <a:schemeClr val="accent4"/>
              </a:fillRef>
              <a:effectRef idx="1">
                <a:schemeClr val="accent4"/>
              </a:effectRef>
              <a:fontRef idx="minor">
                <a:schemeClr val="tx1"/>
              </a:fontRef>
            </p:style>
          </p:cxnSp>
          <p:cxnSp>
            <p:nvCxnSpPr>
              <p:cNvPr id="124" name="Straight Connector 29">
                <a:extLst>
                  <a:ext uri="{FF2B5EF4-FFF2-40B4-BE49-F238E27FC236}">
                    <a16:creationId xmlns:a16="http://schemas.microsoft.com/office/drawing/2014/main" id="{D579DBA8-3A1C-D72A-FB2F-144080423DB5}"/>
                  </a:ext>
                </a:extLst>
              </p:cNvPr>
              <p:cNvCxnSpPr>
                <a:cxnSpLocks/>
              </p:cNvCxnSpPr>
              <p:nvPr/>
            </p:nvCxnSpPr>
            <p:spPr>
              <a:xfrm flipH="1" flipV="1">
                <a:off x="1784379" y="1579338"/>
                <a:ext cx="144000" cy="0"/>
              </a:xfrm>
              <a:prstGeom prst="line">
                <a:avLst/>
              </a:prstGeom>
              <a:ln w="38100" cap="rnd">
                <a:solidFill>
                  <a:schemeClr val="accent4"/>
                </a:solidFill>
                <a:headEnd type="none"/>
              </a:ln>
            </p:spPr>
            <p:style>
              <a:lnRef idx="2">
                <a:schemeClr val="accent4"/>
              </a:lnRef>
              <a:fillRef idx="0">
                <a:schemeClr val="accent4"/>
              </a:fillRef>
              <a:effectRef idx="1">
                <a:schemeClr val="accent4"/>
              </a:effectRef>
              <a:fontRef idx="minor">
                <a:schemeClr val="tx1"/>
              </a:fontRef>
            </p:style>
          </p:cxnSp>
          <p:sp>
            <p:nvSpPr>
              <p:cNvPr id="125" name="TextBox 28">
                <a:extLst>
                  <a:ext uri="{FF2B5EF4-FFF2-40B4-BE49-F238E27FC236}">
                    <a16:creationId xmlns:a16="http://schemas.microsoft.com/office/drawing/2014/main" id="{7A60381A-6F87-6956-EB77-FCCCCB3FB232}"/>
                  </a:ext>
                </a:extLst>
              </p:cNvPr>
              <p:cNvSpPr txBox="1"/>
              <p:nvPr/>
            </p:nvSpPr>
            <p:spPr>
              <a:xfrm>
                <a:off x="1921944" y="1321266"/>
                <a:ext cx="49244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Critical</a:t>
                </a:r>
              </a:p>
            </p:txBody>
          </p:sp>
          <p:sp>
            <p:nvSpPr>
              <p:cNvPr id="126" name="TextBox 28">
                <a:extLst>
                  <a:ext uri="{FF2B5EF4-FFF2-40B4-BE49-F238E27FC236}">
                    <a16:creationId xmlns:a16="http://schemas.microsoft.com/office/drawing/2014/main" id="{EBC160CB-296C-E8D4-4B20-815FDC519DDE}"/>
                  </a:ext>
                </a:extLst>
              </p:cNvPr>
              <p:cNvSpPr txBox="1"/>
              <p:nvPr/>
            </p:nvSpPr>
            <p:spPr>
              <a:xfrm>
                <a:off x="1922837" y="1459397"/>
                <a:ext cx="508473"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Regular</a:t>
                </a:r>
              </a:p>
            </p:txBody>
          </p:sp>
        </p:grpSp>
      </p:grpSp>
      <p:grpSp>
        <p:nvGrpSpPr>
          <p:cNvPr id="127" name="Groupe 126">
            <a:extLst>
              <a:ext uri="{FF2B5EF4-FFF2-40B4-BE49-F238E27FC236}">
                <a16:creationId xmlns:a16="http://schemas.microsoft.com/office/drawing/2014/main" id="{E07C896A-A5C5-143A-6B7D-93B8BFB8E111}"/>
              </a:ext>
            </a:extLst>
          </p:cNvPr>
          <p:cNvGrpSpPr/>
          <p:nvPr/>
        </p:nvGrpSpPr>
        <p:grpSpPr>
          <a:xfrm>
            <a:off x="8366703" y="657164"/>
            <a:ext cx="1042902" cy="504836"/>
            <a:chOff x="630186" y="1389365"/>
            <a:chExt cx="1042902" cy="504836"/>
          </a:xfrm>
        </p:grpSpPr>
        <p:sp>
          <p:nvSpPr>
            <p:cNvPr id="128" name="Rectangle : coins arrondis 127">
              <a:extLst>
                <a:ext uri="{FF2B5EF4-FFF2-40B4-BE49-F238E27FC236}">
                  <a16:creationId xmlns:a16="http://schemas.microsoft.com/office/drawing/2014/main" id="{AAD9A713-1C5D-82A6-0223-F922021E4145}"/>
                </a:ext>
              </a:extLst>
            </p:cNvPr>
            <p:cNvSpPr/>
            <p:nvPr/>
          </p:nvSpPr>
          <p:spPr>
            <a:xfrm>
              <a:off x="630186" y="1409067"/>
              <a:ext cx="973052" cy="485134"/>
            </a:xfrm>
            <a:prstGeom prst="roundRect">
              <a:avLst>
                <a:gd name="adj" fmla="val 5048"/>
              </a:avLst>
            </a:prstGeom>
            <a:solidFill>
              <a:srgbClr val="FFFFFF"/>
            </a:solidFill>
            <a:ln w="31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e 128">
              <a:extLst>
                <a:ext uri="{FF2B5EF4-FFF2-40B4-BE49-F238E27FC236}">
                  <a16:creationId xmlns:a16="http://schemas.microsoft.com/office/drawing/2014/main" id="{FF9C66D9-E0C9-608C-FB88-F1FC3EC3E6E8}"/>
                </a:ext>
              </a:extLst>
            </p:cNvPr>
            <p:cNvGrpSpPr/>
            <p:nvPr/>
          </p:nvGrpSpPr>
          <p:grpSpPr>
            <a:xfrm>
              <a:off x="693894" y="1389365"/>
              <a:ext cx="979194" cy="504718"/>
              <a:chOff x="1781998" y="1335553"/>
              <a:chExt cx="979194" cy="504718"/>
            </a:xfrm>
          </p:grpSpPr>
          <p:cxnSp>
            <p:nvCxnSpPr>
              <p:cNvPr id="130" name="Straight Connector 29">
                <a:extLst>
                  <a:ext uri="{FF2B5EF4-FFF2-40B4-BE49-F238E27FC236}">
                    <a16:creationId xmlns:a16="http://schemas.microsoft.com/office/drawing/2014/main" id="{1AB0630B-3A86-A88C-C0D7-9F2094BB17D9}"/>
                  </a:ext>
                </a:extLst>
              </p:cNvPr>
              <p:cNvCxnSpPr>
                <a:cxnSpLocks/>
              </p:cNvCxnSpPr>
              <p:nvPr/>
            </p:nvCxnSpPr>
            <p:spPr>
              <a:xfrm flipH="1" flipV="1">
                <a:off x="1782367" y="1443271"/>
                <a:ext cx="144000" cy="0"/>
              </a:xfrm>
              <a:prstGeom prst="line">
                <a:avLst/>
              </a:prstGeom>
              <a:ln w="38100" cap="rnd">
                <a:solidFill>
                  <a:srgbClr val="4B1F5F"/>
                </a:solidFill>
                <a:headEnd type="none"/>
              </a:ln>
            </p:spPr>
            <p:style>
              <a:lnRef idx="2">
                <a:schemeClr val="accent4"/>
              </a:lnRef>
              <a:fillRef idx="0">
                <a:schemeClr val="accent4"/>
              </a:fillRef>
              <a:effectRef idx="1">
                <a:schemeClr val="accent4"/>
              </a:effectRef>
              <a:fontRef idx="minor">
                <a:schemeClr val="tx1"/>
              </a:fontRef>
            </p:style>
          </p:cxnSp>
          <p:cxnSp>
            <p:nvCxnSpPr>
              <p:cNvPr id="131" name="Straight Connector 29">
                <a:extLst>
                  <a:ext uri="{FF2B5EF4-FFF2-40B4-BE49-F238E27FC236}">
                    <a16:creationId xmlns:a16="http://schemas.microsoft.com/office/drawing/2014/main" id="{EDFDA55A-B796-14DA-CED5-00D829EEF122}"/>
                  </a:ext>
                </a:extLst>
              </p:cNvPr>
              <p:cNvCxnSpPr>
                <a:cxnSpLocks/>
              </p:cNvCxnSpPr>
              <p:nvPr/>
            </p:nvCxnSpPr>
            <p:spPr>
              <a:xfrm flipH="1" flipV="1">
                <a:off x="1781998" y="1586486"/>
                <a:ext cx="144000" cy="0"/>
              </a:xfrm>
              <a:prstGeom prst="line">
                <a:avLst/>
              </a:prstGeom>
              <a:ln w="38100" cap="rnd">
                <a:solidFill>
                  <a:srgbClr val="A569B0"/>
                </a:solidFill>
                <a:headEnd type="none"/>
              </a:ln>
            </p:spPr>
            <p:style>
              <a:lnRef idx="2">
                <a:schemeClr val="accent4"/>
              </a:lnRef>
              <a:fillRef idx="0">
                <a:schemeClr val="accent4"/>
              </a:fillRef>
              <a:effectRef idx="1">
                <a:schemeClr val="accent4"/>
              </a:effectRef>
              <a:fontRef idx="minor">
                <a:schemeClr val="tx1"/>
              </a:fontRef>
            </p:style>
          </p:cxnSp>
          <p:cxnSp>
            <p:nvCxnSpPr>
              <p:cNvPr id="132" name="Straight Connector 29">
                <a:extLst>
                  <a:ext uri="{FF2B5EF4-FFF2-40B4-BE49-F238E27FC236}">
                    <a16:creationId xmlns:a16="http://schemas.microsoft.com/office/drawing/2014/main" id="{98718421-0558-9F4F-A058-CA9C2597A326}"/>
                  </a:ext>
                </a:extLst>
              </p:cNvPr>
              <p:cNvCxnSpPr>
                <a:cxnSpLocks/>
              </p:cNvCxnSpPr>
              <p:nvPr/>
            </p:nvCxnSpPr>
            <p:spPr>
              <a:xfrm flipH="1" flipV="1">
                <a:off x="1785701" y="1735089"/>
                <a:ext cx="144000" cy="0"/>
              </a:xfrm>
              <a:prstGeom prst="line">
                <a:avLst/>
              </a:prstGeom>
              <a:ln w="38100" cap="rnd">
                <a:solidFill>
                  <a:srgbClr val="D59BD1"/>
                </a:solidFill>
                <a:headEnd type="none"/>
              </a:ln>
            </p:spPr>
            <p:style>
              <a:lnRef idx="2">
                <a:schemeClr val="accent4"/>
              </a:lnRef>
              <a:fillRef idx="0">
                <a:schemeClr val="accent4"/>
              </a:fillRef>
              <a:effectRef idx="1">
                <a:schemeClr val="accent4"/>
              </a:effectRef>
              <a:fontRef idx="minor">
                <a:schemeClr val="tx1"/>
              </a:fontRef>
            </p:style>
          </p:cxnSp>
          <p:sp>
            <p:nvSpPr>
              <p:cNvPr id="133" name="TextBox 28">
                <a:extLst>
                  <a:ext uri="{FF2B5EF4-FFF2-40B4-BE49-F238E27FC236}">
                    <a16:creationId xmlns:a16="http://schemas.microsoft.com/office/drawing/2014/main" id="{89DBF383-55A8-6069-4DFD-00F91967B3D6}"/>
                  </a:ext>
                </a:extLst>
              </p:cNvPr>
              <p:cNvSpPr txBox="1"/>
              <p:nvPr/>
            </p:nvSpPr>
            <p:spPr>
              <a:xfrm>
                <a:off x="1921944" y="1335553"/>
                <a:ext cx="311304"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RS</a:t>
                </a:r>
              </a:p>
            </p:txBody>
          </p:sp>
          <p:sp>
            <p:nvSpPr>
              <p:cNvPr id="134" name="TextBox 28">
                <a:extLst>
                  <a:ext uri="{FF2B5EF4-FFF2-40B4-BE49-F238E27FC236}">
                    <a16:creationId xmlns:a16="http://schemas.microsoft.com/office/drawing/2014/main" id="{BB4B1419-84CB-3F2D-4003-AD700DFBB0B1}"/>
                  </a:ext>
                </a:extLst>
              </p:cNvPr>
              <p:cNvSpPr txBox="1"/>
              <p:nvPr/>
            </p:nvSpPr>
            <p:spPr>
              <a:xfrm>
                <a:off x="1920456" y="1474480"/>
                <a:ext cx="840736"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Stimulus offset</a:t>
                </a:r>
              </a:p>
            </p:txBody>
          </p:sp>
          <p:sp>
            <p:nvSpPr>
              <p:cNvPr id="135" name="TextBox 28">
                <a:extLst>
                  <a:ext uri="{FF2B5EF4-FFF2-40B4-BE49-F238E27FC236}">
                    <a16:creationId xmlns:a16="http://schemas.microsoft.com/office/drawing/2014/main" id="{66716ED7-13E4-75C4-7F44-AAB2FCA81092}"/>
                  </a:ext>
                </a:extLst>
              </p:cNvPr>
              <p:cNvSpPr txBox="1"/>
              <p:nvPr/>
            </p:nvSpPr>
            <p:spPr>
              <a:xfrm>
                <a:off x="1926445" y="1624827"/>
                <a:ext cx="569387" cy="21544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solidFill>
                      <a:sysClr val="windowText" lastClr="000000"/>
                    </a:solidFill>
                    <a:latin typeface="+mj-lt"/>
                  </a:rPr>
                  <a:t>Start trial</a:t>
                </a:r>
              </a:p>
            </p:txBody>
          </p:sp>
        </p:grpSp>
      </p:grpSp>
      <p:sp>
        <p:nvSpPr>
          <p:cNvPr id="140" name="ZoneTexte 139">
            <a:extLst>
              <a:ext uri="{FF2B5EF4-FFF2-40B4-BE49-F238E27FC236}">
                <a16:creationId xmlns:a16="http://schemas.microsoft.com/office/drawing/2014/main" id="{A9FAB4CC-03E9-D231-257C-557571E8F6F6}"/>
              </a:ext>
            </a:extLst>
          </p:cNvPr>
          <p:cNvSpPr txBox="1"/>
          <p:nvPr/>
        </p:nvSpPr>
        <p:spPr>
          <a:xfrm>
            <a:off x="224058" y="1771471"/>
            <a:ext cx="520290" cy="338554"/>
          </a:xfrm>
          <a:prstGeom prst="rect">
            <a:avLst/>
          </a:prstGeom>
          <a:noFill/>
        </p:spPr>
        <p:txBody>
          <a:bodyPr wrap="square">
            <a:spAutoFit/>
          </a:bodyPr>
          <a:lstStyle/>
          <a:p>
            <a:pPr algn="ctr"/>
            <a:r>
              <a:rPr lang="en-US" sz="1600" b="1" dirty="0">
                <a:latin typeface="+mj-lt"/>
              </a:rPr>
              <a:t>(A) </a:t>
            </a:r>
          </a:p>
        </p:txBody>
      </p:sp>
      <p:sp>
        <p:nvSpPr>
          <p:cNvPr id="141" name="ZoneTexte 140">
            <a:extLst>
              <a:ext uri="{FF2B5EF4-FFF2-40B4-BE49-F238E27FC236}">
                <a16:creationId xmlns:a16="http://schemas.microsoft.com/office/drawing/2014/main" id="{21DE5462-60EE-7322-4B26-2299345C8C39}"/>
              </a:ext>
            </a:extLst>
          </p:cNvPr>
          <p:cNvSpPr txBox="1"/>
          <p:nvPr/>
        </p:nvSpPr>
        <p:spPr>
          <a:xfrm>
            <a:off x="437993" y="3849130"/>
            <a:ext cx="545827" cy="338554"/>
          </a:xfrm>
          <a:prstGeom prst="rect">
            <a:avLst/>
          </a:prstGeom>
          <a:noFill/>
        </p:spPr>
        <p:txBody>
          <a:bodyPr wrap="square">
            <a:spAutoFit/>
          </a:bodyPr>
          <a:lstStyle/>
          <a:p>
            <a:pPr algn="ctr"/>
            <a:r>
              <a:rPr lang="en-US" sz="1600" b="1" dirty="0">
                <a:latin typeface="+mj-lt"/>
              </a:rPr>
              <a:t>(B) </a:t>
            </a:r>
          </a:p>
        </p:txBody>
      </p:sp>
      <p:sp>
        <p:nvSpPr>
          <p:cNvPr id="142" name="ZoneTexte 141">
            <a:extLst>
              <a:ext uri="{FF2B5EF4-FFF2-40B4-BE49-F238E27FC236}">
                <a16:creationId xmlns:a16="http://schemas.microsoft.com/office/drawing/2014/main" id="{FE0C7412-3ED1-0B69-BEAC-A4971EDE5B05}"/>
              </a:ext>
            </a:extLst>
          </p:cNvPr>
          <p:cNvSpPr txBox="1"/>
          <p:nvPr/>
        </p:nvSpPr>
        <p:spPr>
          <a:xfrm>
            <a:off x="418595" y="5265423"/>
            <a:ext cx="545827" cy="338554"/>
          </a:xfrm>
          <a:prstGeom prst="rect">
            <a:avLst/>
          </a:prstGeom>
          <a:noFill/>
        </p:spPr>
        <p:txBody>
          <a:bodyPr wrap="square">
            <a:spAutoFit/>
          </a:bodyPr>
          <a:lstStyle/>
          <a:p>
            <a:pPr algn="ctr"/>
            <a:r>
              <a:rPr lang="en-US" sz="1600" b="1" dirty="0">
                <a:latin typeface="+mj-lt"/>
              </a:rPr>
              <a:t>(C) </a:t>
            </a:r>
          </a:p>
        </p:txBody>
      </p:sp>
      <p:sp>
        <p:nvSpPr>
          <p:cNvPr id="143" name="ZoneTexte 142">
            <a:extLst>
              <a:ext uri="{FF2B5EF4-FFF2-40B4-BE49-F238E27FC236}">
                <a16:creationId xmlns:a16="http://schemas.microsoft.com/office/drawing/2014/main" id="{A7AF1715-7BA7-0171-26E7-66D412F604BA}"/>
              </a:ext>
            </a:extLst>
          </p:cNvPr>
          <p:cNvSpPr txBox="1"/>
          <p:nvPr/>
        </p:nvSpPr>
        <p:spPr>
          <a:xfrm>
            <a:off x="4222000" y="1778738"/>
            <a:ext cx="559958" cy="338554"/>
          </a:xfrm>
          <a:prstGeom prst="rect">
            <a:avLst/>
          </a:prstGeom>
          <a:noFill/>
        </p:spPr>
        <p:txBody>
          <a:bodyPr wrap="square">
            <a:spAutoFit/>
          </a:bodyPr>
          <a:lstStyle/>
          <a:p>
            <a:pPr algn="ctr"/>
            <a:r>
              <a:rPr lang="en-US" sz="1600" b="1" dirty="0">
                <a:latin typeface="+mj-lt"/>
              </a:rPr>
              <a:t>(D) </a:t>
            </a:r>
          </a:p>
        </p:txBody>
      </p:sp>
      <p:sp>
        <p:nvSpPr>
          <p:cNvPr id="144" name="ZoneTexte 143">
            <a:extLst>
              <a:ext uri="{FF2B5EF4-FFF2-40B4-BE49-F238E27FC236}">
                <a16:creationId xmlns:a16="http://schemas.microsoft.com/office/drawing/2014/main" id="{6C02202C-05BB-4901-6E85-1151D0E4F62E}"/>
              </a:ext>
            </a:extLst>
          </p:cNvPr>
          <p:cNvSpPr txBox="1"/>
          <p:nvPr/>
        </p:nvSpPr>
        <p:spPr>
          <a:xfrm>
            <a:off x="4456065" y="3814019"/>
            <a:ext cx="545827" cy="338554"/>
          </a:xfrm>
          <a:prstGeom prst="rect">
            <a:avLst/>
          </a:prstGeom>
          <a:noFill/>
        </p:spPr>
        <p:txBody>
          <a:bodyPr wrap="square">
            <a:spAutoFit/>
          </a:bodyPr>
          <a:lstStyle/>
          <a:p>
            <a:pPr algn="ctr"/>
            <a:r>
              <a:rPr lang="en-US" sz="1600" b="1" dirty="0">
                <a:latin typeface="+mj-lt"/>
              </a:rPr>
              <a:t>(E) </a:t>
            </a:r>
          </a:p>
        </p:txBody>
      </p:sp>
      <p:sp>
        <p:nvSpPr>
          <p:cNvPr id="145" name="ZoneTexte 144">
            <a:extLst>
              <a:ext uri="{FF2B5EF4-FFF2-40B4-BE49-F238E27FC236}">
                <a16:creationId xmlns:a16="http://schemas.microsoft.com/office/drawing/2014/main" id="{912DCCBB-2D03-C923-16FF-D7D9125092CB}"/>
              </a:ext>
            </a:extLst>
          </p:cNvPr>
          <p:cNvSpPr txBox="1"/>
          <p:nvPr/>
        </p:nvSpPr>
        <p:spPr>
          <a:xfrm>
            <a:off x="4456065" y="5226259"/>
            <a:ext cx="545827" cy="338554"/>
          </a:xfrm>
          <a:prstGeom prst="rect">
            <a:avLst/>
          </a:prstGeom>
          <a:noFill/>
        </p:spPr>
        <p:txBody>
          <a:bodyPr wrap="square">
            <a:spAutoFit/>
          </a:bodyPr>
          <a:lstStyle/>
          <a:p>
            <a:pPr algn="ctr"/>
            <a:r>
              <a:rPr lang="en-US" sz="1600" b="1" dirty="0">
                <a:latin typeface="+mj-lt"/>
              </a:rPr>
              <a:t>(F) </a:t>
            </a:r>
          </a:p>
        </p:txBody>
      </p:sp>
      <p:sp>
        <p:nvSpPr>
          <p:cNvPr id="146" name="ZoneTexte 145">
            <a:extLst>
              <a:ext uri="{FF2B5EF4-FFF2-40B4-BE49-F238E27FC236}">
                <a16:creationId xmlns:a16="http://schemas.microsoft.com/office/drawing/2014/main" id="{1DE1BAAA-AF94-FCE3-27D6-5969A581110C}"/>
              </a:ext>
            </a:extLst>
          </p:cNvPr>
          <p:cNvSpPr txBox="1"/>
          <p:nvPr/>
        </p:nvSpPr>
        <p:spPr>
          <a:xfrm>
            <a:off x="8263085" y="1785752"/>
            <a:ext cx="559958" cy="338554"/>
          </a:xfrm>
          <a:prstGeom prst="rect">
            <a:avLst/>
          </a:prstGeom>
          <a:noFill/>
        </p:spPr>
        <p:txBody>
          <a:bodyPr wrap="square">
            <a:spAutoFit/>
          </a:bodyPr>
          <a:lstStyle/>
          <a:p>
            <a:pPr algn="ctr"/>
            <a:r>
              <a:rPr lang="en-US" sz="1600" b="1" dirty="0">
                <a:latin typeface="+mj-lt"/>
              </a:rPr>
              <a:t>(G) </a:t>
            </a:r>
          </a:p>
        </p:txBody>
      </p:sp>
      <p:sp>
        <p:nvSpPr>
          <p:cNvPr id="147" name="ZoneTexte 146">
            <a:extLst>
              <a:ext uri="{FF2B5EF4-FFF2-40B4-BE49-F238E27FC236}">
                <a16:creationId xmlns:a16="http://schemas.microsoft.com/office/drawing/2014/main" id="{529BB707-1BDD-D839-D509-38C5BE9777D8}"/>
              </a:ext>
            </a:extLst>
          </p:cNvPr>
          <p:cNvSpPr txBox="1"/>
          <p:nvPr/>
        </p:nvSpPr>
        <p:spPr>
          <a:xfrm>
            <a:off x="8472941" y="3816041"/>
            <a:ext cx="545827" cy="338554"/>
          </a:xfrm>
          <a:prstGeom prst="rect">
            <a:avLst/>
          </a:prstGeom>
          <a:noFill/>
        </p:spPr>
        <p:txBody>
          <a:bodyPr wrap="square">
            <a:spAutoFit/>
          </a:bodyPr>
          <a:lstStyle/>
          <a:p>
            <a:pPr algn="ctr"/>
            <a:r>
              <a:rPr lang="en-US" sz="1600" b="1" dirty="0">
                <a:latin typeface="+mj-lt"/>
              </a:rPr>
              <a:t>(H) </a:t>
            </a:r>
          </a:p>
        </p:txBody>
      </p:sp>
      <p:sp>
        <p:nvSpPr>
          <p:cNvPr id="148" name="ZoneTexte 147">
            <a:extLst>
              <a:ext uri="{FF2B5EF4-FFF2-40B4-BE49-F238E27FC236}">
                <a16:creationId xmlns:a16="http://schemas.microsoft.com/office/drawing/2014/main" id="{2FEBECCB-864B-03A1-5BFD-AD2693CA115C}"/>
              </a:ext>
            </a:extLst>
          </p:cNvPr>
          <p:cNvSpPr txBox="1"/>
          <p:nvPr/>
        </p:nvSpPr>
        <p:spPr>
          <a:xfrm>
            <a:off x="8472941" y="5224237"/>
            <a:ext cx="545827" cy="338554"/>
          </a:xfrm>
          <a:prstGeom prst="rect">
            <a:avLst/>
          </a:prstGeom>
          <a:noFill/>
        </p:spPr>
        <p:txBody>
          <a:bodyPr wrap="square">
            <a:spAutoFit/>
          </a:bodyPr>
          <a:lstStyle/>
          <a:p>
            <a:pPr algn="ctr"/>
            <a:r>
              <a:rPr lang="en-US" sz="1600" b="1" dirty="0">
                <a:latin typeface="+mj-lt"/>
              </a:rPr>
              <a:t>(I) </a:t>
            </a:r>
          </a:p>
        </p:txBody>
      </p:sp>
      <p:grpSp>
        <p:nvGrpSpPr>
          <p:cNvPr id="154" name="Groupe 153">
            <a:extLst>
              <a:ext uri="{FF2B5EF4-FFF2-40B4-BE49-F238E27FC236}">
                <a16:creationId xmlns:a16="http://schemas.microsoft.com/office/drawing/2014/main" id="{31DFA3DB-CF7B-64B1-E3E3-11D667DFA606}"/>
              </a:ext>
            </a:extLst>
          </p:cNvPr>
          <p:cNvGrpSpPr>
            <a:grpSpLocks noChangeAspect="1"/>
          </p:cNvGrpSpPr>
          <p:nvPr/>
        </p:nvGrpSpPr>
        <p:grpSpPr>
          <a:xfrm>
            <a:off x="908247" y="4806474"/>
            <a:ext cx="2988851" cy="1484017"/>
            <a:chOff x="787706" y="5023051"/>
            <a:chExt cx="2942884" cy="1461194"/>
          </a:xfrm>
        </p:grpSpPr>
        <p:pic>
          <p:nvPicPr>
            <p:cNvPr id="152" name="Image 151">
              <a:extLst>
                <a:ext uri="{FF2B5EF4-FFF2-40B4-BE49-F238E27FC236}">
                  <a16:creationId xmlns:a16="http://schemas.microsoft.com/office/drawing/2014/main" id="{464DCACD-9EB3-22CD-1933-7D3BEB24A6B2}"/>
                </a:ext>
              </a:extLst>
            </p:cNvPr>
            <p:cNvPicPr>
              <a:picLocks noChangeAspect="1"/>
            </p:cNvPicPr>
            <p:nvPr/>
          </p:nvPicPr>
          <p:blipFill>
            <a:blip r:embed="rId2"/>
            <a:srcRect l="27120" r="12254"/>
            <a:stretch/>
          </p:blipFill>
          <p:spPr>
            <a:xfrm>
              <a:off x="1058641" y="5033255"/>
              <a:ext cx="2671949" cy="1450990"/>
            </a:xfrm>
            <a:prstGeom prst="rect">
              <a:avLst/>
            </a:prstGeom>
          </p:spPr>
        </p:pic>
        <p:pic>
          <p:nvPicPr>
            <p:cNvPr id="153" name="Image 152">
              <a:extLst>
                <a:ext uri="{FF2B5EF4-FFF2-40B4-BE49-F238E27FC236}">
                  <a16:creationId xmlns:a16="http://schemas.microsoft.com/office/drawing/2014/main" id="{392F359A-95BD-6AAE-B37A-7C7AB5C1BBBA}"/>
                </a:ext>
              </a:extLst>
            </p:cNvPr>
            <p:cNvPicPr>
              <a:picLocks noChangeAspect="1"/>
            </p:cNvPicPr>
            <p:nvPr/>
          </p:nvPicPr>
          <p:blipFill>
            <a:blip r:embed="rId2"/>
            <a:srcRect l="-358" r="94091"/>
            <a:stretch/>
          </p:blipFill>
          <p:spPr>
            <a:xfrm>
              <a:off x="787706" y="5023051"/>
              <a:ext cx="276239" cy="1450990"/>
            </a:xfrm>
            <a:prstGeom prst="rect">
              <a:avLst/>
            </a:prstGeom>
          </p:spPr>
        </p:pic>
      </p:grpSp>
      <p:grpSp>
        <p:nvGrpSpPr>
          <p:cNvPr id="158" name="Groupe 157">
            <a:extLst>
              <a:ext uri="{FF2B5EF4-FFF2-40B4-BE49-F238E27FC236}">
                <a16:creationId xmlns:a16="http://schemas.microsoft.com/office/drawing/2014/main" id="{DDA72C3C-0926-8C51-565A-06C9BE777882}"/>
              </a:ext>
            </a:extLst>
          </p:cNvPr>
          <p:cNvGrpSpPr/>
          <p:nvPr/>
        </p:nvGrpSpPr>
        <p:grpSpPr>
          <a:xfrm>
            <a:off x="4966550" y="4793099"/>
            <a:ext cx="2979503" cy="1461606"/>
            <a:chOff x="4770639" y="5023189"/>
            <a:chExt cx="2979503" cy="1461606"/>
          </a:xfrm>
        </p:grpSpPr>
        <p:pic>
          <p:nvPicPr>
            <p:cNvPr id="156" name="Image 155">
              <a:extLst>
                <a:ext uri="{FF2B5EF4-FFF2-40B4-BE49-F238E27FC236}">
                  <a16:creationId xmlns:a16="http://schemas.microsoft.com/office/drawing/2014/main" id="{FDA21646-58E5-ECB1-2013-4EB8774B7C58}"/>
                </a:ext>
              </a:extLst>
            </p:cNvPr>
            <p:cNvPicPr>
              <a:picLocks noChangeAspect="1"/>
            </p:cNvPicPr>
            <p:nvPr/>
          </p:nvPicPr>
          <p:blipFill>
            <a:blip r:embed="rId3"/>
            <a:srcRect l="27115" r="11964"/>
            <a:stretch/>
          </p:blipFill>
          <p:spPr>
            <a:xfrm>
              <a:off x="5045605" y="5023195"/>
              <a:ext cx="2704537" cy="1461600"/>
            </a:xfrm>
            <a:prstGeom prst="rect">
              <a:avLst/>
            </a:prstGeom>
          </p:spPr>
        </p:pic>
        <p:pic>
          <p:nvPicPr>
            <p:cNvPr id="157" name="Image 156">
              <a:extLst>
                <a:ext uri="{FF2B5EF4-FFF2-40B4-BE49-F238E27FC236}">
                  <a16:creationId xmlns:a16="http://schemas.microsoft.com/office/drawing/2014/main" id="{3F4438DB-31BF-8356-5971-B5C7EBC5E628}"/>
                </a:ext>
              </a:extLst>
            </p:cNvPr>
            <p:cNvPicPr>
              <a:picLocks noChangeAspect="1"/>
            </p:cNvPicPr>
            <p:nvPr/>
          </p:nvPicPr>
          <p:blipFill>
            <a:blip r:embed="rId2"/>
            <a:srcRect l="-358" r="94091"/>
            <a:stretch/>
          </p:blipFill>
          <p:spPr>
            <a:xfrm>
              <a:off x="4770639" y="5023189"/>
              <a:ext cx="276239" cy="1450990"/>
            </a:xfrm>
            <a:prstGeom prst="rect">
              <a:avLst/>
            </a:prstGeom>
          </p:spPr>
        </p:pic>
      </p:grpSp>
      <p:grpSp>
        <p:nvGrpSpPr>
          <p:cNvPr id="162" name="Groupe 161">
            <a:extLst>
              <a:ext uri="{FF2B5EF4-FFF2-40B4-BE49-F238E27FC236}">
                <a16:creationId xmlns:a16="http://schemas.microsoft.com/office/drawing/2014/main" id="{1A233FD6-33CD-FECE-387B-4A7A9BEB9774}"/>
              </a:ext>
            </a:extLst>
          </p:cNvPr>
          <p:cNvGrpSpPr/>
          <p:nvPr/>
        </p:nvGrpSpPr>
        <p:grpSpPr>
          <a:xfrm>
            <a:off x="8972805" y="4789406"/>
            <a:ext cx="2978673" cy="1461600"/>
            <a:chOff x="8857675" y="5027722"/>
            <a:chExt cx="2978673" cy="1461600"/>
          </a:xfrm>
        </p:grpSpPr>
        <p:pic>
          <p:nvPicPr>
            <p:cNvPr id="160" name="Image 159">
              <a:extLst>
                <a:ext uri="{FF2B5EF4-FFF2-40B4-BE49-F238E27FC236}">
                  <a16:creationId xmlns:a16="http://schemas.microsoft.com/office/drawing/2014/main" id="{38E4F3C7-B269-A21A-C891-CB078B61A09E}"/>
                </a:ext>
              </a:extLst>
            </p:cNvPr>
            <p:cNvPicPr>
              <a:picLocks noChangeAspect="1"/>
            </p:cNvPicPr>
            <p:nvPr/>
          </p:nvPicPr>
          <p:blipFill>
            <a:blip r:embed="rId4"/>
            <a:srcRect l="26995" r="11980"/>
            <a:stretch/>
          </p:blipFill>
          <p:spPr>
            <a:xfrm>
              <a:off x="9127104" y="5027722"/>
              <a:ext cx="2709244" cy="1461600"/>
            </a:xfrm>
            <a:prstGeom prst="rect">
              <a:avLst/>
            </a:prstGeom>
          </p:spPr>
        </p:pic>
        <p:pic>
          <p:nvPicPr>
            <p:cNvPr id="161" name="Image 160">
              <a:extLst>
                <a:ext uri="{FF2B5EF4-FFF2-40B4-BE49-F238E27FC236}">
                  <a16:creationId xmlns:a16="http://schemas.microsoft.com/office/drawing/2014/main" id="{98CE69C7-782C-3AE7-91BF-2877FE048DEF}"/>
                </a:ext>
              </a:extLst>
            </p:cNvPr>
            <p:cNvPicPr>
              <a:picLocks noChangeAspect="1"/>
            </p:cNvPicPr>
            <p:nvPr/>
          </p:nvPicPr>
          <p:blipFill>
            <a:blip r:embed="rId2"/>
            <a:srcRect l="-358" r="94091"/>
            <a:stretch/>
          </p:blipFill>
          <p:spPr>
            <a:xfrm>
              <a:off x="8857675" y="5029956"/>
              <a:ext cx="276239" cy="1450990"/>
            </a:xfrm>
            <a:prstGeom prst="rect">
              <a:avLst/>
            </a:prstGeom>
          </p:spPr>
        </p:pic>
      </p:grpSp>
      <p:pic>
        <p:nvPicPr>
          <p:cNvPr id="139" name="Image 138">
            <a:extLst>
              <a:ext uri="{FF2B5EF4-FFF2-40B4-BE49-F238E27FC236}">
                <a16:creationId xmlns:a16="http://schemas.microsoft.com/office/drawing/2014/main" id="{CF1B890D-96C6-382C-B068-E5E208A75DAD}"/>
              </a:ext>
            </a:extLst>
          </p:cNvPr>
          <p:cNvPicPr>
            <a:picLocks noChangeAspect="1"/>
          </p:cNvPicPr>
          <p:nvPr/>
        </p:nvPicPr>
        <p:blipFill>
          <a:blip r:embed="rId5"/>
          <a:srcRect l="48945"/>
          <a:stretch/>
        </p:blipFill>
        <p:spPr>
          <a:xfrm>
            <a:off x="4861395" y="3354933"/>
            <a:ext cx="3102329" cy="1441306"/>
          </a:xfrm>
          <a:prstGeom prst="rect">
            <a:avLst/>
          </a:prstGeom>
        </p:spPr>
      </p:pic>
      <p:pic>
        <p:nvPicPr>
          <p:cNvPr id="149" name="Image 148">
            <a:extLst>
              <a:ext uri="{FF2B5EF4-FFF2-40B4-BE49-F238E27FC236}">
                <a16:creationId xmlns:a16="http://schemas.microsoft.com/office/drawing/2014/main" id="{CEF611BC-7464-CDFF-0C97-712EAD53C497}"/>
              </a:ext>
            </a:extLst>
          </p:cNvPr>
          <p:cNvPicPr>
            <a:picLocks noChangeAspect="1"/>
          </p:cNvPicPr>
          <p:nvPr/>
        </p:nvPicPr>
        <p:blipFill>
          <a:blip r:embed="rId6"/>
          <a:srcRect l="49673"/>
          <a:stretch/>
        </p:blipFill>
        <p:spPr>
          <a:xfrm>
            <a:off x="8918958" y="3355471"/>
            <a:ext cx="3058071" cy="1441306"/>
          </a:xfrm>
          <a:prstGeom prst="rect">
            <a:avLst/>
          </a:prstGeom>
        </p:spPr>
      </p:pic>
      <p:pic>
        <p:nvPicPr>
          <p:cNvPr id="150" name="Image 149">
            <a:extLst>
              <a:ext uri="{FF2B5EF4-FFF2-40B4-BE49-F238E27FC236}">
                <a16:creationId xmlns:a16="http://schemas.microsoft.com/office/drawing/2014/main" id="{3F4F5196-0491-3C10-FC28-3D1B54026392}"/>
              </a:ext>
            </a:extLst>
          </p:cNvPr>
          <p:cNvPicPr>
            <a:picLocks noChangeAspect="1"/>
          </p:cNvPicPr>
          <p:nvPr/>
        </p:nvPicPr>
        <p:blipFill>
          <a:blip r:embed="rId7"/>
          <a:srcRect l="48731"/>
          <a:stretch/>
        </p:blipFill>
        <p:spPr>
          <a:xfrm>
            <a:off x="811925" y="3376452"/>
            <a:ext cx="3107387" cy="1441306"/>
          </a:xfrm>
          <a:prstGeom prst="rect">
            <a:avLst/>
          </a:prstGeom>
        </p:spPr>
      </p:pic>
    </p:spTree>
    <p:extLst>
      <p:ext uri="{BB962C8B-B14F-4D97-AF65-F5344CB8AC3E}">
        <p14:creationId xmlns:p14="http://schemas.microsoft.com/office/powerpoint/2010/main" val="2018547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210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8FAF-D569-1D33-0DD3-3DA86CC166A0}"/>
              </a:ext>
            </a:extLst>
          </p:cNvPr>
          <p:cNvSpPr>
            <a:spLocks noGrp="1"/>
          </p:cNvSpPr>
          <p:nvPr>
            <p:ph type="title"/>
          </p:nvPr>
        </p:nvSpPr>
        <p:spPr/>
        <p:txBody>
          <a:bodyPr/>
          <a:lstStyle/>
          <a:p>
            <a:r>
              <a:rPr lang="en-US" dirty="0"/>
              <a:t>Supplementary Figures</a:t>
            </a:r>
          </a:p>
        </p:txBody>
      </p:sp>
      <p:sp>
        <p:nvSpPr>
          <p:cNvPr id="3" name="Text Placeholder 2">
            <a:extLst>
              <a:ext uri="{FF2B5EF4-FFF2-40B4-BE49-F238E27FC236}">
                <a16:creationId xmlns:a16="http://schemas.microsoft.com/office/drawing/2014/main" id="{102CAF02-40DD-BF97-8FA9-E6D1B0A13E7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5437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C7DA6A-8A9F-E897-201F-58420171B5E4}"/>
              </a:ext>
            </a:extLst>
          </p:cNvPr>
          <p:cNvPicPr>
            <a:picLocks noChangeAspect="1"/>
          </p:cNvPicPr>
          <p:nvPr/>
        </p:nvPicPr>
        <p:blipFill>
          <a:blip r:embed="rId2"/>
          <a:stretch>
            <a:fillRect/>
          </a:stretch>
        </p:blipFill>
        <p:spPr>
          <a:xfrm>
            <a:off x="1388799" y="388980"/>
            <a:ext cx="8747754" cy="2880000"/>
          </a:xfrm>
          <a:prstGeom prst="rect">
            <a:avLst/>
          </a:prstGeom>
        </p:spPr>
      </p:pic>
      <p:pic>
        <p:nvPicPr>
          <p:cNvPr id="11" name="Picture 10">
            <a:extLst>
              <a:ext uri="{FF2B5EF4-FFF2-40B4-BE49-F238E27FC236}">
                <a16:creationId xmlns:a16="http://schemas.microsoft.com/office/drawing/2014/main" id="{F92A6001-130C-AE75-02D5-B10C32AB440A}"/>
              </a:ext>
            </a:extLst>
          </p:cNvPr>
          <p:cNvPicPr>
            <a:picLocks noChangeAspect="1"/>
          </p:cNvPicPr>
          <p:nvPr/>
        </p:nvPicPr>
        <p:blipFill>
          <a:blip r:embed="rId3"/>
          <a:stretch>
            <a:fillRect/>
          </a:stretch>
        </p:blipFill>
        <p:spPr>
          <a:xfrm>
            <a:off x="1412239" y="3686889"/>
            <a:ext cx="8747754" cy="2880000"/>
          </a:xfrm>
          <a:prstGeom prst="rect">
            <a:avLst/>
          </a:prstGeom>
        </p:spPr>
      </p:pic>
    </p:spTree>
    <p:extLst>
      <p:ext uri="{BB962C8B-B14F-4D97-AF65-F5344CB8AC3E}">
        <p14:creationId xmlns:p14="http://schemas.microsoft.com/office/powerpoint/2010/main" val="3743722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86E78A-2FD5-1946-58ED-0B7E971185A3}"/>
              </a:ext>
            </a:extLst>
          </p:cNvPr>
          <p:cNvPicPr>
            <a:picLocks noChangeAspect="1"/>
          </p:cNvPicPr>
          <p:nvPr/>
        </p:nvPicPr>
        <p:blipFill>
          <a:blip r:embed="rId2"/>
          <a:stretch>
            <a:fillRect/>
          </a:stretch>
        </p:blipFill>
        <p:spPr>
          <a:xfrm>
            <a:off x="1422400" y="3693239"/>
            <a:ext cx="8747754" cy="2880000"/>
          </a:xfrm>
          <a:prstGeom prst="rect">
            <a:avLst/>
          </a:prstGeom>
        </p:spPr>
      </p:pic>
      <p:pic>
        <p:nvPicPr>
          <p:cNvPr id="9" name="Picture 8">
            <a:extLst>
              <a:ext uri="{FF2B5EF4-FFF2-40B4-BE49-F238E27FC236}">
                <a16:creationId xmlns:a16="http://schemas.microsoft.com/office/drawing/2014/main" id="{F213B3E7-E1A5-7C1B-800B-54EB17544E0B}"/>
              </a:ext>
            </a:extLst>
          </p:cNvPr>
          <p:cNvPicPr>
            <a:picLocks noChangeAspect="1"/>
          </p:cNvPicPr>
          <p:nvPr/>
        </p:nvPicPr>
        <p:blipFill>
          <a:blip r:embed="rId3"/>
          <a:stretch>
            <a:fillRect/>
          </a:stretch>
        </p:blipFill>
        <p:spPr>
          <a:xfrm>
            <a:off x="1399540" y="388980"/>
            <a:ext cx="8747754" cy="2880000"/>
          </a:xfrm>
          <a:prstGeom prst="rect">
            <a:avLst/>
          </a:prstGeom>
        </p:spPr>
      </p:pic>
    </p:spTree>
    <p:extLst>
      <p:ext uri="{BB962C8B-B14F-4D97-AF65-F5344CB8AC3E}">
        <p14:creationId xmlns:p14="http://schemas.microsoft.com/office/powerpoint/2010/main" val="3846407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668552-72CA-DB59-179C-E461D07EACC0}"/>
              </a:ext>
            </a:extLst>
          </p:cNvPr>
          <p:cNvPicPr>
            <a:picLocks noChangeAspect="1"/>
          </p:cNvPicPr>
          <p:nvPr/>
        </p:nvPicPr>
        <p:blipFill>
          <a:blip r:embed="rId2"/>
          <a:stretch>
            <a:fillRect/>
          </a:stretch>
        </p:blipFill>
        <p:spPr>
          <a:xfrm>
            <a:off x="2560320" y="143910"/>
            <a:ext cx="6560816" cy="2160000"/>
          </a:xfrm>
          <a:prstGeom prst="rect">
            <a:avLst/>
          </a:prstGeom>
        </p:spPr>
      </p:pic>
      <p:pic>
        <p:nvPicPr>
          <p:cNvPr id="5" name="Picture 4">
            <a:extLst>
              <a:ext uri="{FF2B5EF4-FFF2-40B4-BE49-F238E27FC236}">
                <a16:creationId xmlns:a16="http://schemas.microsoft.com/office/drawing/2014/main" id="{6F2CD994-41DB-D96B-8283-9317FE888CC1}"/>
              </a:ext>
            </a:extLst>
          </p:cNvPr>
          <p:cNvPicPr>
            <a:picLocks noChangeAspect="1"/>
          </p:cNvPicPr>
          <p:nvPr/>
        </p:nvPicPr>
        <p:blipFill>
          <a:blip r:embed="rId3"/>
          <a:stretch>
            <a:fillRect/>
          </a:stretch>
        </p:blipFill>
        <p:spPr>
          <a:xfrm>
            <a:off x="2560320" y="2372490"/>
            <a:ext cx="6560816" cy="2160000"/>
          </a:xfrm>
          <a:prstGeom prst="rect">
            <a:avLst/>
          </a:prstGeom>
        </p:spPr>
      </p:pic>
      <p:pic>
        <p:nvPicPr>
          <p:cNvPr id="7" name="Picture 6">
            <a:extLst>
              <a:ext uri="{FF2B5EF4-FFF2-40B4-BE49-F238E27FC236}">
                <a16:creationId xmlns:a16="http://schemas.microsoft.com/office/drawing/2014/main" id="{0C032321-8CEB-4C18-D477-D43A8E80F7B3}"/>
              </a:ext>
            </a:extLst>
          </p:cNvPr>
          <p:cNvPicPr>
            <a:picLocks noChangeAspect="1"/>
          </p:cNvPicPr>
          <p:nvPr/>
        </p:nvPicPr>
        <p:blipFill>
          <a:blip r:embed="rId4"/>
          <a:stretch>
            <a:fillRect/>
          </a:stretch>
        </p:blipFill>
        <p:spPr>
          <a:xfrm>
            <a:off x="2560320" y="4601070"/>
            <a:ext cx="6560816" cy="2160000"/>
          </a:xfrm>
          <a:prstGeom prst="rect">
            <a:avLst/>
          </a:prstGeom>
        </p:spPr>
      </p:pic>
    </p:spTree>
    <p:extLst>
      <p:ext uri="{BB962C8B-B14F-4D97-AF65-F5344CB8AC3E}">
        <p14:creationId xmlns:p14="http://schemas.microsoft.com/office/powerpoint/2010/main" val="443678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6B55440-0292-123F-616C-605F76843373}"/>
              </a:ext>
            </a:extLst>
          </p:cNvPr>
          <p:cNvPicPr>
            <a:picLocks noChangeAspect="1"/>
          </p:cNvPicPr>
          <p:nvPr/>
        </p:nvPicPr>
        <p:blipFill>
          <a:blip r:embed="rId2"/>
          <a:stretch>
            <a:fillRect/>
          </a:stretch>
        </p:blipFill>
        <p:spPr>
          <a:xfrm>
            <a:off x="2560320" y="4601070"/>
            <a:ext cx="6560816" cy="2160000"/>
          </a:xfrm>
          <a:prstGeom prst="rect">
            <a:avLst/>
          </a:prstGeom>
        </p:spPr>
      </p:pic>
      <p:pic>
        <p:nvPicPr>
          <p:cNvPr id="18" name="Picture 17">
            <a:extLst>
              <a:ext uri="{FF2B5EF4-FFF2-40B4-BE49-F238E27FC236}">
                <a16:creationId xmlns:a16="http://schemas.microsoft.com/office/drawing/2014/main" id="{56C671DA-589F-C25A-58E0-36ADBC89B1ED}"/>
              </a:ext>
            </a:extLst>
          </p:cNvPr>
          <p:cNvPicPr>
            <a:picLocks noChangeAspect="1"/>
          </p:cNvPicPr>
          <p:nvPr/>
        </p:nvPicPr>
        <p:blipFill>
          <a:blip r:embed="rId3"/>
          <a:stretch>
            <a:fillRect/>
          </a:stretch>
        </p:blipFill>
        <p:spPr>
          <a:xfrm>
            <a:off x="2560320" y="2359801"/>
            <a:ext cx="6560816" cy="2160000"/>
          </a:xfrm>
          <a:prstGeom prst="rect">
            <a:avLst/>
          </a:prstGeom>
        </p:spPr>
      </p:pic>
      <p:pic>
        <p:nvPicPr>
          <p:cNvPr id="20" name="Picture 19">
            <a:extLst>
              <a:ext uri="{FF2B5EF4-FFF2-40B4-BE49-F238E27FC236}">
                <a16:creationId xmlns:a16="http://schemas.microsoft.com/office/drawing/2014/main" id="{382F3309-AB80-79A6-2D8E-90C85AA716D9}"/>
              </a:ext>
            </a:extLst>
          </p:cNvPr>
          <p:cNvPicPr>
            <a:picLocks noChangeAspect="1"/>
          </p:cNvPicPr>
          <p:nvPr/>
        </p:nvPicPr>
        <p:blipFill>
          <a:blip r:embed="rId4"/>
          <a:stretch>
            <a:fillRect/>
          </a:stretch>
        </p:blipFill>
        <p:spPr>
          <a:xfrm>
            <a:off x="2560320" y="145190"/>
            <a:ext cx="6560816" cy="2160000"/>
          </a:xfrm>
          <a:prstGeom prst="rect">
            <a:avLst/>
          </a:prstGeom>
        </p:spPr>
      </p:pic>
    </p:spTree>
    <p:extLst>
      <p:ext uri="{BB962C8B-B14F-4D97-AF65-F5344CB8AC3E}">
        <p14:creationId xmlns:p14="http://schemas.microsoft.com/office/powerpoint/2010/main" val="4234105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0181B3-C2BB-D656-1FB5-424CA728057B}"/>
              </a:ext>
            </a:extLst>
          </p:cNvPr>
          <p:cNvPicPr>
            <a:picLocks noChangeAspect="1"/>
          </p:cNvPicPr>
          <p:nvPr/>
        </p:nvPicPr>
        <p:blipFill>
          <a:blip r:embed="rId2"/>
          <a:stretch>
            <a:fillRect/>
          </a:stretch>
        </p:blipFill>
        <p:spPr>
          <a:xfrm>
            <a:off x="1403353" y="3690250"/>
            <a:ext cx="8747754" cy="2880000"/>
          </a:xfrm>
          <a:prstGeom prst="rect">
            <a:avLst/>
          </a:prstGeom>
        </p:spPr>
      </p:pic>
      <p:pic>
        <p:nvPicPr>
          <p:cNvPr id="5" name="Picture 4">
            <a:extLst>
              <a:ext uri="{FF2B5EF4-FFF2-40B4-BE49-F238E27FC236}">
                <a16:creationId xmlns:a16="http://schemas.microsoft.com/office/drawing/2014/main" id="{8A18F4A5-6FD8-ABAC-53D8-F98DB5278620}"/>
              </a:ext>
            </a:extLst>
          </p:cNvPr>
          <p:cNvPicPr>
            <a:picLocks noChangeAspect="1"/>
          </p:cNvPicPr>
          <p:nvPr/>
        </p:nvPicPr>
        <p:blipFill>
          <a:blip r:embed="rId3"/>
          <a:stretch>
            <a:fillRect/>
          </a:stretch>
        </p:blipFill>
        <p:spPr>
          <a:xfrm>
            <a:off x="1390653" y="389350"/>
            <a:ext cx="8747754" cy="2880000"/>
          </a:xfrm>
          <a:prstGeom prst="rect">
            <a:avLst/>
          </a:prstGeom>
        </p:spPr>
      </p:pic>
    </p:spTree>
    <p:extLst>
      <p:ext uri="{BB962C8B-B14F-4D97-AF65-F5344CB8AC3E}">
        <p14:creationId xmlns:p14="http://schemas.microsoft.com/office/powerpoint/2010/main" val="4118479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CD0433-1234-7D22-371B-CEE9313FF501}"/>
              </a:ext>
            </a:extLst>
          </p:cNvPr>
          <p:cNvPicPr>
            <a:picLocks noChangeAspect="1"/>
          </p:cNvPicPr>
          <p:nvPr/>
        </p:nvPicPr>
        <p:blipFill>
          <a:blip r:embed="rId2"/>
          <a:stretch>
            <a:fillRect/>
          </a:stretch>
        </p:blipFill>
        <p:spPr>
          <a:xfrm>
            <a:off x="2501900" y="149939"/>
            <a:ext cx="6562285" cy="2160000"/>
          </a:xfrm>
          <a:prstGeom prst="rect">
            <a:avLst/>
          </a:prstGeom>
        </p:spPr>
      </p:pic>
      <p:pic>
        <p:nvPicPr>
          <p:cNvPr id="5" name="Picture 4">
            <a:extLst>
              <a:ext uri="{FF2B5EF4-FFF2-40B4-BE49-F238E27FC236}">
                <a16:creationId xmlns:a16="http://schemas.microsoft.com/office/drawing/2014/main" id="{7147DB4D-9E9E-72E4-6951-4FE1136A98D7}"/>
              </a:ext>
            </a:extLst>
          </p:cNvPr>
          <p:cNvPicPr>
            <a:picLocks noChangeAspect="1"/>
          </p:cNvPicPr>
          <p:nvPr/>
        </p:nvPicPr>
        <p:blipFill>
          <a:blip r:embed="rId3"/>
          <a:stretch>
            <a:fillRect/>
          </a:stretch>
        </p:blipFill>
        <p:spPr>
          <a:xfrm>
            <a:off x="2501900" y="2366819"/>
            <a:ext cx="6562285" cy="2160000"/>
          </a:xfrm>
          <a:prstGeom prst="rect">
            <a:avLst/>
          </a:prstGeom>
        </p:spPr>
      </p:pic>
      <p:pic>
        <p:nvPicPr>
          <p:cNvPr id="7" name="Picture 6">
            <a:extLst>
              <a:ext uri="{FF2B5EF4-FFF2-40B4-BE49-F238E27FC236}">
                <a16:creationId xmlns:a16="http://schemas.microsoft.com/office/drawing/2014/main" id="{D9CA963C-4DF1-B0C3-4442-A6E3122F8C2D}"/>
              </a:ext>
            </a:extLst>
          </p:cNvPr>
          <p:cNvPicPr>
            <a:picLocks noChangeAspect="1"/>
          </p:cNvPicPr>
          <p:nvPr/>
        </p:nvPicPr>
        <p:blipFill>
          <a:blip r:embed="rId4"/>
          <a:stretch>
            <a:fillRect/>
          </a:stretch>
        </p:blipFill>
        <p:spPr>
          <a:xfrm>
            <a:off x="2556053" y="4577350"/>
            <a:ext cx="6565282" cy="2160000"/>
          </a:xfrm>
          <a:prstGeom prst="rect">
            <a:avLst/>
          </a:prstGeom>
        </p:spPr>
      </p:pic>
    </p:spTree>
    <p:extLst>
      <p:ext uri="{BB962C8B-B14F-4D97-AF65-F5344CB8AC3E}">
        <p14:creationId xmlns:p14="http://schemas.microsoft.com/office/powerpoint/2010/main" val="421204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F0A2D8-7739-62A1-080F-077801DBBA25}"/>
            </a:ext>
          </a:extLst>
        </p:cNvPr>
        <p:cNvGrpSpPr/>
        <p:nvPr/>
      </p:nvGrpSpPr>
      <p:grpSpPr>
        <a:xfrm>
          <a:off x="0" y="0"/>
          <a:ext cx="0" cy="0"/>
          <a:chOff x="0" y="0"/>
          <a:chExt cx="0" cy="0"/>
        </a:xfrm>
      </p:grpSpPr>
    </p:spTree>
    <p:extLst>
      <p:ext uri="{BB962C8B-B14F-4D97-AF65-F5344CB8AC3E}">
        <p14:creationId xmlns:p14="http://schemas.microsoft.com/office/powerpoint/2010/main" val="3317088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PA">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3964</TotalTime>
  <Words>2234</Words>
  <Application>Microsoft Office PowerPoint</Application>
  <PresentationFormat>Grand écran</PresentationFormat>
  <Paragraphs>462</Paragraphs>
  <Slides>24</Slides>
  <Notes>5</Notes>
  <HiddenSlides>8</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24</vt:i4>
      </vt:variant>
    </vt:vector>
  </HeadingPairs>
  <TitlesOfParts>
    <vt:vector size="31" baseType="lpstr">
      <vt:lpstr>Aptos</vt:lpstr>
      <vt:lpstr>Arial</vt:lpstr>
      <vt:lpstr>Calibri</vt:lpstr>
      <vt:lpstr>Cambria Math</vt:lpstr>
      <vt:lpstr>Times New Roman</vt:lpstr>
      <vt:lpstr>Wingdings</vt:lpstr>
      <vt:lpstr>Office Theme</vt:lpstr>
      <vt:lpstr>Results experiment Reward</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Supplementary Figures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ACHARD</dc:creator>
  <cp:lastModifiedBy>Johan  ACHARD</cp:lastModifiedBy>
  <cp:revision>380</cp:revision>
  <dcterms:created xsi:type="dcterms:W3CDTF">2026-04-08T11:31:50Z</dcterms:created>
  <dcterms:modified xsi:type="dcterms:W3CDTF">2026-04-27T15:16:02Z</dcterms:modified>
</cp:coreProperties>
</file>